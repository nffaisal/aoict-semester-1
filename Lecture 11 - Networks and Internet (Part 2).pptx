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7" r:id="rId2"/>
    <p:sldId id="701" r:id="rId3"/>
    <p:sldId id="928" r:id="rId4"/>
    <p:sldId id="923" r:id="rId5"/>
    <p:sldId id="937" r:id="rId6"/>
    <p:sldId id="929" r:id="rId7"/>
    <p:sldId id="852" r:id="rId8"/>
    <p:sldId id="854" r:id="rId9"/>
    <p:sldId id="853" r:id="rId10"/>
    <p:sldId id="855" r:id="rId11"/>
    <p:sldId id="856" r:id="rId12"/>
    <p:sldId id="857" r:id="rId13"/>
    <p:sldId id="858" r:id="rId14"/>
    <p:sldId id="859" r:id="rId15"/>
    <p:sldId id="860" r:id="rId16"/>
    <p:sldId id="862" r:id="rId17"/>
    <p:sldId id="861" r:id="rId18"/>
    <p:sldId id="867" r:id="rId19"/>
    <p:sldId id="863" r:id="rId20"/>
    <p:sldId id="865" r:id="rId21"/>
    <p:sldId id="866" r:id="rId22"/>
    <p:sldId id="930" r:id="rId23"/>
    <p:sldId id="931" r:id="rId24"/>
    <p:sldId id="932" r:id="rId25"/>
    <p:sldId id="934" r:id="rId26"/>
    <p:sldId id="935" r:id="rId27"/>
    <p:sldId id="936" r:id="rId28"/>
    <p:sldId id="869" r:id="rId29"/>
    <p:sldId id="870" r:id="rId30"/>
    <p:sldId id="871" r:id="rId31"/>
    <p:sldId id="872" r:id="rId32"/>
    <p:sldId id="873" r:id="rId33"/>
    <p:sldId id="874" r:id="rId34"/>
    <p:sldId id="875" r:id="rId35"/>
    <p:sldId id="876" r:id="rId36"/>
    <p:sldId id="877" r:id="rId37"/>
    <p:sldId id="878" r:id="rId38"/>
    <p:sldId id="879" r:id="rId39"/>
    <p:sldId id="880" r:id="rId40"/>
    <p:sldId id="881" r:id="rId41"/>
    <p:sldId id="882" r:id="rId42"/>
    <p:sldId id="883" r:id="rId43"/>
    <p:sldId id="884" r:id="rId44"/>
    <p:sldId id="886" r:id="rId45"/>
    <p:sldId id="888" r:id="rId46"/>
    <p:sldId id="885" r:id="rId47"/>
    <p:sldId id="889" r:id="rId48"/>
    <p:sldId id="890" r:id="rId49"/>
    <p:sldId id="891" r:id="rId50"/>
    <p:sldId id="893" r:id="rId51"/>
    <p:sldId id="892" r:id="rId52"/>
    <p:sldId id="894" r:id="rId53"/>
    <p:sldId id="895" r:id="rId54"/>
    <p:sldId id="850" r:id="rId55"/>
    <p:sldId id="851" r:id="rId56"/>
    <p:sldId id="868" r:id="rId57"/>
    <p:sldId id="93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7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1AA219-EA5F-474D-9A36-A3DC6FD3D0CB}"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6630A3-2AF7-436E-B6E2-88C24B0A4E41}" type="slidenum">
              <a:rPr lang="en-US" smtClean="0"/>
              <a:t>‹#›</a:t>
            </a:fld>
            <a:endParaRPr lang="en-US"/>
          </a:p>
        </p:txBody>
      </p:sp>
    </p:spTree>
    <p:extLst>
      <p:ext uri="{BB962C8B-B14F-4D97-AF65-F5344CB8AC3E}">
        <p14:creationId xmlns:p14="http://schemas.microsoft.com/office/powerpoint/2010/main" val="1871249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2CDBDDAB-5B13-28CF-C014-22522532D436}"/>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2" name="Title 1"/>
          <p:cNvSpPr>
            <a:spLocks noGrp="1"/>
          </p:cNvSpPr>
          <p:nvPr>
            <p:ph type="ctrTitle"/>
          </p:nvPr>
        </p:nvSpPr>
        <p:spPr>
          <a:xfrm>
            <a:off x="1524000" y="2207059"/>
            <a:ext cx="9144000" cy="2387600"/>
          </a:xfrm>
        </p:spPr>
        <p:txBody>
          <a:bodyPr anchor="b" anchorCtr="0"/>
          <a:lstStyle>
            <a:lvl1pPr algn="l">
              <a:defRPr sz="6000">
                <a:solidFill>
                  <a:srgbClr val="004778"/>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4716463"/>
            <a:ext cx="9144000" cy="1655762"/>
          </a:xfrm>
        </p:spPr>
        <p:txBody>
          <a:bodyPr/>
          <a:lstStyle>
            <a:lvl1pPr marL="0" indent="0" algn="l">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descr="NUST-logo.png">
            <a:extLst>
              <a:ext uri="{FF2B5EF4-FFF2-40B4-BE49-F238E27FC236}">
                <a16:creationId xmlns:a16="http://schemas.microsoft.com/office/drawing/2014/main" id="{6E708162-C6B5-4F69-ACFE-D801D055940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942578" y="661"/>
            <a:ext cx="3249422" cy="1240118"/>
          </a:xfrm>
          <a:prstGeom prst="rect">
            <a:avLst/>
          </a:prstGeom>
        </p:spPr>
      </p:pic>
      <p:grpSp>
        <p:nvGrpSpPr>
          <p:cNvPr id="6" name="Group 5">
            <a:extLst>
              <a:ext uri="{FF2B5EF4-FFF2-40B4-BE49-F238E27FC236}">
                <a16:creationId xmlns:a16="http://schemas.microsoft.com/office/drawing/2014/main" id="{135455CC-DEC1-4C46-9CBD-97C5892159E4}"/>
              </a:ext>
            </a:extLst>
          </p:cNvPr>
          <p:cNvGrpSpPr/>
          <p:nvPr/>
        </p:nvGrpSpPr>
        <p:grpSpPr>
          <a:xfrm>
            <a:off x="1524000" y="4614053"/>
            <a:ext cx="9144000" cy="77100"/>
            <a:chOff x="-1" y="2533163"/>
            <a:chExt cx="7381662" cy="77100"/>
          </a:xfrm>
        </p:grpSpPr>
        <p:sp>
          <p:nvSpPr>
            <p:cNvPr id="19" name="Google Shape;11;p2">
              <a:extLst>
                <a:ext uri="{FF2B5EF4-FFF2-40B4-BE49-F238E27FC236}">
                  <a16:creationId xmlns:a16="http://schemas.microsoft.com/office/drawing/2014/main" id="{DDA94289-5BF4-4035-B53F-A1D8ED0CF55D}"/>
                </a:ext>
              </a:extLst>
            </p:cNvPr>
            <p:cNvSpPr/>
            <p:nvPr userDrawn="1"/>
          </p:nvSpPr>
          <p:spPr>
            <a:xfrm>
              <a:off x="5938246" y="2533163"/>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2;p2">
              <a:extLst>
                <a:ext uri="{FF2B5EF4-FFF2-40B4-BE49-F238E27FC236}">
                  <a16:creationId xmlns:a16="http://schemas.microsoft.com/office/drawing/2014/main" id="{0CE17981-878C-4BC8-BE71-37CD9A5C7760}"/>
                </a:ext>
              </a:extLst>
            </p:cNvPr>
            <p:cNvSpPr/>
            <p:nvPr userDrawn="1"/>
          </p:nvSpPr>
          <p:spPr>
            <a:xfrm>
              <a:off x="6659861" y="2533163"/>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3;p2">
              <a:extLst>
                <a:ext uri="{FF2B5EF4-FFF2-40B4-BE49-F238E27FC236}">
                  <a16:creationId xmlns:a16="http://schemas.microsoft.com/office/drawing/2014/main" id="{9F0C2E28-B4B6-499E-BD7A-F1082384480C}"/>
                </a:ext>
              </a:extLst>
            </p:cNvPr>
            <p:cNvSpPr/>
            <p:nvPr userDrawn="1"/>
          </p:nvSpPr>
          <p:spPr>
            <a:xfrm>
              <a:off x="-1" y="2533163"/>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22" name="Google Shape;14;p2">
              <a:extLst>
                <a:ext uri="{FF2B5EF4-FFF2-40B4-BE49-F238E27FC236}">
                  <a16:creationId xmlns:a16="http://schemas.microsoft.com/office/drawing/2014/main" id="{B69F0476-BD7C-405E-B801-16F28D04ACE1}"/>
                </a:ext>
              </a:extLst>
            </p:cNvPr>
            <p:cNvSpPr/>
            <p:nvPr userDrawn="1"/>
          </p:nvSpPr>
          <p:spPr>
            <a:xfrm>
              <a:off x="721425" y="2533163"/>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 name="TextBox 12">
            <a:extLst>
              <a:ext uri="{FF2B5EF4-FFF2-40B4-BE49-F238E27FC236}">
                <a16:creationId xmlns:a16="http://schemas.microsoft.com/office/drawing/2014/main" id="{A3B37E65-8132-1DE4-BFA3-9ED1BCCF55A3}"/>
              </a:ext>
            </a:extLst>
          </p:cNvPr>
          <p:cNvSpPr txBox="1"/>
          <p:nvPr/>
        </p:nvSpPr>
        <p:spPr>
          <a:xfrm>
            <a:off x="1405890" y="326279"/>
            <a:ext cx="4564263" cy="615553"/>
          </a:xfrm>
          <a:prstGeom prst="rect">
            <a:avLst/>
          </a:prstGeom>
          <a:noFill/>
        </p:spPr>
        <p:txBody>
          <a:bodyPr wrap="none" rtlCol="0">
            <a:spAutoFit/>
          </a:bodyPr>
          <a:lstStyle/>
          <a:p>
            <a:r>
              <a:rPr lang="en-US" sz="1700" b="1" dirty="0">
                <a:solidFill>
                  <a:srgbClr val="004678"/>
                </a:solidFill>
                <a:latin typeface="Arial" panose="020B0604020202020204" pitchFamily="34" charset="0"/>
                <a:cs typeface="Arial" panose="020B0604020202020204" pitchFamily="34" charset="0"/>
              </a:rPr>
              <a:t>SCHOOL OF ELECTRICL ENGINEERING &amp;</a:t>
            </a:r>
          </a:p>
          <a:p>
            <a:r>
              <a:rPr lang="en-US" sz="1700" b="1" dirty="0">
                <a:solidFill>
                  <a:srgbClr val="004678"/>
                </a:solidFill>
                <a:latin typeface="Arial" panose="020B0604020202020204" pitchFamily="34" charset="0"/>
                <a:cs typeface="Arial" panose="020B0604020202020204" pitchFamily="34" charset="0"/>
              </a:rPr>
              <a:t>COMPUTER SCIENCE (SEECS)</a:t>
            </a:r>
          </a:p>
        </p:txBody>
      </p:sp>
      <p:cxnSp>
        <p:nvCxnSpPr>
          <p:cNvPr id="17" name="Straight Connector 16">
            <a:extLst>
              <a:ext uri="{FF2B5EF4-FFF2-40B4-BE49-F238E27FC236}">
                <a16:creationId xmlns:a16="http://schemas.microsoft.com/office/drawing/2014/main" id="{D5DD04ED-DEC2-A606-6710-ABC8D6BFD875}"/>
              </a:ext>
            </a:extLst>
          </p:cNvPr>
          <p:cNvCxnSpPr>
            <a:cxnSpLocks/>
          </p:cNvCxnSpPr>
          <p:nvPr/>
        </p:nvCxnSpPr>
        <p:spPr>
          <a:xfrm flipV="1">
            <a:off x="1385570" y="141295"/>
            <a:ext cx="0" cy="985520"/>
          </a:xfrm>
          <a:prstGeom prst="line">
            <a:avLst/>
          </a:prstGeom>
          <a:ln w="25400">
            <a:solidFill>
              <a:srgbClr val="004678"/>
            </a:solidFill>
          </a:ln>
        </p:spPr>
        <p:style>
          <a:lnRef idx="1">
            <a:schemeClr val="dk1"/>
          </a:lnRef>
          <a:fillRef idx="0">
            <a:schemeClr val="dk1"/>
          </a:fillRef>
          <a:effectRef idx="0">
            <a:schemeClr val="dk1"/>
          </a:effectRef>
          <a:fontRef idx="minor">
            <a:schemeClr val="tx1"/>
          </a:fontRef>
        </p:style>
      </p:cxnSp>
      <p:pic>
        <p:nvPicPr>
          <p:cNvPr id="8" name="Picture 7" descr="A picture containing circle, logo, emblem, trademark&#10;&#10;Description automatically generated">
            <a:extLst>
              <a:ext uri="{FF2B5EF4-FFF2-40B4-BE49-F238E27FC236}">
                <a16:creationId xmlns:a16="http://schemas.microsoft.com/office/drawing/2014/main" id="{BD12F431-6BBA-8A60-9C90-DF7736E0BB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08" y="-47834"/>
            <a:ext cx="1422398" cy="1363778"/>
          </a:xfrm>
          <a:prstGeom prst="rect">
            <a:avLst/>
          </a:prstGeom>
        </p:spPr>
      </p:pic>
    </p:spTree>
    <p:extLst>
      <p:ext uri="{BB962C8B-B14F-4D97-AF65-F5344CB8AC3E}">
        <p14:creationId xmlns:p14="http://schemas.microsoft.com/office/powerpoint/2010/main" val="3920398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solidFill>
                  <a:schemeClr val="bg2">
                    <a:lumMod val="50000"/>
                  </a:schemeClr>
                </a:solidFill>
              </a:defRPr>
            </a:lvl2pPr>
            <a:lvl3pPr>
              <a:defRPr sz="2400"/>
            </a:lvl3pPr>
            <a:lvl4pPr>
              <a:defRPr sz="2000">
                <a:solidFill>
                  <a:schemeClr val="bg2">
                    <a:lumMod val="50000"/>
                  </a:schemeClr>
                </a:solidFill>
              </a:defRPr>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lvl1pPr>
          </a:lstStyle>
          <a:p>
            <a:r>
              <a:rPr lang="en-US" dirty="0"/>
              <a:t>Applications of ICT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252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5BFE3D3F-1ABA-5144-847B-84B0BCC0C5EE}"/>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2" name="Title 1"/>
          <p:cNvSpPr>
            <a:spLocks noGrp="1"/>
          </p:cNvSpPr>
          <p:nvPr>
            <p:ph type="title"/>
          </p:nvPr>
        </p:nvSpPr>
        <p:spPr>
          <a:xfrm>
            <a:off x="831850" y="1590470"/>
            <a:ext cx="10515600" cy="2852737"/>
          </a:xfrm>
        </p:spPr>
        <p:txBody>
          <a:bodyPr anchor="b"/>
          <a:lstStyle>
            <a:lvl1pPr>
              <a:defRPr sz="5400">
                <a:solidFill>
                  <a:srgbClr val="004778"/>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1905001" y="6487251"/>
            <a:ext cx="8382000" cy="365125"/>
          </a:xfrm>
        </p:spPr>
        <p:txBody>
          <a:bodyPr/>
          <a:lstStyle>
            <a:lvl1pPr>
              <a:defRPr/>
            </a:lvl1pPr>
          </a:lstStyle>
          <a:p>
            <a:r>
              <a:rPr lang="en-US" dirty="0"/>
              <a:t>Applications of ICT</a:t>
            </a:r>
          </a:p>
        </p:txBody>
      </p:sp>
      <p:pic>
        <p:nvPicPr>
          <p:cNvPr id="15" name="Picture 14" descr="NUST-logo.png">
            <a:extLst>
              <a:ext uri="{FF2B5EF4-FFF2-40B4-BE49-F238E27FC236}">
                <a16:creationId xmlns:a16="http://schemas.microsoft.com/office/drawing/2014/main" id="{36A82046-851C-4628-A603-1950E17A6D5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818498" y="6346387"/>
            <a:ext cx="1343077" cy="512575"/>
          </a:xfrm>
          <a:prstGeom prst="rect">
            <a:avLst/>
          </a:prstGeom>
        </p:spPr>
      </p:pic>
      <p:grpSp>
        <p:nvGrpSpPr>
          <p:cNvPr id="4" name="Group 3">
            <a:extLst>
              <a:ext uri="{FF2B5EF4-FFF2-40B4-BE49-F238E27FC236}">
                <a16:creationId xmlns:a16="http://schemas.microsoft.com/office/drawing/2014/main" id="{CC85013C-27AA-4C63-A0F4-15084C5CE624}"/>
              </a:ext>
            </a:extLst>
          </p:cNvPr>
          <p:cNvGrpSpPr/>
          <p:nvPr/>
        </p:nvGrpSpPr>
        <p:grpSpPr>
          <a:xfrm>
            <a:off x="0" y="0"/>
            <a:ext cx="12204000" cy="77100"/>
            <a:chOff x="0" y="0"/>
            <a:chExt cx="7381662" cy="77100"/>
          </a:xfrm>
        </p:grpSpPr>
        <p:sp>
          <p:nvSpPr>
            <p:cNvPr id="10" name="Google Shape;11;p2">
              <a:extLst>
                <a:ext uri="{FF2B5EF4-FFF2-40B4-BE49-F238E27FC236}">
                  <a16:creationId xmlns:a16="http://schemas.microsoft.com/office/drawing/2014/main" id="{1C153A3B-2D71-47F6-AB3C-2D513B09DA58}"/>
                </a:ext>
              </a:extLst>
            </p:cNvPr>
            <p:cNvSpPr/>
            <p:nvPr userDrawn="1"/>
          </p:nvSpPr>
          <p:spPr>
            <a:xfrm>
              <a:off x="5938247" y="0"/>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2;p2">
              <a:extLst>
                <a:ext uri="{FF2B5EF4-FFF2-40B4-BE49-F238E27FC236}">
                  <a16:creationId xmlns:a16="http://schemas.microsoft.com/office/drawing/2014/main" id="{B888208B-4184-4F36-B6FD-9A66DD67B5B0}"/>
                </a:ext>
              </a:extLst>
            </p:cNvPr>
            <p:cNvSpPr/>
            <p:nvPr userDrawn="1"/>
          </p:nvSpPr>
          <p:spPr>
            <a:xfrm>
              <a:off x="6659862" y="0"/>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3;p2">
              <a:extLst>
                <a:ext uri="{FF2B5EF4-FFF2-40B4-BE49-F238E27FC236}">
                  <a16:creationId xmlns:a16="http://schemas.microsoft.com/office/drawing/2014/main" id="{EDAF84F7-C2B7-4C4D-8BB7-C6E01E132385}"/>
                </a:ext>
              </a:extLst>
            </p:cNvPr>
            <p:cNvSpPr/>
            <p:nvPr userDrawn="1"/>
          </p:nvSpPr>
          <p:spPr>
            <a:xfrm>
              <a:off x="0" y="0"/>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13" name="Google Shape;14;p2">
              <a:extLst>
                <a:ext uri="{FF2B5EF4-FFF2-40B4-BE49-F238E27FC236}">
                  <a16:creationId xmlns:a16="http://schemas.microsoft.com/office/drawing/2014/main" id="{58EDAA57-F530-4DA8-BD46-B1D7E59B6246}"/>
                </a:ext>
              </a:extLst>
            </p:cNvPr>
            <p:cNvSpPr/>
            <p:nvPr userDrawn="1"/>
          </p:nvSpPr>
          <p:spPr>
            <a:xfrm>
              <a:off x="721426" y="0"/>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17" name="Picture 16">
            <a:extLst>
              <a:ext uri="{FF2B5EF4-FFF2-40B4-BE49-F238E27FC236}">
                <a16:creationId xmlns:a16="http://schemas.microsoft.com/office/drawing/2014/main" id="{3269F94E-FAFA-B948-4F25-49C80AA8A3E9}"/>
              </a:ext>
            </a:extLst>
          </p:cNvPr>
          <p:cNvPicPr>
            <a:picLocks noChangeAspect="1"/>
          </p:cNvPicPr>
          <p:nvPr/>
        </p:nvPicPr>
        <p:blipFill>
          <a:blip r:embed="rId4"/>
          <a:stretch>
            <a:fillRect/>
          </a:stretch>
        </p:blipFill>
        <p:spPr>
          <a:xfrm>
            <a:off x="-26048" y="6305884"/>
            <a:ext cx="2437543" cy="556017"/>
          </a:xfrm>
          <a:prstGeom prst="rect">
            <a:avLst/>
          </a:prstGeom>
        </p:spPr>
      </p:pic>
    </p:spTree>
    <p:extLst>
      <p:ext uri="{BB962C8B-B14F-4D97-AF65-F5344CB8AC3E}">
        <p14:creationId xmlns:p14="http://schemas.microsoft.com/office/powerpoint/2010/main" val="1652419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74469" y="868848"/>
            <a:ext cx="5645331" cy="55014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199" y="868849"/>
            <a:ext cx="5645331" cy="55014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lvl1pPr>
              <a:defRPr/>
            </a:lvl1pPr>
          </a:lstStyle>
          <a:p>
            <a:r>
              <a:rPr lang="en-US" dirty="0"/>
              <a:t>Applications of ICT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7818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dirty="0"/>
              <a:t>Applications of ICT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702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35A1C4D-0756-5E2E-295E-8B626A7BCDCE}"/>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3" name="Footer Placeholder 2"/>
          <p:cNvSpPr>
            <a:spLocks noGrp="1"/>
          </p:cNvSpPr>
          <p:nvPr>
            <p:ph type="ftr" sz="quarter" idx="11"/>
          </p:nvPr>
        </p:nvSpPr>
        <p:spPr/>
        <p:txBody>
          <a:bodyPr/>
          <a:lstStyle/>
          <a:p>
            <a:r>
              <a:rPr lang="en-US" dirty="0"/>
              <a:t>Applications of ICT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6067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A00D127-6E33-F31E-202E-C50B77103564}"/>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8">
              <a:alphaModFix amt="40000"/>
            </a:blip>
            <a:srcRect/>
            <a:stretch>
              <a:fillRect l="-20312" r="-20312"/>
            </a:stretch>
          </a:blipFill>
        </p:spPr>
        <p:txBody>
          <a:bodyPr/>
          <a:lstStyle/>
          <a:p>
            <a:endParaRPr lang="LID4096"/>
          </a:p>
        </p:txBody>
      </p:sp>
      <p:sp>
        <p:nvSpPr>
          <p:cNvPr id="2" name="Title Placeholder 1"/>
          <p:cNvSpPr>
            <a:spLocks noGrp="1"/>
          </p:cNvSpPr>
          <p:nvPr>
            <p:ph type="title"/>
          </p:nvPr>
        </p:nvSpPr>
        <p:spPr>
          <a:xfrm>
            <a:off x="374469" y="157"/>
            <a:ext cx="11443061" cy="649224"/>
          </a:xfrm>
          <a:prstGeom prst="rect">
            <a:avLst/>
          </a:prstGeom>
        </p:spPr>
        <p:txBody>
          <a:bodyPr vert="horz" lIns="91440" tIns="45720" rIns="91440" bIns="45720" rtlCol="0" anchor="ctr">
            <a:noAutofit/>
          </a:bodyPr>
          <a:lstStyle/>
          <a:p>
            <a:endParaRPr lang="en-US" dirty="0"/>
          </a:p>
        </p:txBody>
      </p:sp>
      <p:sp>
        <p:nvSpPr>
          <p:cNvPr id="3" name="Text Placeholder 2"/>
          <p:cNvSpPr>
            <a:spLocks noGrp="1"/>
          </p:cNvSpPr>
          <p:nvPr>
            <p:ph type="body" idx="1"/>
          </p:nvPr>
        </p:nvSpPr>
        <p:spPr>
          <a:xfrm>
            <a:off x="374468" y="868849"/>
            <a:ext cx="11443063" cy="54870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73502" y="6487251"/>
            <a:ext cx="9444997" cy="365125"/>
          </a:xfrm>
          <a:prstGeom prst="rect">
            <a:avLst/>
          </a:prstGeom>
        </p:spPr>
        <p:txBody>
          <a:bodyPr vert="horz" lIns="91440" tIns="45720" rIns="91440" bIns="45720" rtlCol="0" anchor="ctr"/>
          <a:lstStyle>
            <a:lvl1pPr algn="ctr">
              <a:defRPr sz="1200" b="0">
                <a:solidFill>
                  <a:schemeClr val="bg1">
                    <a:lumMod val="50000"/>
                  </a:schemeClr>
                </a:solidFill>
              </a:defRPr>
            </a:lvl1pPr>
          </a:lstStyle>
          <a:p>
            <a:r>
              <a:rPr lang="en-US"/>
              <a:t>Fundamentals of Computer Programming</a:t>
            </a:r>
          </a:p>
        </p:txBody>
      </p:sp>
      <p:sp>
        <p:nvSpPr>
          <p:cNvPr id="6" name="Slide Number Placeholder 5"/>
          <p:cNvSpPr>
            <a:spLocks noGrp="1"/>
          </p:cNvSpPr>
          <p:nvPr>
            <p:ph type="sldNum" sz="quarter" idx="4"/>
          </p:nvPr>
        </p:nvSpPr>
        <p:spPr>
          <a:xfrm>
            <a:off x="11136283" y="6492875"/>
            <a:ext cx="681248" cy="365125"/>
          </a:xfrm>
          <a:prstGeom prst="rect">
            <a:avLst/>
          </a:prstGeom>
        </p:spPr>
        <p:txBody>
          <a:bodyPr vert="horz" lIns="91440" tIns="45720" rIns="91440" bIns="45720" rtlCol="0" anchor="ctr"/>
          <a:lstStyle>
            <a:lvl1pPr algn="r">
              <a:defRPr sz="1200" b="0">
                <a:solidFill>
                  <a:schemeClr val="bg1">
                    <a:lumMod val="50000"/>
                  </a:schemeClr>
                </a:solidFill>
              </a:defRPr>
            </a:lvl1pPr>
          </a:lstStyle>
          <a:p>
            <a:fld id="{B6F15528-21DE-4FAA-801E-634DDDAF4B2B}" type="slidenum">
              <a:rPr lang="en-US" smtClean="0"/>
              <a:pPr/>
              <a:t>‹#›</a:t>
            </a:fld>
            <a:endParaRPr lang="en-US"/>
          </a:p>
        </p:txBody>
      </p:sp>
      <p:grpSp>
        <p:nvGrpSpPr>
          <p:cNvPr id="4" name="Group 3">
            <a:extLst>
              <a:ext uri="{FF2B5EF4-FFF2-40B4-BE49-F238E27FC236}">
                <a16:creationId xmlns:a16="http://schemas.microsoft.com/office/drawing/2014/main" id="{D46421C2-E946-4940-97CF-2B44AA7D7128}"/>
              </a:ext>
            </a:extLst>
          </p:cNvPr>
          <p:cNvGrpSpPr/>
          <p:nvPr/>
        </p:nvGrpSpPr>
        <p:grpSpPr>
          <a:xfrm>
            <a:off x="354000" y="672779"/>
            <a:ext cx="11484000" cy="36000"/>
            <a:chOff x="-1" y="2533163"/>
            <a:chExt cx="7381662" cy="77100"/>
          </a:xfrm>
        </p:grpSpPr>
        <p:sp>
          <p:nvSpPr>
            <p:cNvPr id="16" name="Google Shape;11;p2">
              <a:extLst>
                <a:ext uri="{FF2B5EF4-FFF2-40B4-BE49-F238E27FC236}">
                  <a16:creationId xmlns:a16="http://schemas.microsoft.com/office/drawing/2014/main" id="{19C0DB5B-72AE-4C70-8F73-D9FDC654D07D}"/>
                </a:ext>
              </a:extLst>
            </p:cNvPr>
            <p:cNvSpPr/>
            <p:nvPr userDrawn="1"/>
          </p:nvSpPr>
          <p:spPr>
            <a:xfrm>
              <a:off x="5938246" y="2533163"/>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2;p2">
              <a:extLst>
                <a:ext uri="{FF2B5EF4-FFF2-40B4-BE49-F238E27FC236}">
                  <a16:creationId xmlns:a16="http://schemas.microsoft.com/office/drawing/2014/main" id="{F01C745C-9969-42D0-BDFC-6855C5FA2115}"/>
                </a:ext>
              </a:extLst>
            </p:cNvPr>
            <p:cNvSpPr/>
            <p:nvPr userDrawn="1"/>
          </p:nvSpPr>
          <p:spPr>
            <a:xfrm>
              <a:off x="6659861" y="2533163"/>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3;p2">
              <a:extLst>
                <a:ext uri="{FF2B5EF4-FFF2-40B4-BE49-F238E27FC236}">
                  <a16:creationId xmlns:a16="http://schemas.microsoft.com/office/drawing/2014/main" id="{2E53C4EE-FDDD-4371-9C09-5315DE3FC70F}"/>
                </a:ext>
              </a:extLst>
            </p:cNvPr>
            <p:cNvSpPr/>
            <p:nvPr userDrawn="1"/>
          </p:nvSpPr>
          <p:spPr>
            <a:xfrm>
              <a:off x="-1" y="2533163"/>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21" name="Google Shape;14;p2">
              <a:extLst>
                <a:ext uri="{FF2B5EF4-FFF2-40B4-BE49-F238E27FC236}">
                  <a16:creationId xmlns:a16="http://schemas.microsoft.com/office/drawing/2014/main" id="{D15E8F4E-4D67-46C3-BBEC-E8113784915E}"/>
                </a:ext>
              </a:extLst>
            </p:cNvPr>
            <p:cNvSpPr/>
            <p:nvPr userDrawn="1"/>
          </p:nvSpPr>
          <p:spPr>
            <a:xfrm>
              <a:off x="721425" y="2533163"/>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952540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lgn="l" defTabSz="914400" rtl="0" eaLnBrk="1" latinLnBrk="0" hangingPunct="1">
        <a:lnSpc>
          <a:spcPct val="90000"/>
        </a:lnSpc>
        <a:spcBef>
          <a:spcPct val="0"/>
        </a:spcBef>
        <a:buNone/>
        <a:defRPr sz="4000" kern="1200">
          <a:solidFill>
            <a:srgbClr val="00477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rgbClr val="00477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477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77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35200"/>
            <a:ext cx="9144000" cy="2387600"/>
          </a:xfrm>
        </p:spPr>
        <p:txBody>
          <a:bodyPr/>
          <a:lstStyle/>
          <a:p>
            <a:r>
              <a:rPr lang="en-US" sz="5400" dirty="0">
                <a:latin typeface="Times New Roman" panose="02020603050405020304" pitchFamily="18" charset="0"/>
                <a:cs typeface="Times New Roman" panose="02020603050405020304" pitchFamily="18" charset="0"/>
              </a:rPr>
              <a:t>Networks and Internet</a:t>
            </a:r>
          </a:p>
        </p:txBody>
      </p:sp>
      <p:sp>
        <p:nvSpPr>
          <p:cNvPr id="3" name="Subtitle 2"/>
          <p:cNvSpPr>
            <a:spLocks noGrp="1"/>
          </p:cNvSpPr>
          <p:nvPr>
            <p:ph type="subTitle" idx="1"/>
          </p:nvPr>
        </p:nvSpPr>
        <p:spPr>
          <a:xfrm>
            <a:off x="1524000" y="4744604"/>
            <a:ext cx="9144000" cy="1655762"/>
          </a:xfrm>
        </p:spPr>
        <p:txBody>
          <a:bodyPr/>
          <a:lstStyle/>
          <a:p>
            <a:r>
              <a:rPr lang="en-US" dirty="0">
                <a:latin typeface="Times New Roman" panose="02020603050405020304" pitchFamily="18" charset="0"/>
                <a:cs typeface="Times New Roman" panose="02020603050405020304" pitchFamily="18" charset="0"/>
              </a:rPr>
              <a:t>Sara T. Sheikh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A9FB-C8D5-4ADB-A583-15161EFE43A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We will explore……</a:t>
            </a:r>
          </a:p>
        </p:txBody>
      </p:sp>
      <p:sp>
        <p:nvSpPr>
          <p:cNvPr id="3" name="Content Placeholder 2">
            <a:extLst>
              <a:ext uri="{FF2B5EF4-FFF2-40B4-BE49-F238E27FC236}">
                <a16:creationId xmlns:a16="http://schemas.microsoft.com/office/drawing/2014/main" id="{652B4710-5A30-4E13-B839-B95E220448D1}"/>
              </a:ext>
            </a:extLst>
          </p:cNvPr>
          <p:cNvSpPr>
            <a:spLocks noGrp="1"/>
          </p:cNvSpPr>
          <p:nvPr>
            <p:ph idx="1"/>
          </p:nvPr>
        </p:nvSpPr>
        <p:spPr>
          <a:xfrm>
            <a:off x="374468" y="1076325"/>
            <a:ext cx="11569881" cy="5257799"/>
          </a:xfrm>
        </p:spPr>
        <p:txBody>
          <a:bodyPr>
            <a:normAutofit/>
          </a:bodyPr>
          <a:lstStyle/>
          <a:p>
            <a:r>
              <a:rPr lang="en-US" dirty="0">
                <a:latin typeface="Times New Roman" panose="02020603050405020304" pitchFamily="18" charset="0"/>
                <a:cs typeface="Times New Roman" panose="02020603050405020304" pitchFamily="18" charset="0"/>
              </a:rPr>
              <a:t>Computer Networks</a:t>
            </a:r>
          </a:p>
          <a:p>
            <a:r>
              <a:rPr lang="en-US" dirty="0">
                <a:latin typeface="Times New Roman" panose="02020603050405020304" pitchFamily="18" charset="0"/>
                <a:cs typeface="Times New Roman" panose="02020603050405020304" pitchFamily="18" charset="0"/>
              </a:rPr>
              <a:t>Transmission Technology</a:t>
            </a:r>
          </a:p>
          <a:p>
            <a:r>
              <a:rPr lang="en-US" dirty="0">
                <a:latin typeface="Times New Roman" panose="02020603050405020304" pitchFamily="18" charset="0"/>
                <a:cs typeface="Times New Roman" panose="02020603050405020304" pitchFamily="18" charset="0"/>
              </a:rPr>
              <a:t>Network Types</a:t>
            </a:r>
          </a:p>
          <a:p>
            <a:r>
              <a:rPr lang="en-US" dirty="0">
                <a:latin typeface="Times New Roman" panose="02020603050405020304" pitchFamily="18" charset="0"/>
                <a:cs typeface="Times New Roman" panose="02020603050405020304" pitchFamily="18" charset="0"/>
              </a:rPr>
              <a:t>Network Hardware</a:t>
            </a:r>
          </a:p>
          <a:p>
            <a:r>
              <a:rPr lang="en-US" dirty="0">
                <a:latin typeface="Times New Roman" panose="02020603050405020304" pitchFamily="18" charset="0"/>
                <a:cs typeface="Times New Roman" panose="02020603050405020304" pitchFamily="18" charset="0"/>
              </a:rPr>
              <a:t>Network Topology</a:t>
            </a:r>
          </a:p>
          <a:p>
            <a:r>
              <a:rPr lang="en-US" dirty="0">
                <a:latin typeface="Times New Roman" panose="02020603050405020304" pitchFamily="18" charset="0"/>
                <a:cs typeface="Times New Roman" panose="02020603050405020304" pitchFamily="18" charset="0"/>
              </a:rPr>
              <a:t>Cloud Computing</a:t>
            </a:r>
          </a:p>
          <a:p>
            <a:r>
              <a:rPr lang="en-US" dirty="0">
                <a:latin typeface="Times New Roman" panose="02020603050405020304" pitchFamily="18" charset="0"/>
                <a:cs typeface="Times New Roman" panose="02020603050405020304" pitchFamily="18" charset="0"/>
              </a:rPr>
              <a:t>Bit Streaming</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4348EC9-1A7A-423A-9182-9EB2AE1841B2}"/>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FB964976-8038-40C5-846A-9D7BEB622AD5}"/>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94915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90DF-9D7E-4802-B81A-3C2AF94BDDF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Computer Network Models</a:t>
            </a:r>
          </a:p>
        </p:txBody>
      </p:sp>
      <p:sp>
        <p:nvSpPr>
          <p:cNvPr id="3" name="Content Placeholder 2">
            <a:extLst>
              <a:ext uri="{FF2B5EF4-FFF2-40B4-BE49-F238E27FC236}">
                <a16:creationId xmlns:a16="http://schemas.microsoft.com/office/drawing/2014/main" id="{0DE850AE-5232-4668-BAFF-0FC61BDF9A35}"/>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The Issue:</a:t>
            </a:r>
          </a:p>
          <a:p>
            <a:pPr lvl="1"/>
            <a:r>
              <a:rPr lang="en-US" sz="2400" dirty="0">
                <a:latin typeface="Times New Roman" panose="02020603050405020304" pitchFamily="18" charset="0"/>
                <a:cs typeface="Times New Roman" panose="02020603050405020304" pitchFamily="18" charset="0"/>
              </a:rPr>
              <a:t>Networks are complex systems with many components</a:t>
            </a:r>
          </a:p>
          <a:p>
            <a:pPr lvl="1"/>
            <a:r>
              <a:rPr lang="en-US" sz="2400" dirty="0">
                <a:latin typeface="Times New Roman" panose="02020603050405020304" pitchFamily="18" charset="0"/>
                <a:cs typeface="Times New Roman" panose="02020603050405020304" pitchFamily="18" charset="0"/>
              </a:rPr>
              <a:t>Hardware (cables, routers, switches)</a:t>
            </a:r>
          </a:p>
          <a:p>
            <a:pPr lvl="1"/>
            <a:r>
              <a:rPr lang="en-US" sz="2400" dirty="0">
                <a:latin typeface="Times New Roman" panose="02020603050405020304" pitchFamily="18" charset="0"/>
                <a:cs typeface="Times New Roman" panose="02020603050405020304" pitchFamily="18" charset="0"/>
              </a:rPr>
              <a:t>Software (protocols, applications)</a:t>
            </a:r>
          </a:p>
          <a:p>
            <a:pPr lvl="1"/>
            <a:r>
              <a:rPr lang="en-US" sz="2400" dirty="0">
                <a:latin typeface="Times New Roman" panose="02020603050405020304" pitchFamily="18" charset="0"/>
                <a:cs typeface="Times New Roman" panose="02020603050405020304" pitchFamily="18" charset="0"/>
              </a:rPr>
              <a:t>How do all these pieces work together?</a:t>
            </a:r>
          </a:p>
          <a:p>
            <a:r>
              <a:rPr lang="en-US" sz="2800" dirty="0">
                <a:latin typeface="Times New Roman" panose="02020603050405020304" pitchFamily="18" charset="0"/>
                <a:cs typeface="Times New Roman" panose="02020603050405020304" pitchFamily="18" charset="0"/>
              </a:rPr>
              <a:t>Solution: Networking Models</a:t>
            </a:r>
          </a:p>
          <a:p>
            <a:pPr lvl="1"/>
            <a:r>
              <a:rPr lang="en-US" sz="2400" dirty="0">
                <a:latin typeface="Times New Roman" panose="02020603050405020304" pitchFamily="18" charset="0"/>
                <a:cs typeface="Times New Roman" panose="02020603050405020304" pitchFamily="18" charset="0"/>
              </a:rPr>
              <a:t>Organize networking functions into logical layers</a:t>
            </a:r>
          </a:p>
          <a:p>
            <a:pPr lvl="1"/>
            <a:r>
              <a:rPr lang="en-US" sz="2400" dirty="0">
                <a:latin typeface="Times New Roman" panose="02020603050405020304" pitchFamily="18" charset="0"/>
                <a:cs typeface="Times New Roman" panose="02020603050405020304" pitchFamily="18" charset="0"/>
              </a:rPr>
              <a:t>Each layer has specific responsibilities</a:t>
            </a:r>
          </a:p>
          <a:p>
            <a:pPr lvl="1"/>
            <a:r>
              <a:rPr lang="en-US" sz="2400" dirty="0">
                <a:latin typeface="Times New Roman" panose="02020603050405020304" pitchFamily="18" charset="0"/>
                <a:cs typeface="Times New Roman" panose="02020603050405020304" pitchFamily="18" charset="0"/>
              </a:rPr>
              <a:t>Layers work together to enable communication</a:t>
            </a:r>
          </a:p>
          <a:p>
            <a:pPr lvl="1"/>
            <a:r>
              <a:rPr lang="en-US" sz="2400" dirty="0">
                <a:latin typeface="Times New Roman" panose="02020603050405020304" pitchFamily="18" charset="0"/>
                <a:cs typeface="Times New Roman" panose="02020603050405020304" pitchFamily="18" charset="0"/>
              </a:rPr>
              <a:t>Standard framework everyone follows</a:t>
            </a:r>
          </a:p>
          <a:p>
            <a:pPr lvl="2"/>
            <a:r>
              <a:rPr lang="en-US" sz="2000" dirty="0">
                <a:latin typeface="Times New Roman" panose="02020603050405020304" pitchFamily="18" charset="0"/>
                <a:cs typeface="Times New Roman" panose="02020603050405020304" pitchFamily="18" charset="0"/>
              </a:rPr>
              <a:t>OSI Model              - 7 layers</a:t>
            </a:r>
          </a:p>
          <a:p>
            <a:pPr lvl="2"/>
            <a:r>
              <a:rPr lang="en-US" sz="2000" dirty="0">
                <a:latin typeface="Times New Roman" panose="02020603050405020304" pitchFamily="18" charset="0"/>
                <a:cs typeface="Times New Roman" panose="02020603050405020304" pitchFamily="18" charset="0"/>
              </a:rPr>
              <a:t>TCP/IP Model         - 4 layers</a:t>
            </a:r>
          </a:p>
        </p:txBody>
      </p:sp>
      <p:sp>
        <p:nvSpPr>
          <p:cNvPr id="4" name="Footer Placeholder 3">
            <a:extLst>
              <a:ext uri="{FF2B5EF4-FFF2-40B4-BE49-F238E27FC236}">
                <a16:creationId xmlns:a16="http://schemas.microsoft.com/office/drawing/2014/main" id="{D972EC94-8C14-4EC1-B5FB-021E12B4ADE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40E199A-4938-4B61-A895-2648F47CB2AB}"/>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4208744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AD91-799A-4888-9499-9D4BF27DCD2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OSI Vs. TCP/IP Model</a:t>
            </a:r>
          </a:p>
        </p:txBody>
      </p:sp>
      <p:pic>
        <p:nvPicPr>
          <p:cNvPr id="6" name="Content Placeholder 5">
            <a:extLst>
              <a:ext uri="{FF2B5EF4-FFF2-40B4-BE49-F238E27FC236}">
                <a16:creationId xmlns:a16="http://schemas.microsoft.com/office/drawing/2014/main" id="{F975C97C-366E-4FD1-8B47-0EBE43190F29}"/>
              </a:ext>
            </a:extLst>
          </p:cNvPr>
          <p:cNvPicPr>
            <a:picLocks noGrp="1" noChangeAspect="1"/>
          </p:cNvPicPr>
          <p:nvPr>
            <p:ph idx="1"/>
          </p:nvPr>
        </p:nvPicPr>
        <p:blipFill>
          <a:blip r:embed="rId2"/>
          <a:stretch>
            <a:fillRect/>
          </a:stretch>
        </p:blipFill>
        <p:spPr>
          <a:xfrm>
            <a:off x="1333500" y="1231106"/>
            <a:ext cx="9525000" cy="4762500"/>
          </a:xfrm>
          <a:prstGeom prst="rect">
            <a:avLst/>
          </a:prstGeom>
        </p:spPr>
      </p:pic>
      <p:sp>
        <p:nvSpPr>
          <p:cNvPr id="4" name="Footer Placeholder 3">
            <a:extLst>
              <a:ext uri="{FF2B5EF4-FFF2-40B4-BE49-F238E27FC236}">
                <a16:creationId xmlns:a16="http://schemas.microsoft.com/office/drawing/2014/main" id="{503B6C41-E359-4246-8D5B-FCFFF7C88B54}"/>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C02D1FC-B8B6-4A16-9E29-21AF2789993C}"/>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456181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C6BA-AFC3-499D-9CCC-020EF2EB098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TCP/IP</a:t>
            </a:r>
          </a:p>
        </p:txBody>
      </p:sp>
      <p:pic>
        <p:nvPicPr>
          <p:cNvPr id="7" name="Content Placeholder 6">
            <a:extLst>
              <a:ext uri="{FF2B5EF4-FFF2-40B4-BE49-F238E27FC236}">
                <a16:creationId xmlns:a16="http://schemas.microsoft.com/office/drawing/2014/main" id="{BD7241D4-EC7D-44F3-897B-D59350EADCF1}"/>
              </a:ext>
            </a:extLst>
          </p:cNvPr>
          <p:cNvPicPr>
            <a:picLocks noGrp="1" noChangeAspect="1"/>
          </p:cNvPicPr>
          <p:nvPr>
            <p:ph idx="1"/>
          </p:nvPr>
        </p:nvPicPr>
        <p:blipFill>
          <a:blip r:embed="rId2"/>
          <a:stretch>
            <a:fillRect/>
          </a:stretch>
        </p:blipFill>
        <p:spPr>
          <a:xfrm>
            <a:off x="1238250" y="1047192"/>
            <a:ext cx="9444997" cy="49874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a:extLst>
              <a:ext uri="{FF2B5EF4-FFF2-40B4-BE49-F238E27FC236}">
                <a16:creationId xmlns:a16="http://schemas.microsoft.com/office/drawing/2014/main" id="{2E20452C-3EA3-49CF-A835-BA431D1A09C8}"/>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39BECD72-FAEE-40FF-9BD5-001D08432BB6}"/>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987908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FE76-3B97-46C4-8610-49F89D5A2E9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TCP/IP Connects All</a:t>
            </a:r>
          </a:p>
        </p:txBody>
      </p:sp>
      <p:graphicFrame>
        <p:nvGraphicFramePr>
          <p:cNvPr id="6" name="Content Placeholder 5">
            <a:extLst>
              <a:ext uri="{FF2B5EF4-FFF2-40B4-BE49-F238E27FC236}">
                <a16:creationId xmlns:a16="http://schemas.microsoft.com/office/drawing/2014/main" id="{7680BF16-E982-4C96-AAD5-034E60F44724}"/>
              </a:ext>
            </a:extLst>
          </p:cNvPr>
          <p:cNvGraphicFramePr>
            <a:graphicFrameLocks noGrp="1"/>
          </p:cNvGraphicFramePr>
          <p:nvPr>
            <p:ph idx="1"/>
            <p:extLst>
              <p:ext uri="{D42A27DB-BD31-4B8C-83A1-F6EECF244321}">
                <p14:modId xmlns:p14="http://schemas.microsoft.com/office/powerpoint/2010/main" val="1059792268"/>
              </p:ext>
            </p:extLst>
          </p:nvPr>
        </p:nvGraphicFramePr>
        <p:xfrm>
          <a:off x="374650" y="1052036"/>
          <a:ext cx="11442699" cy="5120640"/>
        </p:xfrm>
        <a:graphic>
          <a:graphicData uri="http://schemas.openxmlformats.org/drawingml/2006/table">
            <a:tbl>
              <a:tblPr>
                <a:tableStyleId>{3C2FFA5D-87B4-456A-9821-1D502468CF0F}</a:tableStyleId>
              </a:tblPr>
              <a:tblGrid>
                <a:gridCol w="3814233">
                  <a:extLst>
                    <a:ext uri="{9D8B030D-6E8A-4147-A177-3AD203B41FA5}">
                      <a16:colId xmlns:a16="http://schemas.microsoft.com/office/drawing/2014/main" val="3565671533"/>
                    </a:ext>
                  </a:extLst>
                </a:gridCol>
                <a:gridCol w="3814233">
                  <a:extLst>
                    <a:ext uri="{9D8B030D-6E8A-4147-A177-3AD203B41FA5}">
                      <a16:colId xmlns:a16="http://schemas.microsoft.com/office/drawing/2014/main" val="889468946"/>
                    </a:ext>
                  </a:extLst>
                </a:gridCol>
                <a:gridCol w="3814233">
                  <a:extLst>
                    <a:ext uri="{9D8B030D-6E8A-4147-A177-3AD203B41FA5}">
                      <a16:colId xmlns:a16="http://schemas.microsoft.com/office/drawing/2014/main" val="1757763340"/>
                    </a:ext>
                  </a:extLst>
                </a:gridCol>
              </a:tblGrid>
              <a:tr h="0">
                <a:tc>
                  <a:txBody>
                    <a:bodyPr/>
                    <a:lstStyle/>
                    <a:p>
                      <a:r>
                        <a:rPr lang="en-US" b="1">
                          <a:latin typeface="Times New Roman" panose="02020603050405020304" pitchFamily="18" charset="0"/>
                          <a:cs typeface="Times New Roman" panose="02020603050405020304" pitchFamily="18" charset="0"/>
                        </a:rPr>
                        <a:t>Concept</a:t>
                      </a:r>
                      <a:endParaRPr lang="en-US">
                        <a:latin typeface="Times New Roman" panose="02020603050405020304" pitchFamily="18" charset="0"/>
                        <a:cs typeface="Times New Roman" panose="02020603050405020304" pitchFamily="18" charset="0"/>
                      </a:endParaRPr>
                    </a:p>
                  </a:txBody>
                  <a:tcPr anchor="ctr"/>
                </a:tc>
                <a:tc>
                  <a:txBody>
                    <a:bodyPr/>
                    <a:lstStyle/>
                    <a:p>
                      <a:r>
                        <a:rPr lang="en-US" b="1">
                          <a:latin typeface="Times New Roman" panose="02020603050405020304" pitchFamily="18" charset="0"/>
                          <a:cs typeface="Times New Roman" panose="02020603050405020304" pitchFamily="18" charset="0"/>
                        </a:rPr>
                        <a:t>TCP/IP Layer Connection</a:t>
                      </a:r>
                      <a:endParaRPr lang="en-US">
                        <a:latin typeface="Times New Roman" panose="02020603050405020304" pitchFamily="18" charset="0"/>
                        <a:cs typeface="Times New Roman" panose="02020603050405020304" pitchFamily="18" charset="0"/>
                      </a:endParaRPr>
                    </a:p>
                  </a:txBody>
                  <a:tcPr anchor="ctr"/>
                </a:tc>
                <a:tc>
                  <a:txBody>
                    <a:bodyPr/>
                    <a:lstStyle/>
                    <a:p>
                      <a:r>
                        <a:rPr lang="en-US" b="1"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12448993"/>
                  </a:ext>
                </a:extLst>
              </a:tr>
              <a:tr h="0">
                <a:tc>
                  <a:txBody>
                    <a:bodyPr/>
                    <a:lstStyle/>
                    <a:p>
                      <a:r>
                        <a:rPr lang="en-US" b="1">
                          <a:latin typeface="Times New Roman" panose="02020603050405020304" pitchFamily="18" charset="0"/>
                          <a:cs typeface="Times New Roman" panose="02020603050405020304" pitchFamily="18" charset="0"/>
                        </a:rPr>
                        <a:t>Packetization</a:t>
                      </a:r>
                      <a:endParaRPr lang="en-US">
                        <a:latin typeface="Times New Roman" panose="02020603050405020304" pitchFamily="18" charset="0"/>
                        <a:cs typeface="Times New Roman" panose="02020603050405020304" pitchFamily="18" charset="0"/>
                      </a:endParaRPr>
                    </a:p>
                  </a:txBody>
                  <a:tcPr anchor="ctr"/>
                </a:tc>
                <a:tc>
                  <a:txBody>
                    <a:bodyPr/>
                    <a:lstStyle/>
                    <a:p>
                      <a:r>
                        <a:rPr lang="en-US" b="1">
                          <a:latin typeface="Times New Roman" panose="02020603050405020304" pitchFamily="18" charset="0"/>
                          <a:cs typeface="Times New Roman" panose="02020603050405020304" pitchFamily="18" charset="0"/>
                        </a:rPr>
                        <a:t>Transport Layer &amp; Internet Layer</a:t>
                      </a:r>
                      <a:endParaRPr lang="en-US">
                        <a:latin typeface="Times New Roman" panose="02020603050405020304" pitchFamily="18" charset="0"/>
                        <a:cs typeface="Times New Roman" panose="02020603050405020304" pitchFamily="18" charset="0"/>
                      </a:endParaRPr>
                    </a:p>
                  </a:txBody>
                  <a:tcPr anchor="ctr"/>
                </a:tc>
                <a:tc>
                  <a:txBody>
                    <a:bodyPr/>
                    <a:lstStyle/>
                    <a:p>
                      <a:r>
                        <a:rPr lang="en-US">
                          <a:latin typeface="Times New Roman" panose="02020603050405020304" pitchFamily="18" charset="0"/>
                          <a:cs typeface="Times New Roman" panose="02020603050405020304" pitchFamily="18" charset="0"/>
                        </a:rPr>
                        <a:t>Transport layer breaks data into segments; Internet layer adds IP headers to create full packets (the structure we studied).</a:t>
                      </a:r>
                    </a:p>
                  </a:txBody>
                  <a:tcPr anchor="ctr"/>
                </a:tc>
                <a:extLst>
                  <a:ext uri="{0D108BD9-81ED-4DB2-BD59-A6C34878D82A}">
                    <a16:rowId xmlns:a16="http://schemas.microsoft.com/office/drawing/2014/main" val="2014474446"/>
                  </a:ext>
                </a:extLst>
              </a:tr>
              <a:tr h="0">
                <a:tc>
                  <a:txBody>
                    <a:bodyPr/>
                    <a:lstStyle/>
                    <a:p>
                      <a:r>
                        <a:rPr lang="en-US" b="1" dirty="0">
                          <a:latin typeface="Times New Roman" panose="02020603050405020304" pitchFamily="18" charset="0"/>
                          <a:cs typeface="Times New Roman" panose="02020603050405020304" pitchFamily="18" charset="0"/>
                        </a:rPr>
                        <a:t>IP Addressing</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b="1">
                          <a:latin typeface="Times New Roman" panose="02020603050405020304" pitchFamily="18" charset="0"/>
                          <a:cs typeface="Times New Roman" panose="02020603050405020304" pitchFamily="18" charset="0"/>
                        </a:rPr>
                        <a:t>Internet Layer</a:t>
                      </a:r>
                      <a:endParaRPr lang="en-US">
                        <a:latin typeface="Times New Roman" panose="02020603050405020304" pitchFamily="18" charset="0"/>
                        <a:cs typeface="Times New Roman" panose="02020603050405020304" pitchFamily="18" charset="0"/>
                      </a:endParaRPr>
                    </a:p>
                  </a:txBody>
                  <a:tcPr anchor="ctr"/>
                </a:tc>
                <a:tc>
                  <a:txBody>
                    <a:bodyPr/>
                    <a:lstStyle/>
                    <a:p>
                      <a:r>
                        <a:rPr lang="en-US">
                          <a:latin typeface="Times New Roman" panose="02020603050405020304" pitchFamily="18" charset="0"/>
                          <a:cs typeface="Times New Roman" panose="02020603050405020304" pitchFamily="18" charset="0"/>
                        </a:rPr>
                        <a:t>IP addresses identify source and destination; routers read these addresses and forward packets accordingly.</a:t>
                      </a:r>
                    </a:p>
                  </a:txBody>
                  <a:tcPr anchor="ctr"/>
                </a:tc>
                <a:extLst>
                  <a:ext uri="{0D108BD9-81ED-4DB2-BD59-A6C34878D82A}">
                    <a16:rowId xmlns:a16="http://schemas.microsoft.com/office/drawing/2014/main" val="3468165002"/>
                  </a:ext>
                </a:extLst>
              </a:tr>
              <a:tr h="0">
                <a:tc>
                  <a:txBody>
                    <a:bodyPr/>
                    <a:lstStyle/>
                    <a:p>
                      <a:r>
                        <a:rPr lang="en-US" b="1">
                          <a:latin typeface="Times New Roman" panose="02020603050405020304" pitchFamily="18" charset="0"/>
                          <a:cs typeface="Times New Roman" panose="02020603050405020304" pitchFamily="18" charset="0"/>
                        </a:rPr>
                        <a:t>Network Hardware</a:t>
                      </a:r>
                      <a:endParaRPr lang="en-US">
                        <a:latin typeface="Times New Roman" panose="02020603050405020304" pitchFamily="18" charset="0"/>
                        <a:cs typeface="Times New Roman" panose="02020603050405020304" pitchFamily="18" charset="0"/>
                      </a:endParaRPr>
                    </a:p>
                  </a:txBody>
                  <a:tcPr anchor="ctr"/>
                </a:tc>
                <a:tc>
                  <a:txBody>
                    <a:bodyPr/>
                    <a:lstStyle/>
                    <a:p>
                      <a:r>
                        <a:rPr lang="en-US" b="1">
                          <a:latin typeface="Times New Roman" panose="02020603050405020304" pitchFamily="18" charset="0"/>
                          <a:cs typeface="Times New Roman" panose="02020603050405020304" pitchFamily="18" charset="0"/>
                        </a:rPr>
                        <a:t>Different Layers</a:t>
                      </a:r>
                      <a:endParaRPr lang="en-US">
                        <a:latin typeface="Times New Roman" panose="02020603050405020304" pitchFamily="18" charset="0"/>
                        <a:cs typeface="Times New Roman" panose="02020603050405020304" pitchFamily="18" charset="0"/>
                      </a:endParaRPr>
                    </a:p>
                  </a:txBody>
                  <a:tcPr anchor="ctr"/>
                </a:tc>
                <a:tc>
                  <a:txBody>
                    <a:bodyPr/>
                    <a:lstStyle/>
                    <a:p>
                      <a:r>
                        <a:rPr lang="en-US">
                          <a:latin typeface="Times New Roman" panose="02020603050405020304" pitchFamily="18" charset="0"/>
                          <a:cs typeface="Times New Roman" panose="02020603050405020304" pitchFamily="18" charset="0"/>
                        </a:rPr>
                        <a:t>Routers operate at the Internet Layer (IP addresses); switches operate at the Network Access Layer (MAC addresses); cables/Wi-Fi handle physical transmission.</a:t>
                      </a:r>
                    </a:p>
                  </a:txBody>
                  <a:tcPr anchor="ctr"/>
                </a:tc>
                <a:extLst>
                  <a:ext uri="{0D108BD9-81ED-4DB2-BD59-A6C34878D82A}">
                    <a16:rowId xmlns:a16="http://schemas.microsoft.com/office/drawing/2014/main" val="3129438064"/>
                  </a:ext>
                </a:extLst>
              </a:tr>
              <a:tr h="0">
                <a:tc>
                  <a:txBody>
                    <a:bodyPr/>
                    <a:lstStyle/>
                    <a:p>
                      <a:r>
                        <a:rPr lang="en-US" b="1">
                          <a:latin typeface="Times New Roman" panose="02020603050405020304" pitchFamily="18" charset="0"/>
                          <a:cs typeface="Times New Roman" panose="02020603050405020304" pitchFamily="18" charset="0"/>
                        </a:rPr>
                        <a:t>Overall Idea</a:t>
                      </a:r>
                      <a:endParaRPr lang="en-US">
                        <a:latin typeface="Times New Roman" panose="02020603050405020304" pitchFamily="18" charset="0"/>
                        <a:cs typeface="Times New Roman" panose="02020603050405020304" pitchFamily="18" charset="0"/>
                      </a:endParaRPr>
                    </a:p>
                  </a:txBody>
                  <a:tcPr anchor="ctr"/>
                </a:tc>
                <a:tc>
                  <a:txBody>
                    <a:bodyPr/>
                    <a:lstStyle/>
                    <a:p>
                      <a:r>
                        <a:rPr lang="en-US" b="1">
                          <a:latin typeface="Times New Roman" panose="02020603050405020304" pitchFamily="18" charset="0"/>
                          <a:cs typeface="Times New Roman" panose="02020603050405020304" pitchFamily="18" charset="0"/>
                        </a:rPr>
                        <a:t>TCP/IP Model</a:t>
                      </a:r>
                      <a:endParaRPr lang="en-US">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TCP/IP organizes how data is packaged, addressed, transmitted, routed, and delivered.</a:t>
                      </a:r>
                    </a:p>
                  </a:txBody>
                  <a:tcPr anchor="ctr"/>
                </a:tc>
                <a:extLst>
                  <a:ext uri="{0D108BD9-81ED-4DB2-BD59-A6C34878D82A}">
                    <a16:rowId xmlns:a16="http://schemas.microsoft.com/office/drawing/2014/main" val="3197683737"/>
                  </a:ext>
                </a:extLst>
              </a:tr>
            </a:tbl>
          </a:graphicData>
        </a:graphic>
      </p:graphicFrame>
      <p:sp>
        <p:nvSpPr>
          <p:cNvPr id="4" name="Footer Placeholder 3">
            <a:extLst>
              <a:ext uri="{FF2B5EF4-FFF2-40B4-BE49-F238E27FC236}">
                <a16:creationId xmlns:a16="http://schemas.microsoft.com/office/drawing/2014/main" id="{4C7CF84F-356F-4EA7-B00B-17AC65D5A7F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15140EE-A073-45E9-B968-02867B4D7CA2}"/>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4271576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645C-6F1C-4F07-88BE-23E6371D1E9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Models : Client - Server</a:t>
            </a:r>
          </a:p>
        </p:txBody>
      </p:sp>
      <p:sp>
        <p:nvSpPr>
          <p:cNvPr id="4" name="Footer Placeholder 3">
            <a:extLst>
              <a:ext uri="{FF2B5EF4-FFF2-40B4-BE49-F238E27FC236}">
                <a16:creationId xmlns:a16="http://schemas.microsoft.com/office/drawing/2014/main" id="{8855E729-618D-4D0D-AFC5-0D11B9472FB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43743D9B-296E-45C4-AA66-64BB9E266BF2}"/>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12" name="Content Placeholder 11">
            <a:extLst>
              <a:ext uri="{FF2B5EF4-FFF2-40B4-BE49-F238E27FC236}">
                <a16:creationId xmlns:a16="http://schemas.microsoft.com/office/drawing/2014/main" id="{0B1AA3B9-B2AD-4472-A0D8-C928DBD89D6D}"/>
              </a:ext>
            </a:extLst>
          </p:cNvPr>
          <p:cNvPicPr>
            <a:picLocks noGrp="1" noChangeAspect="1"/>
          </p:cNvPicPr>
          <p:nvPr>
            <p:ph idx="1"/>
          </p:nvPr>
        </p:nvPicPr>
        <p:blipFill>
          <a:blip r:embed="rId2"/>
          <a:stretch>
            <a:fillRect/>
          </a:stretch>
        </p:blipFill>
        <p:spPr>
          <a:xfrm>
            <a:off x="1990726" y="875506"/>
            <a:ext cx="8105774" cy="5403850"/>
          </a:xfrm>
          <a:prstGeom prst="rect">
            <a:avLst/>
          </a:prstGeom>
        </p:spPr>
      </p:pic>
    </p:spTree>
    <p:extLst>
      <p:ext uri="{BB962C8B-B14F-4D97-AF65-F5344CB8AC3E}">
        <p14:creationId xmlns:p14="http://schemas.microsoft.com/office/powerpoint/2010/main" val="1778219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85544-A3F1-4AEF-818D-E52FD30612A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Benefits &amp; Drawbacks</a:t>
            </a:r>
          </a:p>
        </p:txBody>
      </p:sp>
      <p:graphicFrame>
        <p:nvGraphicFramePr>
          <p:cNvPr id="6" name="Content Placeholder 5">
            <a:extLst>
              <a:ext uri="{FF2B5EF4-FFF2-40B4-BE49-F238E27FC236}">
                <a16:creationId xmlns:a16="http://schemas.microsoft.com/office/drawing/2014/main" id="{32139200-898A-472B-BFE5-ADB768B5B21E}"/>
              </a:ext>
            </a:extLst>
          </p:cNvPr>
          <p:cNvGraphicFramePr>
            <a:graphicFrameLocks noGrp="1"/>
          </p:cNvGraphicFramePr>
          <p:nvPr>
            <p:ph idx="1"/>
            <p:extLst>
              <p:ext uri="{D42A27DB-BD31-4B8C-83A1-F6EECF244321}">
                <p14:modId xmlns:p14="http://schemas.microsoft.com/office/powerpoint/2010/main" val="3995375718"/>
              </p:ext>
            </p:extLst>
          </p:nvPr>
        </p:nvGraphicFramePr>
        <p:xfrm>
          <a:off x="971550" y="1371601"/>
          <a:ext cx="9846950" cy="3467101"/>
        </p:xfrm>
        <a:graphic>
          <a:graphicData uri="http://schemas.openxmlformats.org/drawingml/2006/table">
            <a:tbl>
              <a:tblPr/>
              <a:tblGrid>
                <a:gridCol w="4923475">
                  <a:extLst>
                    <a:ext uri="{9D8B030D-6E8A-4147-A177-3AD203B41FA5}">
                      <a16:colId xmlns:a16="http://schemas.microsoft.com/office/drawing/2014/main" val="2951859092"/>
                    </a:ext>
                  </a:extLst>
                </a:gridCol>
                <a:gridCol w="4923475">
                  <a:extLst>
                    <a:ext uri="{9D8B030D-6E8A-4147-A177-3AD203B41FA5}">
                      <a16:colId xmlns:a16="http://schemas.microsoft.com/office/drawing/2014/main" val="4280451485"/>
                    </a:ext>
                  </a:extLst>
                </a:gridCol>
              </a:tblGrid>
              <a:tr h="407894">
                <a:tc>
                  <a:txBody>
                    <a:bodyPr/>
                    <a:lstStyle/>
                    <a:p>
                      <a:pPr algn="l"/>
                      <a:r>
                        <a:rPr lang="en-US" b="1">
                          <a:solidFill>
                            <a:srgbClr val="323232"/>
                          </a:solidFill>
                          <a:effectLst/>
                          <a:latin typeface="Times New Roman" panose="02020603050405020304" pitchFamily="18" charset="0"/>
                          <a:cs typeface="Times New Roman" panose="02020603050405020304" pitchFamily="18" charset="0"/>
                        </a:rPr>
                        <a:t>Benefits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l"/>
                      <a:r>
                        <a:rPr lang="en-US" b="1">
                          <a:solidFill>
                            <a:srgbClr val="323232"/>
                          </a:solidFill>
                          <a:effectLst/>
                          <a:latin typeface="Times New Roman" panose="02020603050405020304" pitchFamily="18" charset="0"/>
                          <a:cs typeface="Times New Roman" panose="02020603050405020304" pitchFamily="18" charset="0"/>
                        </a:rPr>
                        <a:t>Drawbacks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899010728"/>
                  </a:ext>
                </a:extLst>
              </a:tr>
              <a:tr h="1019736">
                <a:tc>
                  <a:txBody>
                    <a:bodyPr/>
                    <a:lstStyle/>
                    <a:p>
                      <a:r>
                        <a:rPr lang="en-US">
                          <a:solidFill>
                            <a:srgbClr val="323232"/>
                          </a:solidFill>
                          <a:effectLst/>
                          <a:latin typeface="Times New Roman" panose="02020603050405020304" pitchFamily="18" charset="0"/>
                          <a:cs typeface="Times New Roman" panose="02020603050405020304" pitchFamily="18" charset="0"/>
                        </a:rPr>
                        <a:t>Easier </a:t>
                      </a:r>
                      <a:r>
                        <a:rPr lang="en-US" b="1">
                          <a:solidFill>
                            <a:srgbClr val="323232"/>
                          </a:solidFill>
                          <a:effectLst/>
                          <a:latin typeface="Times New Roman" panose="02020603050405020304" pitchFamily="18" charset="0"/>
                          <a:cs typeface="Times New Roman" panose="02020603050405020304" pitchFamily="18" charset="0"/>
                        </a:rPr>
                        <a:t>central management</a:t>
                      </a:r>
                      <a:endParaRPr lang="en-US">
                        <a:solidFill>
                          <a:srgbClr val="323232"/>
                        </a:solidFill>
                        <a:effectLst/>
                        <a:latin typeface="Times New Roman" panose="02020603050405020304" pitchFamily="18" charset="0"/>
                        <a:cs typeface="Times New Roman" panose="02020603050405020304" pitchFamily="18" charset="0"/>
                      </a:endParaRP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b="1">
                          <a:solidFill>
                            <a:srgbClr val="323232"/>
                          </a:solidFill>
                          <a:effectLst/>
                          <a:latin typeface="Times New Roman" panose="02020603050405020304" pitchFamily="18" charset="0"/>
                          <a:cs typeface="Times New Roman" panose="02020603050405020304" pitchFamily="18" charset="0"/>
                        </a:rPr>
                        <a:t>Single point of failure</a:t>
                      </a:r>
                      <a:r>
                        <a:rPr lang="en-US">
                          <a:solidFill>
                            <a:srgbClr val="323232"/>
                          </a:solidFill>
                          <a:effectLst/>
                          <a:latin typeface="Times New Roman" panose="02020603050405020304" pitchFamily="18" charset="0"/>
                          <a:cs typeface="Times New Roman" panose="02020603050405020304" pitchFamily="18" charset="0"/>
                        </a:rPr>
                        <a:t> -  if the server goes down, services could be unavailable</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727635038"/>
                  </a:ext>
                </a:extLst>
              </a:tr>
              <a:tr h="1325656">
                <a:tc>
                  <a:txBody>
                    <a:bodyPr/>
                    <a:lstStyle/>
                    <a:p>
                      <a:r>
                        <a:rPr lang="en-US" b="1">
                          <a:solidFill>
                            <a:srgbClr val="323232"/>
                          </a:solidFill>
                          <a:effectLst/>
                          <a:latin typeface="Times New Roman" panose="02020603050405020304" pitchFamily="18" charset="0"/>
                          <a:cs typeface="Times New Roman" panose="02020603050405020304" pitchFamily="18" charset="0"/>
                        </a:rPr>
                        <a:t>Scalability</a:t>
                      </a:r>
                      <a:r>
                        <a:rPr lang="en-US">
                          <a:solidFill>
                            <a:srgbClr val="323232"/>
                          </a:solidFill>
                          <a:effectLst/>
                          <a:latin typeface="Times New Roman" panose="02020603050405020304" pitchFamily="18" charset="0"/>
                          <a:cs typeface="Times New Roman" panose="02020603050405020304" pitchFamily="18" charset="0"/>
                        </a:rPr>
                        <a:t>: new clients can be added easily</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a:solidFill>
                            <a:srgbClr val="323232"/>
                          </a:solidFill>
                          <a:effectLst/>
                          <a:latin typeface="Times New Roman" panose="02020603050405020304" pitchFamily="18" charset="0"/>
                          <a:cs typeface="Times New Roman" panose="02020603050405020304" pitchFamily="18" charset="0"/>
                        </a:rPr>
                        <a:t>It can be </a:t>
                      </a:r>
                      <a:r>
                        <a:rPr lang="en-US" b="1">
                          <a:solidFill>
                            <a:srgbClr val="323232"/>
                          </a:solidFill>
                          <a:effectLst/>
                          <a:latin typeface="Times New Roman" panose="02020603050405020304" pitchFamily="18" charset="0"/>
                          <a:cs typeface="Times New Roman" panose="02020603050405020304" pitchFamily="18" charset="0"/>
                        </a:rPr>
                        <a:t>expensive </a:t>
                      </a:r>
                      <a:r>
                        <a:rPr lang="en-US">
                          <a:solidFill>
                            <a:srgbClr val="323232"/>
                          </a:solidFill>
                          <a:effectLst/>
                          <a:latin typeface="Times New Roman" panose="02020603050405020304" pitchFamily="18" charset="0"/>
                          <a:cs typeface="Times New Roman" panose="02020603050405020304" pitchFamily="18" charset="0"/>
                        </a:rPr>
                        <a:t>to set up and maintain - often need dedicated teams of people to maintain them</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4041247207"/>
                  </a:ext>
                </a:extLst>
              </a:tr>
              <a:tr h="713815">
                <a:tc>
                  <a:txBody>
                    <a:bodyPr/>
                    <a:lstStyle/>
                    <a:p>
                      <a:r>
                        <a:rPr lang="en-US" b="1">
                          <a:solidFill>
                            <a:srgbClr val="323232"/>
                          </a:solidFill>
                          <a:effectLst/>
                          <a:latin typeface="Times New Roman" panose="02020603050405020304" pitchFamily="18" charset="0"/>
                          <a:cs typeface="Times New Roman" panose="02020603050405020304" pitchFamily="18" charset="0"/>
                        </a:rPr>
                        <a:t>Higher reliability</a:t>
                      </a:r>
                      <a:r>
                        <a:rPr lang="en-US">
                          <a:solidFill>
                            <a:srgbClr val="323232"/>
                          </a:solidFill>
                          <a:effectLst/>
                          <a:latin typeface="Times New Roman" panose="02020603050405020304" pitchFamily="18" charset="0"/>
                          <a:cs typeface="Times New Roman" panose="02020603050405020304" pitchFamily="18" charset="0"/>
                        </a:rPr>
                        <a:t> as resources are managed centrally</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dirty="0">
                          <a:solidFill>
                            <a:srgbClr val="323232"/>
                          </a:solidFill>
                          <a:effectLst/>
                          <a:latin typeface="Times New Roman" panose="02020603050405020304" pitchFamily="18" charset="0"/>
                          <a:cs typeface="Times New Roman" panose="02020603050405020304" pitchFamily="18" charset="0"/>
                        </a:rPr>
                        <a:t> </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335198136"/>
                  </a:ext>
                </a:extLst>
              </a:tr>
            </a:tbl>
          </a:graphicData>
        </a:graphic>
      </p:graphicFrame>
      <p:sp>
        <p:nvSpPr>
          <p:cNvPr id="4" name="Footer Placeholder 3">
            <a:extLst>
              <a:ext uri="{FF2B5EF4-FFF2-40B4-BE49-F238E27FC236}">
                <a16:creationId xmlns:a16="http://schemas.microsoft.com/office/drawing/2014/main" id="{7F345BD1-0523-48A2-8054-1E70F502387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327B7DB3-5075-4E0F-A15A-702322F5FAF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689445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645C-6F1C-4F07-88BE-23E6371D1E9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Models : Peer-to-Peer</a:t>
            </a:r>
          </a:p>
        </p:txBody>
      </p:sp>
      <p:sp>
        <p:nvSpPr>
          <p:cNvPr id="4" name="Footer Placeholder 3">
            <a:extLst>
              <a:ext uri="{FF2B5EF4-FFF2-40B4-BE49-F238E27FC236}">
                <a16:creationId xmlns:a16="http://schemas.microsoft.com/office/drawing/2014/main" id="{8855E729-618D-4D0D-AFC5-0D11B9472FB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43743D9B-296E-45C4-AA66-64BB9E266BF2}"/>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4098" name="Picture 2" descr="Peer to Peer Networks Explained">
            <a:extLst>
              <a:ext uri="{FF2B5EF4-FFF2-40B4-BE49-F238E27FC236}">
                <a16:creationId xmlns:a16="http://schemas.microsoft.com/office/drawing/2014/main" id="{0292649E-16CA-4114-ABF3-131833A8B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5" y="1619250"/>
            <a:ext cx="83629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287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6703-7754-4B3C-A162-CE379753C9E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Benefits &amp; Drawbacks</a:t>
            </a:r>
          </a:p>
        </p:txBody>
      </p:sp>
      <p:graphicFrame>
        <p:nvGraphicFramePr>
          <p:cNvPr id="6" name="Content Placeholder 5">
            <a:extLst>
              <a:ext uri="{FF2B5EF4-FFF2-40B4-BE49-F238E27FC236}">
                <a16:creationId xmlns:a16="http://schemas.microsoft.com/office/drawing/2014/main" id="{1F5EEF75-CEA5-4E5B-BBCD-460CED0999E6}"/>
              </a:ext>
            </a:extLst>
          </p:cNvPr>
          <p:cNvGraphicFramePr>
            <a:graphicFrameLocks noGrp="1"/>
          </p:cNvGraphicFramePr>
          <p:nvPr>
            <p:ph idx="1"/>
            <p:extLst>
              <p:ext uri="{D42A27DB-BD31-4B8C-83A1-F6EECF244321}">
                <p14:modId xmlns:p14="http://schemas.microsoft.com/office/powerpoint/2010/main" val="1771824510"/>
              </p:ext>
            </p:extLst>
          </p:nvPr>
        </p:nvGraphicFramePr>
        <p:xfrm>
          <a:off x="485774" y="1047750"/>
          <a:ext cx="11331756" cy="4162425"/>
        </p:xfrm>
        <a:graphic>
          <a:graphicData uri="http://schemas.openxmlformats.org/drawingml/2006/table">
            <a:tbl>
              <a:tblPr/>
              <a:tblGrid>
                <a:gridCol w="5665878">
                  <a:extLst>
                    <a:ext uri="{9D8B030D-6E8A-4147-A177-3AD203B41FA5}">
                      <a16:colId xmlns:a16="http://schemas.microsoft.com/office/drawing/2014/main" val="4207883450"/>
                    </a:ext>
                  </a:extLst>
                </a:gridCol>
                <a:gridCol w="5665878">
                  <a:extLst>
                    <a:ext uri="{9D8B030D-6E8A-4147-A177-3AD203B41FA5}">
                      <a16:colId xmlns:a16="http://schemas.microsoft.com/office/drawing/2014/main" val="1704395788"/>
                    </a:ext>
                  </a:extLst>
                </a:gridCol>
              </a:tblGrid>
              <a:tr h="416243">
                <a:tc>
                  <a:txBody>
                    <a:bodyPr/>
                    <a:lstStyle/>
                    <a:p>
                      <a:pPr algn="l"/>
                      <a:r>
                        <a:rPr lang="en-US" b="1">
                          <a:solidFill>
                            <a:srgbClr val="323232"/>
                          </a:solidFill>
                          <a:effectLst/>
                          <a:latin typeface="Times New Roman" panose="02020603050405020304" pitchFamily="18" charset="0"/>
                          <a:cs typeface="Times New Roman" panose="02020603050405020304" pitchFamily="18" charset="0"/>
                        </a:rPr>
                        <a:t>Benefits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l"/>
                      <a:r>
                        <a:rPr lang="en-US" b="1">
                          <a:solidFill>
                            <a:srgbClr val="323232"/>
                          </a:solidFill>
                          <a:effectLst/>
                          <a:latin typeface="Times New Roman" panose="02020603050405020304" pitchFamily="18" charset="0"/>
                          <a:cs typeface="Times New Roman" panose="02020603050405020304" pitchFamily="18" charset="0"/>
                        </a:rPr>
                        <a:t>Drawbacks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612819695"/>
                  </a:ext>
                </a:extLst>
              </a:tr>
              <a:tr h="1352788">
                <a:tc>
                  <a:txBody>
                    <a:bodyPr/>
                    <a:lstStyle/>
                    <a:p>
                      <a:r>
                        <a:rPr lang="en-US" b="1">
                          <a:solidFill>
                            <a:srgbClr val="323232"/>
                          </a:solidFill>
                          <a:effectLst/>
                          <a:latin typeface="Times New Roman" panose="02020603050405020304" pitchFamily="18" charset="0"/>
                          <a:cs typeface="Times New Roman" panose="02020603050405020304" pitchFamily="18" charset="0"/>
                        </a:rPr>
                        <a:t>Easy to set up</a:t>
                      </a:r>
                      <a:r>
                        <a:rPr lang="en-US">
                          <a:solidFill>
                            <a:srgbClr val="323232"/>
                          </a:solidFill>
                          <a:effectLst/>
                          <a:latin typeface="Times New Roman" panose="02020603050405020304" pitchFamily="18" charset="0"/>
                          <a:cs typeface="Times New Roman" panose="02020603050405020304" pitchFamily="18" charset="0"/>
                        </a:rPr>
                        <a:t> and less expensive than client-server as no administrative staff are needed</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b="1">
                          <a:solidFill>
                            <a:srgbClr val="323232"/>
                          </a:solidFill>
                          <a:effectLst/>
                          <a:latin typeface="Times New Roman" panose="02020603050405020304" pitchFamily="18" charset="0"/>
                          <a:cs typeface="Times New Roman" panose="02020603050405020304" pitchFamily="18" charset="0"/>
                        </a:rPr>
                        <a:t>Lack of central control </a:t>
                      </a:r>
                      <a:r>
                        <a:rPr lang="en-US">
                          <a:solidFill>
                            <a:srgbClr val="323232"/>
                          </a:solidFill>
                          <a:effectLst/>
                          <a:latin typeface="Times New Roman" panose="02020603050405020304" pitchFamily="18" charset="0"/>
                          <a:cs typeface="Times New Roman" panose="02020603050405020304" pitchFamily="18" charset="0"/>
                        </a:rPr>
                        <a:t>can lead to security issues and vulnerabilities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123150110"/>
                  </a:ext>
                </a:extLst>
              </a:tr>
              <a:tr h="1040606">
                <a:tc>
                  <a:txBody>
                    <a:bodyPr/>
                    <a:lstStyle/>
                    <a:p>
                      <a:r>
                        <a:rPr lang="en-US" b="1">
                          <a:solidFill>
                            <a:srgbClr val="323232"/>
                          </a:solidFill>
                          <a:effectLst/>
                          <a:latin typeface="Times New Roman" panose="02020603050405020304" pitchFamily="18" charset="0"/>
                          <a:cs typeface="Times New Roman" panose="02020603050405020304" pitchFamily="18" charset="0"/>
                        </a:rPr>
                        <a:t>No dependency</a:t>
                      </a:r>
                      <a:r>
                        <a:rPr lang="en-US">
                          <a:solidFill>
                            <a:srgbClr val="323232"/>
                          </a:solidFill>
                          <a:effectLst/>
                          <a:latin typeface="Times New Roman" panose="02020603050405020304" pitchFamily="18" charset="0"/>
                          <a:cs typeface="Times New Roman" panose="02020603050405020304" pitchFamily="18" charset="0"/>
                        </a:rPr>
                        <a:t> on a central server</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b="1">
                          <a:solidFill>
                            <a:srgbClr val="323232"/>
                          </a:solidFill>
                          <a:effectLst/>
                          <a:latin typeface="Times New Roman" panose="02020603050405020304" pitchFamily="18" charset="0"/>
                          <a:cs typeface="Times New Roman" panose="02020603050405020304" pitchFamily="18" charset="0"/>
                        </a:rPr>
                        <a:t>Not suitable for large networks</a:t>
                      </a:r>
                      <a:r>
                        <a:rPr lang="en-US">
                          <a:solidFill>
                            <a:srgbClr val="323232"/>
                          </a:solidFill>
                          <a:effectLst/>
                          <a:latin typeface="Times New Roman" panose="02020603050405020304" pitchFamily="18" charset="0"/>
                          <a:cs typeface="Times New Roman" panose="02020603050405020304" pitchFamily="18" charset="0"/>
                        </a:rPr>
                        <a:t> as it can have performance issues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559182465"/>
                  </a:ext>
                </a:extLst>
              </a:tr>
              <a:tr h="1352788">
                <a:tc>
                  <a:txBody>
                    <a:bodyPr/>
                    <a:lstStyle/>
                    <a:p>
                      <a:r>
                        <a:rPr lang="en-US" b="1" dirty="0">
                          <a:solidFill>
                            <a:srgbClr val="323232"/>
                          </a:solidFill>
                          <a:effectLst/>
                          <a:latin typeface="Times New Roman" panose="02020603050405020304" pitchFamily="18" charset="0"/>
                          <a:cs typeface="Times New Roman" panose="02020603050405020304" pitchFamily="18" charset="0"/>
                        </a:rPr>
                        <a:t>Data can be shared directly</a:t>
                      </a:r>
                      <a:r>
                        <a:rPr lang="en-US" dirty="0">
                          <a:solidFill>
                            <a:srgbClr val="323232"/>
                          </a:solidFill>
                          <a:effectLst/>
                          <a:latin typeface="Times New Roman" panose="02020603050405020304" pitchFamily="18" charset="0"/>
                          <a:cs typeface="Times New Roman" panose="02020603050405020304" pitchFamily="18" charset="0"/>
                        </a:rPr>
                        <a:t> between systems without the need for a central server</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dirty="0">
                          <a:solidFill>
                            <a:srgbClr val="323232"/>
                          </a:solidFill>
                          <a:effectLst/>
                          <a:latin typeface="Times New Roman" panose="02020603050405020304" pitchFamily="18" charset="0"/>
                          <a:cs typeface="Times New Roman" panose="02020603050405020304" pitchFamily="18" charset="0"/>
                        </a:rPr>
                        <a:t> </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3457962042"/>
                  </a:ext>
                </a:extLst>
              </a:tr>
            </a:tbl>
          </a:graphicData>
        </a:graphic>
      </p:graphicFrame>
      <p:sp>
        <p:nvSpPr>
          <p:cNvPr id="4" name="Footer Placeholder 3">
            <a:extLst>
              <a:ext uri="{FF2B5EF4-FFF2-40B4-BE49-F238E27FC236}">
                <a16:creationId xmlns:a16="http://schemas.microsoft.com/office/drawing/2014/main" id="{59394DA6-E866-41DB-9545-58CDB94D2EB7}"/>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50F8524C-4A7C-4387-B5E7-BCD8857058AC}"/>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09275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F6CFF-279A-411E-80FB-F6382A73AB1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When to use a client-server network</a:t>
            </a:r>
          </a:p>
        </p:txBody>
      </p:sp>
      <p:sp>
        <p:nvSpPr>
          <p:cNvPr id="3" name="Content Placeholder 2">
            <a:extLst>
              <a:ext uri="{FF2B5EF4-FFF2-40B4-BE49-F238E27FC236}">
                <a16:creationId xmlns:a16="http://schemas.microsoft.com/office/drawing/2014/main" id="{596BD411-E44F-4262-A9E3-3AD2ED4E8E31}"/>
              </a:ext>
            </a:extLst>
          </p:cNvPr>
          <p:cNvSpPr>
            <a:spLocks noGrp="1"/>
          </p:cNvSpPr>
          <p:nvPr>
            <p:ph idx="1"/>
          </p:nvPr>
        </p:nvSpPr>
        <p:spPr/>
        <p:txBody>
          <a:bodyPr/>
          <a:lstStyle/>
          <a:p>
            <a:endParaRPr lang="en-US" dirty="0"/>
          </a:p>
          <a:p>
            <a:endParaRPr lang="en-US" dirty="0"/>
          </a:p>
          <a:p>
            <a:r>
              <a:rPr lang="en-US" dirty="0">
                <a:latin typeface="Times New Roman" panose="02020603050405020304" pitchFamily="18" charset="0"/>
                <a:cs typeface="Times New Roman" panose="02020603050405020304" pitchFamily="18" charset="0"/>
              </a:rPr>
              <a:t>The choice between client-server and peer-to-peer depends on the specific needs and resources of the network in question</a:t>
            </a:r>
          </a:p>
          <a:p>
            <a:r>
              <a:rPr lang="en-US" dirty="0">
                <a:latin typeface="Times New Roman" panose="02020603050405020304" pitchFamily="18" charset="0"/>
                <a:cs typeface="Times New Roman" panose="02020603050405020304" pitchFamily="18" charset="0"/>
              </a:rPr>
              <a:t>Security, cost, ease of setup, and maintenance requirements should be considered</a:t>
            </a:r>
          </a:p>
        </p:txBody>
      </p:sp>
      <p:sp>
        <p:nvSpPr>
          <p:cNvPr id="4" name="Footer Placeholder 3">
            <a:extLst>
              <a:ext uri="{FF2B5EF4-FFF2-40B4-BE49-F238E27FC236}">
                <a16:creationId xmlns:a16="http://schemas.microsoft.com/office/drawing/2014/main" id="{972CD129-9542-4123-A023-5749EB31802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1C1EF857-793C-4C55-B3E1-41F7F4CD7618}"/>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520451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443C-4091-4D88-8E86-0AF6D13069E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Topology : Bus</a:t>
            </a:r>
          </a:p>
        </p:txBody>
      </p:sp>
      <p:sp>
        <p:nvSpPr>
          <p:cNvPr id="3" name="Content Placeholder 2">
            <a:extLst>
              <a:ext uri="{FF2B5EF4-FFF2-40B4-BE49-F238E27FC236}">
                <a16:creationId xmlns:a16="http://schemas.microsoft.com/office/drawing/2014/main" id="{D812F738-9C00-4FDF-AE5D-22B3246346D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 bus topology is all devices connected by one single ‘bus’ cable, terminated at each end</a:t>
            </a:r>
          </a:p>
          <a:p>
            <a:r>
              <a:rPr lang="en-US" dirty="0">
                <a:latin typeface="Times New Roman" panose="02020603050405020304" pitchFamily="18" charset="0"/>
                <a:cs typeface="Times New Roman" panose="02020603050405020304" pitchFamily="18" charset="0"/>
              </a:rPr>
              <a:t>The terminators stop the signal bouncing back and causing errors</a:t>
            </a:r>
          </a:p>
          <a:p>
            <a:r>
              <a:rPr lang="en-US" dirty="0">
                <a:latin typeface="Times New Roman" panose="02020603050405020304" pitchFamily="18" charset="0"/>
                <a:cs typeface="Times New Roman" panose="02020603050405020304" pitchFamily="18" charset="0"/>
              </a:rPr>
              <a:t>A bus topology works by each device:</a:t>
            </a:r>
          </a:p>
          <a:p>
            <a:pPr lvl="1"/>
            <a:r>
              <a:rPr lang="en-US" dirty="0">
                <a:latin typeface="Times New Roman" panose="02020603050405020304" pitchFamily="18" charset="0"/>
                <a:cs typeface="Times New Roman" panose="02020603050405020304" pitchFamily="18" charset="0"/>
              </a:rPr>
              <a:t>‘Listening’ to electrical signals</a:t>
            </a:r>
          </a:p>
          <a:p>
            <a:pPr lvl="1"/>
            <a:r>
              <a:rPr lang="en-US" dirty="0">
                <a:latin typeface="Times New Roman" panose="02020603050405020304" pitchFamily="18" charset="0"/>
                <a:cs typeface="Times New Roman" panose="02020603050405020304" pitchFamily="18" charset="0"/>
              </a:rPr>
              <a:t>Checking data packets for their specific address</a:t>
            </a:r>
          </a:p>
          <a:p>
            <a:pPr lvl="1"/>
            <a:r>
              <a:rPr lang="en-US" dirty="0">
                <a:latin typeface="Times New Roman" panose="02020603050405020304" pitchFamily="18" charset="0"/>
                <a:cs typeface="Times New Roman" panose="02020603050405020304" pitchFamily="18" charset="0"/>
              </a:rPr>
              <a:t>Ignoring data packets it does not </a:t>
            </a:r>
            <a:r>
              <a:rPr lang="en-US" dirty="0" err="1">
                <a:latin typeface="Times New Roman" panose="02020603050405020304" pitchFamily="18" charset="0"/>
                <a:cs typeface="Times New Roman" panose="02020603050405020304" pitchFamily="18" charset="0"/>
              </a:rPr>
              <a:t>recognise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bus topology has been replaced by much more efficient network topologies such as the star topology</a:t>
            </a:r>
          </a:p>
        </p:txBody>
      </p:sp>
      <p:sp>
        <p:nvSpPr>
          <p:cNvPr id="4" name="Footer Placeholder 3">
            <a:extLst>
              <a:ext uri="{FF2B5EF4-FFF2-40B4-BE49-F238E27FC236}">
                <a16:creationId xmlns:a16="http://schemas.microsoft.com/office/drawing/2014/main" id="{23C9612E-9C3F-4B93-9C0A-9EB48C4CE8EC}"/>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2095918E-6CBD-4DF7-BD7D-CF0F052C99E5}"/>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68183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443C-4091-4D88-8E86-0AF6D13069E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Topology : Bus</a:t>
            </a:r>
          </a:p>
        </p:txBody>
      </p:sp>
      <p:sp>
        <p:nvSpPr>
          <p:cNvPr id="4" name="Footer Placeholder 3">
            <a:extLst>
              <a:ext uri="{FF2B5EF4-FFF2-40B4-BE49-F238E27FC236}">
                <a16:creationId xmlns:a16="http://schemas.microsoft.com/office/drawing/2014/main" id="{23C9612E-9C3F-4B93-9C0A-9EB48C4CE8EC}"/>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2095918E-6CBD-4DF7-BD7D-CF0F052C99E5}"/>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7170" name="Picture 2" descr="Network Topologies Explained » CybB0rg - Security Engineer">
            <a:extLst>
              <a:ext uri="{FF2B5EF4-FFF2-40B4-BE49-F238E27FC236}">
                <a16:creationId xmlns:a16="http://schemas.microsoft.com/office/drawing/2014/main" id="{AB91A524-8888-4D57-9CEF-035BA2B526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4974" y="912094"/>
            <a:ext cx="9153525" cy="5269774"/>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42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Star</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star topology has a central switch which all other devices connect to</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switch is an intelligent device which ensures that traffic only goes to the intended device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star topology is commonly seen in most homes, businesses,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and schools</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890707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Star</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a:xfrm>
            <a:off x="374468" y="868849"/>
            <a:ext cx="6264895" cy="5389076"/>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A hub will send traffic to all devices on the network, if the address in the packet matches a device it will be accepted, otherwise it is ignored.</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9218" name="Picture 2" descr="Star Topology - Benefits and Challenges - Sify">
            <a:extLst>
              <a:ext uri="{FF2B5EF4-FFF2-40B4-BE49-F238E27FC236}">
                <a16:creationId xmlns:a16="http://schemas.microsoft.com/office/drawing/2014/main" id="{1273BA6D-8B10-4D12-B61F-38465FFD13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00" t="14268" r="4465" b="3710"/>
          <a:stretch/>
        </p:blipFill>
        <p:spPr bwMode="auto">
          <a:xfrm>
            <a:off x="7238999" y="3092025"/>
            <a:ext cx="4352925" cy="3113332"/>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What is Star Topology- Definition and Its Uses">
            <a:extLst>
              <a:ext uri="{FF2B5EF4-FFF2-40B4-BE49-F238E27FC236}">
                <a16:creationId xmlns:a16="http://schemas.microsoft.com/office/drawing/2014/main" id="{23BB5D55-F131-4406-BF64-AA27745D30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9F8F999A-B1A5-4CA1-A354-8570448BCE96}"/>
              </a:ext>
            </a:extLst>
          </p:cNvPr>
          <p:cNvPicPr>
            <a:picLocks noChangeAspect="1"/>
          </p:cNvPicPr>
          <p:nvPr/>
        </p:nvPicPr>
        <p:blipFill rotWithShape="1">
          <a:blip r:embed="rId3"/>
          <a:srcRect l="3868" t="17312" r="6793" b="2731"/>
          <a:stretch/>
        </p:blipFill>
        <p:spPr>
          <a:xfrm>
            <a:off x="553947" y="3563387"/>
            <a:ext cx="5210174" cy="2622975"/>
          </a:xfrm>
          <a:prstGeom prst="rect">
            <a:avLst/>
          </a:prstGeom>
        </p:spPr>
      </p:pic>
      <p:sp>
        <p:nvSpPr>
          <p:cNvPr id="10" name="TextBox 9">
            <a:extLst>
              <a:ext uri="{FF2B5EF4-FFF2-40B4-BE49-F238E27FC236}">
                <a16:creationId xmlns:a16="http://schemas.microsoft.com/office/drawing/2014/main" id="{06571466-47E0-4A94-A8F5-02A5839E0726}"/>
              </a:ext>
            </a:extLst>
          </p:cNvPr>
          <p:cNvSpPr txBox="1"/>
          <p:nvPr/>
        </p:nvSpPr>
        <p:spPr>
          <a:xfrm>
            <a:off x="6248400" y="824315"/>
            <a:ext cx="5848350" cy="1384995"/>
          </a:xfrm>
          <a:prstGeom prst="rect">
            <a:avLst/>
          </a:prstGeom>
          <a:noFill/>
        </p:spPr>
        <p:txBody>
          <a:bodyPr wrap="square">
            <a:spAutoFit/>
          </a:bodyPr>
          <a:lstStyle/>
          <a:p>
            <a:pPr lvl="1"/>
            <a:r>
              <a:rPr lang="en-US" sz="2800" dirty="0">
                <a:latin typeface="Times New Roman" panose="02020603050405020304" pitchFamily="18" charset="0"/>
                <a:cs typeface="Times New Roman" panose="02020603050405020304" pitchFamily="18" charset="0"/>
              </a:rPr>
              <a:t>A switch will only send traffic to devices on the network where the address in the packet is a match</a:t>
            </a:r>
          </a:p>
        </p:txBody>
      </p:sp>
    </p:spTree>
    <p:extLst>
      <p:ext uri="{BB962C8B-B14F-4D97-AF65-F5344CB8AC3E}">
        <p14:creationId xmlns:p14="http://schemas.microsoft.com/office/powerpoint/2010/main" val="1034395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Mesh</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mesh topology allows all computers to be connected to all other computers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is known as a full mesh network topology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LANs can make use of mesh networks however, they are more commonly seen in IoT devices such as wearable technology and smart home devices</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577957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Mesh</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a:xfrm>
            <a:off x="374468" y="868849"/>
            <a:ext cx="6264895" cy="538907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Traffic (packets) on a mesh topology can follow two different methods:</a:t>
            </a:r>
          </a:p>
          <a:p>
            <a:pPr lvl="1"/>
            <a:r>
              <a:rPr lang="en-US" dirty="0">
                <a:latin typeface="Times New Roman" panose="02020603050405020304" pitchFamily="18" charset="0"/>
                <a:cs typeface="Times New Roman" panose="02020603050405020304" pitchFamily="18" charset="0"/>
              </a:rPr>
              <a:t>Routing - devices are given routing logic (act like a router) to ensure packets are sent to the correct device in the shortest route</a:t>
            </a:r>
          </a:p>
          <a:p>
            <a:pPr lvl="1"/>
            <a:r>
              <a:rPr lang="en-US" dirty="0">
                <a:latin typeface="Times New Roman" panose="02020603050405020304" pitchFamily="18" charset="0"/>
                <a:cs typeface="Times New Roman" panose="02020603050405020304" pitchFamily="18" charset="0"/>
              </a:rPr>
              <a:t>Flooding - all packets are sent to all devices using no routing logic, this can lead to network flooding causing performance issues</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AutoShape 4" descr="What is Star Topology- Definition and Its Uses">
            <a:extLst>
              <a:ext uri="{FF2B5EF4-FFF2-40B4-BE49-F238E27FC236}">
                <a16:creationId xmlns:a16="http://schemas.microsoft.com/office/drawing/2014/main" id="{23BB5D55-F131-4406-BF64-AA27745D30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42" name="Picture 2" descr="Mesh network topologies - Networks - Eduqas - GCSE Computer Science  Revision - Eduqas - BBC Bitesize">
            <a:extLst>
              <a:ext uri="{FF2B5EF4-FFF2-40B4-BE49-F238E27FC236}">
                <a16:creationId xmlns:a16="http://schemas.microsoft.com/office/drawing/2014/main" id="{690297B6-1221-4BD8-89EE-EE06E611F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1825" y="1095375"/>
            <a:ext cx="4419600" cy="436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07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DD3E2-9EAC-41E0-BAEB-BED00CA9E9E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Topology : Ring</a:t>
            </a:r>
          </a:p>
        </p:txBody>
      </p:sp>
      <p:sp>
        <p:nvSpPr>
          <p:cNvPr id="3" name="Content Placeholder 2">
            <a:extLst>
              <a:ext uri="{FF2B5EF4-FFF2-40B4-BE49-F238E27FC236}">
                <a16:creationId xmlns:a16="http://schemas.microsoft.com/office/drawing/2014/main" id="{BD2CBEC6-2142-45BA-8E4E-9D74709E02DA}"/>
              </a:ext>
            </a:extLst>
          </p:cNvPr>
          <p:cNvSpPr>
            <a:spLocks noGrp="1"/>
          </p:cNvSpPr>
          <p:nvPr>
            <p:ph idx="1"/>
          </p:nvPr>
        </p:nvSpPr>
        <p:spPr>
          <a:xfrm>
            <a:off x="374469" y="868849"/>
            <a:ext cx="6674032" cy="5789126"/>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It forms a ring connecting devices with exactly two neighboring devices. </a:t>
            </a:r>
          </a:p>
          <a:p>
            <a:r>
              <a:rPr lang="en-US" sz="2800" dirty="0">
                <a:latin typeface="Times New Roman" panose="02020603050405020304" pitchFamily="18" charset="0"/>
                <a:cs typeface="Times New Roman" panose="02020603050405020304" pitchFamily="18" charset="0"/>
              </a:rPr>
              <a:t>A number of repeaters are used for Ring topology with a large number of nodes, because if someone wants to send some data to the last node in the ring topology with 100 nodes, then the data will have to pass through 99 nodes to reach the 100th node.</a:t>
            </a:r>
          </a:p>
          <a:p>
            <a:r>
              <a:rPr lang="en-US" sz="2800" dirty="0">
                <a:latin typeface="Times New Roman" panose="02020603050405020304" pitchFamily="18" charset="0"/>
                <a:cs typeface="Times New Roman" panose="02020603050405020304" pitchFamily="18" charset="0"/>
              </a:rPr>
              <a:t>Hence to prevent data loss repeaters are used in the network.</a:t>
            </a:r>
          </a:p>
        </p:txBody>
      </p:sp>
      <p:sp>
        <p:nvSpPr>
          <p:cNvPr id="4" name="Footer Placeholder 3">
            <a:extLst>
              <a:ext uri="{FF2B5EF4-FFF2-40B4-BE49-F238E27FC236}">
                <a16:creationId xmlns:a16="http://schemas.microsoft.com/office/drawing/2014/main" id="{70897C39-70F5-42ED-B4C3-2B994BF2E5B4}"/>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679FACE-878A-4574-8117-F3E932A1D9EF}"/>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6" name="Picture 5">
            <a:extLst>
              <a:ext uri="{FF2B5EF4-FFF2-40B4-BE49-F238E27FC236}">
                <a16:creationId xmlns:a16="http://schemas.microsoft.com/office/drawing/2014/main" id="{465F0911-44ED-4084-A086-AA3453A409BA}"/>
              </a:ext>
            </a:extLst>
          </p:cNvPr>
          <p:cNvPicPr>
            <a:picLocks noChangeAspect="1"/>
          </p:cNvPicPr>
          <p:nvPr/>
        </p:nvPicPr>
        <p:blipFill>
          <a:blip r:embed="rId2"/>
          <a:stretch>
            <a:fillRect/>
          </a:stretch>
        </p:blipFill>
        <p:spPr>
          <a:xfrm>
            <a:off x="6872287" y="1401575"/>
            <a:ext cx="4714875" cy="4552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54035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Hybrid</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p:txBody>
          <a:bodyPr>
            <a:noAutofit/>
          </a:bodyPr>
          <a:lstStyle/>
          <a:p>
            <a:r>
              <a:rPr lang="en-US" sz="2500" dirty="0">
                <a:latin typeface="Times New Roman" panose="02020603050405020304" pitchFamily="18" charset="0"/>
                <a:cs typeface="Times New Roman" panose="02020603050405020304" pitchFamily="18" charset="0"/>
              </a:rPr>
              <a:t>A hybrid topology is a mix of two of more different network topologies</a:t>
            </a:r>
          </a:p>
          <a:p>
            <a:r>
              <a:rPr lang="en-US" sz="2500" dirty="0">
                <a:latin typeface="Times New Roman" panose="02020603050405020304" pitchFamily="18" charset="0"/>
                <a:cs typeface="Times New Roman" panose="02020603050405020304" pitchFamily="18" charset="0"/>
              </a:rPr>
              <a:t>For example, bus &amp; star, star &amp; mesh </a:t>
            </a:r>
            <a:r>
              <a:rPr lang="en-US" sz="2500" dirty="0" err="1">
                <a:latin typeface="Times New Roman" panose="02020603050405020304" pitchFamily="18" charset="0"/>
                <a:cs typeface="Times New Roman" panose="02020603050405020304" pitchFamily="18" charset="0"/>
              </a:rPr>
              <a:t>etc</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A typical use of a hybrid topology would be when there is a need to join different networks together</a:t>
            </a:r>
          </a:p>
          <a:p>
            <a:r>
              <a:rPr lang="en-US" sz="2500" dirty="0">
                <a:latin typeface="Times New Roman" panose="02020603050405020304" pitchFamily="18" charset="0"/>
                <a:cs typeface="Times New Roman" panose="02020603050405020304" pitchFamily="18" charset="0"/>
              </a:rPr>
              <a:t>Imagine a large education trust takes over three schools: School A, School B, and School C.</a:t>
            </a:r>
          </a:p>
          <a:p>
            <a:pPr lvl="1"/>
            <a:r>
              <a:rPr lang="en-US" sz="2500" dirty="0">
                <a:latin typeface="Times New Roman" panose="02020603050405020304" pitchFamily="18" charset="0"/>
                <a:cs typeface="Times New Roman" panose="02020603050405020304" pitchFamily="18" charset="0"/>
              </a:rPr>
              <a:t>School A uses a bus topology to connect classroom computers with a simple shared cable</a:t>
            </a:r>
          </a:p>
          <a:p>
            <a:pPr lvl="1"/>
            <a:r>
              <a:rPr lang="en-US" sz="2500" dirty="0">
                <a:latin typeface="Times New Roman" panose="02020603050405020304" pitchFamily="18" charset="0"/>
                <a:cs typeface="Times New Roman" panose="02020603050405020304" pitchFamily="18" charset="0"/>
              </a:rPr>
              <a:t>School B uses a star topology to link all devices to a central switch in the IT room</a:t>
            </a:r>
          </a:p>
          <a:p>
            <a:pPr lvl="1"/>
            <a:r>
              <a:rPr lang="en-US" sz="2500" dirty="0">
                <a:latin typeface="Times New Roman" panose="02020603050405020304" pitchFamily="18" charset="0"/>
                <a:cs typeface="Times New Roman" panose="02020603050405020304" pitchFamily="18" charset="0"/>
              </a:rPr>
              <a:t>School C uses a mesh topology to make sure every building (e.g. science block, library) stays connected, even if one cable fails</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561374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0942-FA68-4EC8-8EAD-B60B8F71F8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Topology: Hybrid</a:t>
            </a:r>
          </a:p>
        </p:txBody>
      </p:sp>
      <p:sp>
        <p:nvSpPr>
          <p:cNvPr id="7" name="Content Placeholder 6">
            <a:extLst>
              <a:ext uri="{FF2B5EF4-FFF2-40B4-BE49-F238E27FC236}">
                <a16:creationId xmlns:a16="http://schemas.microsoft.com/office/drawing/2014/main" id="{3F5D6908-0AAC-4015-83F3-80E11B44989A}"/>
              </a:ext>
            </a:extLst>
          </p:cNvPr>
          <p:cNvSpPr>
            <a:spLocks noGrp="1"/>
          </p:cNvSpPr>
          <p:nvPr>
            <p:ph idx="1"/>
          </p:nvPr>
        </p:nvSpPr>
        <p:spPr>
          <a:xfrm>
            <a:off x="374468" y="868849"/>
            <a:ext cx="11350807" cy="5484326"/>
          </a:xfrm>
        </p:spPr>
        <p:txBody>
          <a:bodyPr>
            <a:noAutofit/>
          </a:bodyPr>
          <a:lstStyle/>
          <a:p>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When the trust wants to connect all three schools into a single network, it uses a hybrid topology</a:t>
            </a:r>
          </a:p>
          <a:p>
            <a:r>
              <a:rPr lang="en-US" sz="2500" dirty="0">
                <a:latin typeface="Times New Roman" panose="02020603050405020304" pitchFamily="18" charset="0"/>
                <a:cs typeface="Times New Roman" panose="02020603050405020304" pitchFamily="18" charset="0"/>
              </a:rPr>
              <a:t>This allows:</a:t>
            </a:r>
          </a:p>
          <a:p>
            <a:pPr lvl="1"/>
            <a:r>
              <a:rPr lang="en-US" sz="2100" dirty="0">
                <a:latin typeface="Times New Roman" panose="02020603050405020304" pitchFamily="18" charset="0"/>
                <a:cs typeface="Times New Roman" panose="02020603050405020304" pitchFamily="18" charset="0"/>
              </a:rPr>
              <a:t>Each school to keep its own existing setup (bus, star, or mesh)</a:t>
            </a:r>
          </a:p>
          <a:p>
            <a:pPr lvl="1"/>
            <a:r>
              <a:rPr lang="en-US" sz="2100" dirty="0">
                <a:latin typeface="Times New Roman" panose="02020603050405020304" pitchFamily="18" charset="0"/>
                <a:cs typeface="Times New Roman" panose="02020603050405020304" pitchFamily="18" charset="0"/>
              </a:rPr>
              <a:t>The schools to be linked together efficiently</a:t>
            </a:r>
          </a:p>
          <a:p>
            <a:pPr lvl="1"/>
            <a:r>
              <a:rPr lang="en-US" sz="2100" dirty="0">
                <a:latin typeface="Times New Roman" panose="02020603050405020304" pitchFamily="18" charset="0"/>
                <a:cs typeface="Times New Roman" panose="02020603050405020304" pitchFamily="18" charset="0"/>
              </a:rPr>
              <a:t>Easy expansion, such as adding a new school or admin office without changing everything</a:t>
            </a:r>
          </a:p>
          <a:p>
            <a:pPr lvl="1"/>
            <a:r>
              <a:rPr lang="en-US" sz="2100" dirty="0">
                <a:latin typeface="Times New Roman" panose="02020603050405020304" pitchFamily="18" charset="0"/>
                <a:cs typeface="Times New Roman" panose="02020603050405020304" pitchFamily="18" charset="0"/>
              </a:rPr>
              <a:t>The network to be more flexible and reliable, using the strengths of each topology</a:t>
            </a:r>
          </a:p>
        </p:txBody>
      </p:sp>
      <p:sp>
        <p:nvSpPr>
          <p:cNvPr id="4" name="Footer Placeholder 3">
            <a:extLst>
              <a:ext uri="{FF2B5EF4-FFF2-40B4-BE49-F238E27FC236}">
                <a16:creationId xmlns:a16="http://schemas.microsoft.com/office/drawing/2014/main" id="{5F42497B-1833-4774-8AC1-8D29798099A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66F72226-7A34-4CE0-826B-239F320CE2B7}"/>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936603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C4496-64C8-4199-910B-852ED578D5C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Examples</a:t>
            </a:r>
          </a:p>
        </p:txBody>
      </p:sp>
      <p:pic>
        <p:nvPicPr>
          <p:cNvPr id="6" name="Content Placeholder 5">
            <a:extLst>
              <a:ext uri="{FF2B5EF4-FFF2-40B4-BE49-F238E27FC236}">
                <a16:creationId xmlns:a16="http://schemas.microsoft.com/office/drawing/2014/main" id="{766CEC58-091F-43BA-8496-934DBD1B8C22}"/>
              </a:ext>
            </a:extLst>
          </p:cNvPr>
          <p:cNvPicPr>
            <a:picLocks noGrp="1" noChangeAspect="1"/>
          </p:cNvPicPr>
          <p:nvPr>
            <p:ph idx="1"/>
          </p:nvPr>
        </p:nvPicPr>
        <p:blipFill>
          <a:blip r:embed="rId2"/>
          <a:stretch>
            <a:fillRect/>
          </a:stretch>
        </p:blipFill>
        <p:spPr>
          <a:xfrm>
            <a:off x="279219" y="1928046"/>
            <a:ext cx="5714308" cy="3001907"/>
          </a:xfrm>
          <a:prstGeom prst="rect">
            <a:avLst/>
          </a:prstGeom>
        </p:spPr>
      </p:pic>
      <p:sp>
        <p:nvSpPr>
          <p:cNvPr id="4" name="Footer Placeholder 3">
            <a:extLst>
              <a:ext uri="{FF2B5EF4-FFF2-40B4-BE49-F238E27FC236}">
                <a16:creationId xmlns:a16="http://schemas.microsoft.com/office/drawing/2014/main" id="{CB7D769C-F946-4488-AE85-201EEC0126DD}"/>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EA8E9EC-99EE-4733-9B64-18D8309395F2}"/>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7" name="Picture 6">
            <a:extLst>
              <a:ext uri="{FF2B5EF4-FFF2-40B4-BE49-F238E27FC236}">
                <a16:creationId xmlns:a16="http://schemas.microsoft.com/office/drawing/2014/main" id="{E518E4CA-4793-4314-9F8A-7AD4D4159685}"/>
              </a:ext>
            </a:extLst>
          </p:cNvPr>
          <p:cNvPicPr>
            <a:picLocks noChangeAspect="1"/>
          </p:cNvPicPr>
          <p:nvPr/>
        </p:nvPicPr>
        <p:blipFill>
          <a:blip r:embed="rId3"/>
          <a:stretch>
            <a:fillRect/>
          </a:stretch>
        </p:blipFill>
        <p:spPr>
          <a:xfrm>
            <a:off x="6315767" y="1949968"/>
            <a:ext cx="5714308" cy="2979985"/>
          </a:xfrm>
          <a:prstGeom prst="rect">
            <a:avLst/>
          </a:prstGeom>
        </p:spPr>
      </p:pic>
      <p:sp>
        <p:nvSpPr>
          <p:cNvPr id="8" name="TextBox 7">
            <a:extLst>
              <a:ext uri="{FF2B5EF4-FFF2-40B4-BE49-F238E27FC236}">
                <a16:creationId xmlns:a16="http://schemas.microsoft.com/office/drawing/2014/main" id="{4716DFAA-8408-4590-9CE6-06BCDA001FE4}"/>
              </a:ext>
            </a:extLst>
          </p:cNvPr>
          <p:cNvSpPr txBox="1"/>
          <p:nvPr/>
        </p:nvSpPr>
        <p:spPr>
          <a:xfrm>
            <a:off x="857250" y="5276850"/>
            <a:ext cx="38862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Star – Bus Topology</a:t>
            </a:r>
          </a:p>
        </p:txBody>
      </p:sp>
      <p:sp>
        <p:nvSpPr>
          <p:cNvPr id="9" name="TextBox 8">
            <a:extLst>
              <a:ext uri="{FF2B5EF4-FFF2-40B4-BE49-F238E27FC236}">
                <a16:creationId xmlns:a16="http://schemas.microsoft.com/office/drawing/2014/main" id="{5D97C718-3EBA-4A08-8D45-BEEF978C48B0}"/>
              </a:ext>
            </a:extLst>
          </p:cNvPr>
          <p:cNvSpPr txBox="1"/>
          <p:nvPr/>
        </p:nvSpPr>
        <p:spPr>
          <a:xfrm>
            <a:off x="7077075" y="5186870"/>
            <a:ext cx="38862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Star – Ring Topology</a:t>
            </a:r>
          </a:p>
        </p:txBody>
      </p:sp>
    </p:spTree>
    <p:extLst>
      <p:ext uri="{BB962C8B-B14F-4D97-AF65-F5344CB8AC3E}">
        <p14:creationId xmlns:p14="http://schemas.microsoft.com/office/powerpoint/2010/main" val="2100018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0C0C-9F7D-4A6D-8F6E-64EE8A255C0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Topology : Tree</a:t>
            </a:r>
            <a:endParaRPr lang="en-US" dirty="0"/>
          </a:p>
        </p:txBody>
      </p:sp>
      <p:sp>
        <p:nvSpPr>
          <p:cNvPr id="4" name="Footer Placeholder 3">
            <a:extLst>
              <a:ext uri="{FF2B5EF4-FFF2-40B4-BE49-F238E27FC236}">
                <a16:creationId xmlns:a16="http://schemas.microsoft.com/office/drawing/2014/main" id="{6F8FF026-D402-4A9D-8DBB-83206B34C249}"/>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C6F49C30-EB8D-4C09-A7FF-B0991D10C6D2}"/>
              </a:ext>
            </a:extLst>
          </p:cNvPr>
          <p:cNvSpPr>
            <a:spLocks noGrp="1"/>
          </p:cNvSpPr>
          <p:nvPr>
            <p:ph type="sldNum" sz="quarter" idx="12"/>
          </p:nvPr>
        </p:nvSpPr>
        <p:spPr/>
        <p:txBody>
          <a:bodyPr/>
          <a:lstStyle/>
          <a:p>
            <a:fld id="{B6F15528-21DE-4FAA-801E-634DDDAF4B2B}" type="slidenum">
              <a:rPr lang="en-US" smtClean="0"/>
              <a:pPr/>
              <a:t>22</a:t>
            </a:fld>
            <a:endParaRPr lang="en-US"/>
          </a:p>
        </p:txBody>
      </p:sp>
      <p:pic>
        <p:nvPicPr>
          <p:cNvPr id="10" name="Content Placeholder 9">
            <a:extLst>
              <a:ext uri="{FF2B5EF4-FFF2-40B4-BE49-F238E27FC236}">
                <a16:creationId xmlns:a16="http://schemas.microsoft.com/office/drawing/2014/main" id="{69F51A82-8136-4E6B-ACA5-15C377412729}"/>
              </a:ext>
            </a:extLst>
          </p:cNvPr>
          <p:cNvPicPr>
            <a:picLocks noGrp="1" noChangeAspect="1"/>
          </p:cNvPicPr>
          <p:nvPr>
            <p:ph idx="1"/>
          </p:nvPr>
        </p:nvPicPr>
        <p:blipFill>
          <a:blip r:embed="rId2"/>
          <a:stretch>
            <a:fillRect/>
          </a:stretch>
        </p:blipFill>
        <p:spPr>
          <a:xfrm>
            <a:off x="1085849" y="1107281"/>
            <a:ext cx="9732649" cy="4866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12829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E709-03FB-4840-B621-62C02192DA4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Selection of Topology</a:t>
            </a:r>
          </a:p>
        </p:txBody>
      </p:sp>
      <p:sp>
        <p:nvSpPr>
          <p:cNvPr id="3" name="Content Placeholder 2">
            <a:extLst>
              <a:ext uri="{FF2B5EF4-FFF2-40B4-BE49-F238E27FC236}">
                <a16:creationId xmlns:a16="http://schemas.microsoft.com/office/drawing/2014/main" id="{47B349CD-7A28-4A81-8A2F-38C2D3CDB501}"/>
              </a:ext>
            </a:extLst>
          </p:cNvPr>
          <p:cNvSpPr>
            <a:spLocks noGrp="1"/>
          </p:cNvSpPr>
          <p:nvPr>
            <p:ph idx="1"/>
          </p:nvPr>
        </p:nvSpPr>
        <p:spPr/>
        <p:txBody>
          <a:bodyPr>
            <a:normAutofit fontScale="92500" lnSpcReduction="10000"/>
          </a:bodyPr>
          <a:lstStyle/>
          <a:p>
            <a:pPr>
              <a:lnSpc>
                <a:spcPct val="150000"/>
              </a:lnSpc>
            </a:pPr>
            <a:r>
              <a:rPr lang="en-US" sz="2400" dirty="0">
                <a:latin typeface="Times New Roman" panose="02020603050405020304" pitchFamily="18" charset="0"/>
                <a:cs typeface="Times New Roman" panose="02020603050405020304" pitchFamily="18" charset="0"/>
              </a:rPr>
              <a:t>Choose a network topology based on your needs: applications, distance, performance, existing hardware, physical space, and your IT team’s skill level.</a:t>
            </a:r>
          </a:p>
          <a:p>
            <a:pPr>
              <a:lnSpc>
                <a:spcPct val="150000"/>
              </a:lnSpc>
            </a:pPr>
            <a:r>
              <a:rPr lang="en-US" sz="2400" dirty="0">
                <a:latin typeface="Times New Roman" panose="02020603050405020304" pitchFamily="18" charset="0"/>
                <a:cs typeface="Times New Roman" panose="02020603050405020304" pitchFamily="18" charset="0"/>
              </a:rPr>
              <a:t>Set a realistic budget that covers hardware, cabling, installation, and maintenance—advanced topologies cost more but offer higher performance.</a:t>
            </a:r>
          </a:p>
          <a:p>
            <a:pPr>
              <a:lnSpc>
                <a:spcPct val="150000"/>
              </a:lnSpc>
            </a:pPr>
            <a:r>
              <a:rPr lang="en-US" sz="2400" dirty="0">
                <a:latin typeface="Times New Roman" panose="02020603050405020304" pitchFamily="18" charset="0"/>
                <a:cs typeface="Times New Roman" panose="02020603050405020304" pitchFamily="18" charset="0"/>
              </a:rPr>
              <a:t>Consider reliability: simple topologies work for small, non-critical setups, while hospitals, banks, and large systems require more robust options like mesh or hybrid.</a:t>
            </a:r>
          </a:p>
          <a:p>
            <a:pPr>
              <a:lnSpc>
                <a:spcPct val="150000"/>
              </a:lnSpc>
            </a:pPr>
            <a:r>
              <a:rPr lang="en-US" sz="2400" dirty="0">
                <a:latin typeface="Times New Roman" panose="02020603050405020304" pitchFamily="18" charset="0"/>
                <a:cs typeface="Times New Roman" panose="02020603050405020304" pitchFamily="18" charset="0"/>
              </a:rPr>
              <a:t>Plan for scalability by selecting a topology that can grow with your organization and support more devices in the future.</a:t>
            </a:r>
          </a:p>
          <a:p>
            <a:pPr>
              <a:lnSpc>
                <a:spcPct val="150000"/>
              </a:lnSpc>
            </a:pPr>
            <a:r>
              <a:rPr lang="en-US" sz="2400" dirty="0">
                <a:latin typeface="Times New Roman" panose="02020603050405020304" pitchFamily="18" charset="0"/>
                <a:cs typeface="Times New Roman" panose="02020603050405020304" pitchFamily="18" charset="0"/>
              </a:rPr>
              <a:t>Ensure proper implementation—experienced vendors can prevent configuration errors and help build a stable, long-lasting network.</a:t>
            </a:r>
          </a:p>
        </p:txBody>
      </p:sp>
      <p:sp>
        <p:nvSpPr>
          <p:cNvPr id="4" name="Footer Placeholder 3">
            <a:extLst>
              <a:ext uri="{FF2B5EF4-FFF2-40B4-BE49-F238E27FC236}">
                <a16:creationId xmlns:a16="http://schemas.microsoft.com/office/drawing/2014/main" id="{ED1FEE0E-21F1-4708-B913-7ADF64A8166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811841C-9AAD-4871-A33C-5756332BABBD}"/>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09476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730F-366A-406C-B1F5-C9B4F73E991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1</a:t>
            </a:r>
          </a:p>
        </p:txBody>
      </p:sp>
      <p:sp>
        <p:nvSpPr>
          <p:cNvPr id="3" name="Content Placeholder 2">
            <a:extLst>
              <a:ext uri="{FF2B5EF4-FFF2-40B4-BE49-F238E27FC236}">
                <a16:creationId xmlns:a16="http://schemas.microsoft.com/office/drawing/2014/main" id="{5964B292-0AB3-4B97-8921-2A505F67757C}"/>
              </a:ext>
            </a:extLst>
          </p:cNvPr>
          <p:cNvSpPr>
            <a:spLocks noGrp="1"/>
          </p:cNvSpPr>
          <p:nvPr>
            <p:ph idx="1"/>
          </p:nvPr>
        </p:nvSpPr>
        <p:spPr/>
        <p:txBody>
          <a:bodyPr/>
          <a:lstStyle/>
          <a:p>
            <a:pPr marL="0" marR="0" lvl="0" indent="0" algn="l" defTabSz="914400" rtl="0" eaLnBrk="1" fontAlgn="auto" latinLnBrk="0" hangingPunct="1">
              <a:lnSpc>
                <a:spcPct val="94000"/>
              </a:lnSpc>
              <a:spcBef>
                <a:spcPts val="1000"/>
              </a:spcBef>
              <a:spcAft>
                <a:spcPts val="200"/>
              </a:spcAft>
              <a:buClrTx/>
              <a:buSzTx/>
              <a:buNone/>
              <a:tabLst/>
              <a:defRPr/>
            </a:pP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4000"/>
              </a:lnSpc>
              <a:spcBef>
                <a:spcPts val="1000"/>
              </a:spcBef>
              <a:spcAft>
                <a:spcPts val="200"/>
              </a:spcAft>
              <a:buClrTx/>
              <a:buSzTx/>
              <a:buNone/>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SM@RT Co., a tech company, is analyzing the costs and capacities of two different network setups: client-server and P2P for its workers.</a:t>
            </a:r>
          </a:p>
          <a:p>
            <a:pPr marL="914400" marR="0" lvl="1" indent="-384048" algn="l" defTabSz="914400" rtl="0" eaLnBrk="1" fontAlgn="auto" latinLnBrk="0" hangingPunct="1">
              <a:lnSpc>
                <a:spcPct val="94000"/>
              </a:lnSpc>
              <a:spcBef>
                <a:spcPts val="500"/>
              </a:spcBef>
              <a:spcAft>
                <a:spcPts val="200"/>
              </a:spcAft>
              <a:buClrTx/>
              <a:buSzTx/>
              <a:buFont typeface="Franklin Gothic Book" panose="020B0503020102020204" pitchFamily="34" charset="0"/>
              <a:buChar char="–"/>
              <a:tabLst/>
              <a:defRPr/>
            </a:pP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Company has 60 employees and every employee connects to 5 peers in a P2P network. To connect every employee to the P2P network, company needs $300.</a:t>
            </a:r>
          </a:p>
          <a:p>
            <a:pPr marL="914400" marR="0" lvl="1" indent="-384048" algn="l" defTabSz="914400" rtl="0" eaLnBrk="1" fontAlgn="auto" latinLnBrk="0" hangingPunct="1">
              <a:lnSpc>
                <a:spcPct val="94000"/>
              </a:lnSpc>
              <a:spcBef>
                <a:spcPts val="500"/>
              </a:spcBef>
              <a:spcAft>
                <a:spcPts val="200"/>
              </a:spcAft>
              <a:buClrTx/>
              <a:buSzTx/>
              <a:buFont typeface="Franklin Gothic Book" panose="020B0503020102020204" pitchFamily="34" charset="0"/>
              <a:buChar char="–"/>
              <a:tabLst/>
              <a:defRPr/>
            </a:pP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For a client-server setup, each employee is connected to the central server. 1 server can handle 50 employees at maximum and costs $3000. Per employee set up cost is $400.</a:t>
            </a:r>
          </a:p>
          <a:p>
            <a:pPr>
              <a:lnSpc>
                <a:spcPct val="94000"/>
              </a:lnSpc>
              <a:spcAft>
                <a:spcPts val="200"/>
              </a:spcAft>
              <a:defRPr/>
            </a:pPr>
            <a:r>
              <a:rPr kumimoji="0" lang="en-US" sz="260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Estimate the capacity and setup cost of both the networks to decide which is better.</a:t>
            </a:r>
          </a:p>
          <a:p>
            <a:pPr>
              <a:lnSpc>
                <a:spcPct val="94000"/>
              </a:lnSpc>
              <a:spcAft>
                <a:spcPts val="200"/>
              </a:spcAft>
              <a:defRPr/>
            </a:pPr>
            <a:r>
              <a:rPr kumimoji="0" lang="en-US" sz="260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How will the cost and capacity of both setups if the company doubles in terms of the number of employees? </a:t>
            </a:r>
          </a:p>
          <a:p>
            <a:pPr marL="0" indent="0">
              <a:buNone/>
            </a:pPr>
            <a:endParaRPr lang="en-US" dirty="0"/>
          </a:p>
        </p:txBody>
      </p:sp>
      <p:sp>
        <p:nvSpPr>
          <p:cNvPr id="4" name="Footer Placeholder 3">
            <a:extLst>
              <a:ext uri="{FF2B5EF4-FFF2-40B4-BE49-F238E27FC236}">
                <a16:creationId xmlns:a16="http://schemas.microsoft.com/office/drawing/2014/main" id="{362ACCAE-102A-4A48-8B82-75D183AA5EB1}"/>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F6B3723C-B720-4757-A123-F0C89B28498F}"/>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302020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C68C-A8F2-4F40-BF2C-18527916F0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2</a:t>
            </a:r>
          </a:p>
        </p:txBody>
      </p:sp>
      <p:sp>
        <p:nvSpPr>
          <p:cNvPr id="3" name="Content Placeholder 2">
            <a:extLst>
              <a:ext uri="{FF2B5EF4-FFF2-40B4-BE49-F238E27FC236}">
                <a16:creationId xmlns:a16="http://schemas.microsoft.com/office/drawing/2014/main" id="{F2CE4B76-4949-4117-86CD-72BC4563FCC6}"/>
              </a:ext>
            </a:extLst>
          </p:cNvPr>
          <p:cNvSpPr>
            <a:spLocks noGrp="1"/>
          </p:cNvSpPr>
          <p:nvPr>
            <p:ph idx="1"/>
          </p:nvPr>
        </p:nvSpPr>
        <p:spPr>
          <a:xfrm>
            <a:off x="374469" y="868849"/>
            <a:ext cx="11443062" cy="2407751"/>
          </a:xfrm>
        </p:spPr>
        <p:txBody>
          <a:bodyPr/>
          <a:lstStyle/>
          <a:p>
            <a:r>
              <a:rPr lang="en-US" sz="2800" dirty="0">
                <a:latin typeface="Times New Roman" panose="02020603050405020304" pitchFamily="18" charset="0"/>
                <a:cs typeface="Times New Roman" panose="02020603050405020304" pitchFamily="18" charset="0"/>
              </a:rPr>
              <a:t>A small office uses a star topology with 8 computers connected to a central switch.</a:t>
            </a:r>
          </a:p>
          <a:p>
            <a:pPr lvl="1"/>
            <a:r>
              <a:rPr lang="en-US" sz="2400" dirty="0">
                <a:latin typeface="Times New Roman" panose="02020603050405020304" pitchFamily="18" charset="0"/>
                <a:cs typeface="Times New Roman" panose="02020603050405020304" pitchFamily="18" charset="0"/>
              </a:rPr>
              <a:t> How many network cables are needed?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How many ports must the switch have?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How many ports are needed on each computer?</a:t>
            </a:r>
          </a:p>
        </p:txBody>
      </p:sp>
      <p:sp>
        <p:nvSpPr>
          <p:cNvPr id="4" name="Footer Placeholder 3">
            <a:extLst>
              <a:ext uri="{FF2B5EF4-FFF2-40B4-BE49-F238E27FC236}">
                <a16:creationId xmlns:a16="http://schemas.microsoft.com/office/drawing/2014/main" id="{95C4E48F-D1E8-46C6-A091-89D16EBA5129}"/>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CA94533-D546-4A45-AFAC-9A26ECE5DFE9}"/>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Content Placeholder 2">
            <a:extLst>
              <a:ext uri="{FF2B5EF4-FFF2-40B4-BE49-F238E27FC236}">
                <a16:creationId xmlns:a16="http://schemas.microsoft.com/office/drawing/2014/main" id="{C5764B1C-1AF5-420C-9A65-0F35E0454638}"/>
              </a:ext>
            </a:extLst>
          </p:cNvPr>
          <p:cNvSpPr txBox="1">
            <a:spLocks/>
          </p:cNvSpPr>
          <p:nvPr/>
        </p:nvSpPr>
        <p:spPr>
          <a:xfrm>
            <a:off x="374469" y="3496068"/>
            <a:ext cx="11443062" cy="2407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rgbClr val="00477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477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77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latin typeface="Times New Roman" panose="02020603050405020304" pitchFamily="18" charset="0"/>
                <a:cs typeface="Times New Roman" panose="02020603050405020304" pitchFamily="18" charset="0"/>
              </a:rPr>
              <a:t>In a star, </a:t>
            </a:r>
            <a:r>
              <a:rPr lang="en-US" sz="2800" b="1" dirty="0">
                <a:latin typeface="Times New Roman" panose="02020603050405020304" pitchFamily="18" charset="0"/>
                <a:cs typeface="Times New Roman" panose="02020603050405020304" pitchFamily="18" charset="0"/>
              </a:rPr>
              <a:t>each device has a separate cable to the central switch</a:t>
            </a:r>
            <a:r>
              <a:rPr lang="en-US" sz="2800" dirty="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Cables = number of devices = </a:t>
            </a:r>
            <a:r>
              <a:rPr lang="en-US" sz="2400" b="1" dirty="0">
                <a:latin typeface="Times New Roman" panose="02020603050405020304" pitchFamily="18" charset="0"/>
                <a:cs typeface="Times New Roman" panose="02020603050405020304" pitchFamily="18" charset="0"/>
              </a:rPr>
              <a:t>8 cables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Switch must have one port per device - </a:t>
            </a:r>
            <a:r>
              <a:rPr lang="en-US" sz="2400" b="1" dirty="0">
                <a:latin typeface="Times New Roman" panose="02020603050405020304" pitchFamily="18" charset="0"/>
                <a:cs typeface="Times New Roman" panose="02020603050405020304" pitchFamily="18" charset="0"/>
              </a:rPr>
              <a:t>8 ports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Each computer only needs </a:t>
            </a:r>
            <a:r>
              <a:rPr lang="en-US" sz="2400" b="1" dirty="0">
                <a:latin typeface="Times New Roman" panose="02020603050405020304" pitchFamily="18" charset="0"/>
                <a:cs typeface="Times New Roman" panose="02020603050405020304" pitchFamily="18" charset="0"/>
              </a:rPr>
              <a:t>1 network port</a:t>
            </a:r>
            <a:r>
              <a:rPr lang="en-US" sz="2400" dirty="0">
                <a:latin typeface="Times New Roman" panose="02020603050405020304" pitchFamily="18" charset="0"/>
                <a:cs typeface="Times New Roman" panose="02020603050405020304" pitchFamily="18" charset="0"/>
              </a:rPr>
              <a:t>, because it connects to the switch with one cable.</a:t>
            </a:r>
          </a:p>
        </p:txBody>
      </p:sp>
    </p:spTree>
    <p:extLst>
      <p:ext uri="{BB962C8B-B14F-4D97-AF65-F5344CB8AC3E}">
        <p14:creationId xmlns:p14="http://schemas.microsoft.com/office/powerpoint/2010/main" val="358707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C68C-A8F2-4F40-BF2C-18527916F0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3</a:t>
            </a:r>
          </a:p>
        </p:txBody>
      </p:sp>
      <p:sp>
        <p:nvSpPr>
          <p:cNvPr id="3" name="Content Placeholder 2">
            <a:extLst>
              <a:ext uri="{FF2B5EF4-FFF2-40B4-BE49-F238E27FC236}">
                <a16:creationId xmlns:a16="http://schemas.microsoft.com/office/drawing/2014/main" id="{F2CE4B76-4949-4117-86CD-72BC4563FCC6}"/>
              </a:ext>
            </a:extLst>
          </p:cNvPr>
          <p:cNvSpPr>
            <a:spLocks noGrp="1"/>
          </p:cNvSpPr>
          <p:nvPr>
            <p:ph idx="1"/>
          </p:nvPr>
        </p:nvSpPr>
        <p:spPr>
          <a:xfrm>
            <a:off x="374469" y="868849"/>
            <a:ext cx="11443062" cy="2407751"/>
          </a:xfrm>
        </p:spPr>
        <p:txBody>
          <a:bodyPr/>
          <a:lstStyle/>
          <a:p>
            <a:r>
              <a:rPr lang="en-US" sz="2800" dirty="0">
                <a:latin typeface="Times New Roman" panose="02020603050405020304" pitchFamily="18" charset="0"/>
                <a:cs typeface="Times New Roman" panose="02020603050405020304" pitchFamily="18" charset="0"/>
              </a:rPr>
              <a:t>Six devices are connected in a bus topology along a single main cable.</a:t>
            </a:r>
          </a:p>
          <a:p>
            <a:pPr lvl="1"/>
            <a:r>
              <a:rPr lang="en-US" sz="2400" dirty="0">
                <a:latin typeface="Times New Roman" panose="02020603050405020304" pitchFamily="18" charset="0"/>
                <a:cs typeface="Times New Roman" panose="02020603050405020304" pitchFamily="18" charset="0"/>
              </a:rPr>
              <a:t>How many cable segments between devices are needed (ignore drop cables/terminators)?</a:t>
            </a:r>
          </a:p>
          <a:p>
            <a:pPr lvl="1"/>
            <a:r>
              <a:rPr lang="en-US" sz="2400" dirty="0">
                <a:latin typeface="Times New Roman" panose="02020603050405020304" pitchFamily="18" charset="0"/>
                <a:cs typeface="Times New Roman" panose="02020603050405020304" pitchFamily="18" charset="0"/>
              </a:rPr>
              <a:t>How many ports are needed on each device?</a:t>
            </a: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C4E48F-D1E8-46C6-A091-89D16EBA5129}"/>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CA94533-D546-4A45-AFAC-9A26ECE5DFE9}"/>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6" name="Content Placeholder 2">
            <a:extLst>
              <a:ext uri="{FF2B5EF4-FFF2-40B4-BE49-F238E27FC236}">
                <a16:creationId xmlns:a16="http://schemas.microsoft.com/office/drawing/2014/main" id="{C5764B1C-1AF5-420C-9A65-0F35E0454638}"/>
              </a:ext>
            </a:extLst>
          </p:cNvPr>
          <p:cNvSpPr txBox="1">
            <a:spLocks/>
          </p:cNvSpPr>
          <p:nvPr/>
        </p:nvSpPr>
        <p:spPr>
          <a:xfrm>
            <a:off x="374469" y="3496068"/>
            <a:ext cx="11443062" cy="2407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rgbClr val="00477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477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77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Devices are connected one after another along a single line.</a:t>
            </a:r>
          </a:p>
          <a:p>
            <a:r>
              <a:rPr lang="en-US" sz="2400" dirty="0">
                <a:latin typeface="Times New Roman" panose="02020603050405020304" pitchFamily="18" charset="0"/>
                <a:cs typeface="Times New Roman" panose="02020603050405020304" pitchFamily="18" charset="0"/>
              </a:rPr>
              <a:t>Between 6 devices you need 5 links:</a:t>
            </a:r>
          </a:p>
          <a:p>
            <a:pPr lvl="1"/>
            <a:r>
              <a:rPr lang="en-US" sz="2000" dirty="0">
                <a:latin typeface="Times New Roman" panose="02020603050405020304" pitchFamily="18" charset="0"/>
                <a:cs typeface="Times New Roman" panose="02020603050405020304" pitchFamily="18" charset="0"/>
              </a:rPr>
              <a:t>cables=𝑛−1=6−1=5</a:t>
            </a:r>
          </a:p>
          <a:p>
            <a:r>
              <a:rPr lang="en-US" sz="2400" dirty="0">
                <a:latin typeface="Times New Roman" panose="02020603050405020304" pitchFamily="18" charset="0"/>
                <a:cs typeface="Times New Roman" panose="02020603050405020304" pitchFamily="18" charset="0"/>
              </a:rPr>
              <a:t>Each device connects to the bus with 1 port (one NIC), so 1 port per device</a:t>
            </a:r>
            <a:r>
              <a:rPr lang="en-US" sz="28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136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C68C-A8F2-4F40-BF2C-18527916F0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4</a:t>
            </a:r>
          </a:p>
        </p:txBody>
      </p:sp>
      <p:sp>
        <p:nvSpPr>
          <p:cNvPr id="3" name="Content Placeholder 2">
            <a:extLst>
              <a:ext uri="{FF2B5EF4-FFF2-40B4-BE49-F238E27FC236}">
                <a16:creationId xmlns:a16="http://schemas.microsoft.com/office/drawing/2014/main" id="{F2CE4B76-4949-4117-86CD-72BC4563FCC6}"/>
              </a:ext>
            </a:extLst>
          </p:cNvPr>
          <p:cNvSpPr>
            <a:spLocks noGrp="1"/>
          </p:cNvSpPr>
          <p:nvPr>
            <p:ph idx="1"/>
          </p:nvPr>
        </p:nvSpPr>
        <p:spPr>
          <a:xfrm>
            <a:off x="374469" y="868849"/>
            <a:ext cx="11443062" cy="2407751"/>
          </a:xfrm>
        </p:spPr>
        <p:txBody>
          <a:bodyPr/>
          <a:lstStyle/>
          <a:p>
            <a:r>
              <a:rPr lang="en-US" sz="2800" dirty="0">
                <a:latin typeface="Times New Roman" panose="02020603050405020304" pitchFamily="18" charset="0"/>
                <a:cs typeface="Times New Roman" panose="02020603050405020304" pitchFamily="18" charset="0"/>
              </a:rPr>
              <a:t>Two departments each use a star topology with 10 computers connected to a local switch. The two switches are then connected together (forming a small hybrid network).</a:t>
            </a:r>
          </a:p>
          <a:p>
            <a:r>
              <a:rPr lang="en-US" sz="2800" dirty="0">
                <a:latin typeface="Times New Roman" panose="02020603050405020304" pitchFamily="18" charset="0"/>
                <a:cs typeface="Times New Roman" panose="02020603050405020304" pitchFamily="18" charset="0"/>
              </a:rPr>
              <a:t>How many cables are needed in total?</a:t>
            </a:r>
          </a:p>
          <a:p>
            <a:r>
              <a:rPr lang="en-US" sz="2800" dirty="0">
                <a:latin typeface="Times New Roman" panose="02020603050405020304" pitchFamily="18" charset="0"/>
                <a:cs typeface="Times New Roman" panose="02020603050405020304" pitchFamily="18" charset="0"/>
              </a:rPr>
              <a:t>How many ports are required on each departmental switch?</a:t>
            </a: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C4E48F-D1E8-46C6-A091-89D16EBA5129}"/>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CA94533-D546-4A45-AFAC-9A26ECE5DFE9}"/>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Content Placeholder 2">
            <a:extLst>
              <a:ext uri="{FF2B5EF4-FFF2-40B4-BE49-F238E27FC236}">
                <a16:creationId xmlns:a16="http://schemas.microsoft.com/office/drawing/2014/main" id="{C5764B1C-1AF5-420C-9A65-0F35E0454638}"/>
              </a:ext>
            </a:extLst>
          </p:cNvPr>
          <p:cNvSpPr txBox="1">
            <a:spLocks/>
          </p:cNvSpPr>
          <p:nvPr/>
        </p:nvSpPr>
        <p:spPr>
          <a:xfrm>
            <a:off x="374469" y="3496068"/>
            <a:ext cx="11443062" cy="240775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rgbClr val="00477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477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77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Within each department: 10 computers - 10 cables to its switch.</a:t>
            </a:r>
          </a:p>
          <a:p>
            <a:r>
              <a:rPr lang="en-US" sz="2400" dirty="0">
                <a:latin typeface="Times New Roman" panose="02020603050405020304" pitchFamily="18" charset="0"/>
                <a:cs typeface="Times New Roman" panose="02020603050405020304" pitchFamily="18" charset="0"/>
              </a:rPr>
              <a:t>Two departments - 2×10=20 cables to computers.</a:t>
            </a:r>
          </a:p>
          <a:p>
            <a:r>
              <a:rPr lang="en-US" sz="2400" dirty="0">
                <a:latin typeface="Times New Roman" panose="02020603050405020304" pitchFamily="18" charset="0"/>
                <a:cs typeface="Times New Roman" panose="02020603050405020304" pitchFamily="18" charset="0"/>
              </a:rPr>
              <a:t>Switch–switch link - 1 extra cable.</a:t>
            </a:r>
          </a:p>
          <a:p>
            <a:r>
              <a:rPr lang="en-US" sz="2400" dirty="0">
                <a:latin typeface="Times New Roman" panose="02020603050405020304" pitchFamily="18" charset="0"/>
                <a:cs typeface="Times New Roman" panose="02020603050405020304" pitchFamily="18" charset="0"/>
              </a:rPr>
              <a:t>Total cables = 20+1=2120+1=21.</a:t>
            </a:r>
          </a:p>
          <a:p>
            <a:r>
              <a:rPr lang="en-US" sz="2400" dirty="0">
                <a:latin typeface="Times New Roman" panose="02020603050405020304" pitchFamily="18" charset="0"/>
                <a:cs typeface="Times New Roman" panose="02020603050405020304" pitchFamily="18" charset="0"/>
              </a:rPr>
              <a:t>Ports on each departmental switch:10 ports for its computers + 1 port for the inter-switch link = 11 ports per switch.</a:t>
            </a:r>
            <a:r>
              <a:rPr lang="en-US" sz="28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72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F4A7ED8-7148-4D28-A17E-77A36B1A5D7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Cloud Computing</a:t>
            </a:r>
          </a:p>
        </p:txBody>
      </p:sp>
      <p:sp>
        <p:nvSpPr>
          <p:cNvPr id="4" name="Footer Placeholder 3">
            <a:extLst>
              <a:ext uri="{FF2B5EF4-FFF2-40B4-BE49-F238E27FC236}">
                <a16:creationId xmlns:a16="http://schemas.microsoft.com/office/drawing/2014/main" id="{6365EE6F-5B65-410C-BA42-DDB8E89F7B17}"/>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2EC150DC-1082-4C23-A413-5B2FD6049C84}"/>
              </a:ext>
            </a:extLst>
          </p:cNvPr>
          <p:cNvSpPr>
            <a:spLocks noGrp="1"/>
          </p:cNvSpPr>
          <p:nvPr>
            <p:ph type="sldNum" sz="quarter" idx="4294967295"/>
          </p:nvPr>
        </p:nvSpPr>
        <p:spPr>
          <a:xfrm>
            <a:off x="11510963" y="6492875"/>
            <a:ext cx="681037" cy="365125"/>
          </a:xfrm>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3359536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4F5E52-75E1-478A-81E5-6A71D8EBCC0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Cloud Computing</a:t>
            </a:r>
          </a:p>
        </p:txBody>
      </p:sp>
      <p:sp>
        <p:nvSpPr>
          <p:cNvPr id="6" name="Content Placeholder 5">
            <a:extLst>
              <a:ext uri="{FF2B5EF4-FFF2-40B4-BE49-F238E27FC236}">
                <a16:creationId xmlns:a16="http://schemas.microsoft.com/office/drawing/2014/main" id="{620CD566-DA88-42D7-B121-2487E15D9121}"/>
              </a:ext>
            </a:extLst>
          </p:cNvPr>
          <p:cNvSpPr>
            <a:spLocks noGrp="1"/>
          </p:cNvSpPr>
          <p:nvPr>
            <p:ph idx="1"/>
          </p:nvPr>
        </p:nvSpPr>
        <p:spPr>
          <a:xfrm>
            <a:off x="374468" y="868849"/>
            <a:ext cx="6035857" cy="5293826"/>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Cloud computing is when software, services or files are hosted entirely on remote servers</a:t>
            </a:r>
          </a:p>
          <a:p>
            <a:r>
              <a:rPr lang="en-US" sz="2800" dirty="0">
                <a:latin typeface="Times New Roman" panose="02020603050405020304" pitchFamily="18" charset="0"/>
                <a:cs typeface="Times New Roman" panose="02020603050405020304" pitchFamily="18" charset="0"/>
              </a:rPr>
              <a:t>Accessed through the internet</a:t>
            </a:r>
          </a:p>
          <a:p>
            <a:r>
              <a:rPr lang="en-US" sz="2800" dirty="0">
                <a:latin typeface="Times New Roman" panose="02020603050405020304" pitchFamily="18" charset="0"/>
                <a:cs typeface="Times New Roman" panose="02020603050405020304" pitchFamily="18" charset="0"/>
              </a:rPr>
              <a:t>The two most common cloud computing examples are:</a:t>
            </a:r>
          </a:p>
          <a:p>
            <a:pPr lvl="1"/>
            <a:r>
              <a:rPr lang="en-US" sz="2400" dirty="0">
                <a:latin typeface="Times New Roman" panose="02020603050405020304" pitchFamily="18" charset="0"/>
                <a:cs typeface="Times New Roman" panose="02020603050405020304" pitchFamily="18" charset="0"/>
              </a:rPr>
              <a:t>Cloud storage</a:t>
            </a:r>
          </a:p>
          <a:p>
            <a:pPr lvl="1"/>
            <a:r>
              <a:rPr lang="en-US" sz="2400" dirty="0">
                <a:latin typeface="Times New Roman" panose="02020603050405020304" pitchFamily="18" charset="0"/>
                <a:cs typeface="Times New Roman" panose="02020603050405020304" pitchFamily="18" charset="0"/>
              </a:rPr>
              <a:t>Cloud software</a:t>
            </a:r>
          </a:p>
        </p:txBody>
      </p:sp>
      <p:sp>
        <p:nvSpPr>
          <p:cNvPr id="4" name="Footer Placeholder 3">
            <a:extLst>
              <a:ext uri="{FF2B5EF4-FFF2-40B4-BE49-F238E27FC236}">
                <a16:creationId xmlns:a16="http://schemas.microsoft.com/office/drawing/2014/main" id="{E70D85FC-D7FD-41B8-8903-F7D5CF600919}"/>
              </a:ext>
            </a:extLst>
          </p:cNvPr>
          <p:cNvSpPr>
            <a:spLocks noGrp="1"/>
          </p:cNvSpPr>
          <p:nvPr>
            <p:ph type="ftr" sz="quarter" idx="11"/>
          </p:nvPr>
        </p:nvSpPr>
        <p:spPr/>
        <p:txBody>
          <a:bodyPr/>
          <a:lstStyle/>
          <a:p>
            <a:r>
              <a:rPr lang="en-US"/>
              <a:t>Applications of ICT</a:t>
            </a:r>
            <a:endParaRPr lang="en-US" dirty="0"/>
          </a:p>
        </p:txBody>
      </p:sp>
      <p:pic>
        <p:nvPicPr>
          <p:cNvPr id="11266" name="Picture 2" descr="What Is Cloud Computing? Definition, Benefits, Types, and Trends -  Spiceworks">
            <a:extLst>
              <a:ext uri="{FF2B5EF4-FFF2-40B4-BE49-F238E27FC236}">
                <a16:creationId xmlns:a16="http://schemas.microsoft.com/office/drawing/2014/main" id="{DB715FC7-687B-447F-9D18-21F5AAA58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7579" y="1208497"/>
            <a:ext cx="4822812" cy="44410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929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4F5E52-75E1-478A-81E5-6A71D8EBCC0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Cloud Storage</a:t>
            </a:r>
          </a:p>
        </p:txBody>
      </p:sp>
      <p:sp>
        <p:nvSpPr>
          <p:cNvPr id="6" name="Content Placeholder 5">
            <a:extLst>
              <a:ext uri="{FF2B5EF4-FFF2-40B4-BE49-F238E27FC236}">
                <a16:creationId xmlns:a16="http://schemas.microsoft.com/office/drawing/2014/main" id="{620CD566-DA88-42D7-B121-2487E15D9121}"/>
              </a:ext>
            </a:extLst>
          </p:cNvPr>
          <p:cNvSpPr>
            <a:spLocks noGrp="1"/>
          </p:cNvSpPr>
          <p:nvPr>
            <p:ph idx="1"/>
          </p:nvPr>
        </p:nvSpPr>
        <p:spPr>
          <a:xfrm>
            <a:off x="374468" y="868849"/>
            <a:ext cx="6035857" cy="5293826"/>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Cloud storage is long-term storage of data that resides in a remote location</a:t>
            </a:r>
          </a:p>
          <a:p>
            <a:r>
              <a:rPr lang="en-US" sz="2800" dirty="0">
                <a:latin typeface="Times New Roman" panose="02020603050405020304" pitchFamily="18" charset="0"/>
                <a:cs typeface="Times New Roman" panose="02020603050405020304" pitchFamily="18" charset="0"/>
              </a:rPr>
              <a:t>Accessible only via the Internet (WAN)</a:t>
            </a:r>
          </a:p>
          <a:p>
            <a:r>
              <a:rPr lang="en-US" sz="2800" dirty="0">
                <a:latin typeface="Times New Roman" panose="02020603050405020304" pitchFamily="18" charset="0"/>
                <a:cs typeface="Times New Roman" panose="02020603050405020304" pitchFamily="18" charset="0"/>
              </a:rPr>
              <a:t>Data is stored on remote servers in data </a:t>
            </a:r>
            <a:r>
              <a:rPr lang="en-US" sz="2800" dirty="0" err="1">
                <a:latin typeface="Times New Roman" panose="02020603050405020304" pitchFamily="18" charset="0"/>
                <a:cs typeface="Times New Roman" panose="02020603050405020304" pitchFamily="18" charset="0"/>
              </a:rPr>
              <a:t>centres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Storage is usually on HDDs (magnetic) but increasingly SSDs (solid state)</a:t>
            </a:r>
          </a:p>
          <a:p>
            <a:r>
              <a:rPr lang="en-US" sz="2800" dirty="0">
                <a:latin typeface="Times New Roman" panose="02020603050405020304" pitchFamily="18" charset="0"/>
                <a:cs typeface="Times New Roman" panose="02020603050405020304" pitchFamily="18" charset="0"/>
              </a:rPr>
              <a:t>Examples include: Google Drive, Dropbox, OneDrive</a:t>
            </a: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70D85FC-D7FD-41B8-8903-F7D5CF600919}"/>
              </a:ext>
            </a:extLst>
          </p:cNvPr>
          <p:cNvSpPr>
            <a:spLocks noGrp="1"/>
          </p:cNvSpPr>
          <p:nvPr>
            <p:ph type="ftr" sz="quarter" idx="11"/>
          </p:nvPr>
        </p:nvSpPr>
        <p:spPr/>
        <p:txBody>
          <a:bodyPr/>
          <a:lstStyle/>
          <a:p>
            <a:r>
              <a:rPr lang="en-US"/>
              <a:t>Applications of ICT</a:t>
            </a:r>
            <a:endParaRPr lang="en-US" dirty="0"/>
          </a:p>
        </p:txBody>
      </p:sp>
      <p:pic>
        <p:nvPicPr>
          <p:cNvPr id="11266" name="Picture 2" descr="What Is Cloud Computing? Definition, Benefits, Types, and Trends -  Spiceworks">
            <a:extLst>
              <a:ext uri="{FF2B5EF4-FFF2-40B4-BE49-F238E27FC236}">
                <a16:creationId xmlns:a16="http://schemas.microsoft.com/office/drawing/2014/main" id="{DB715FC7-687B-447F-9D18-21F5AAA58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7579" y="1208497"/>
            <a:ext cx="4822812" cy="44410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876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4F5E52-75E1-478A-81E5-6A71D8EBCC0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Cloud Software</a:t>
            </a:r>
          </a:p>
        </p:txBody>
      </p:sp>
      <p:sp>
        <p:nvSpPr>
          <p:cNvPr id="6" name="Content Placeholder 5">
            <a:extLst>
              <a:ext uri="{FF2B5EF4-FFF2-40B4-BE49-F238E27FC236}">
                <a16:creationId xmlns:a16="http://schemas.microsoft.com/office/drawing/2014/main" id="{620CD566-DA88-42D7-B121-2487E15D9121}"/>
              </a:ext>
            </a:extLst>
          </p:cNvPr>
          <p:cNvSpPr>
            <a:spLocks noGrp="1"/>
          </p:cNvSpPr>
          <p:nvPr>
            <p:ph idx="1"/>
          </p:nvPr>
        </p:nvSpPr>
        <p:spPr>
          <a:xfrm>
            <a:off x="374468" y="868849"/>
            <a:ext cx="6035857" cy="5293826"/>
          </a:xfrm>
        </p:spPr>
        <p:txBody>
          <a:bodyPr>
            <a:normAutofit fontScale="92500" lnSpcReduction="10000"/>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Cloud software is hosted and managed remotely</a:t>
            </a:r>
          </a:p>
          <a:p>
            <a:r>
              <a:rPr lang="en-US" sz="2800" dirty="0">
                <a:latin typeface="Times New Roman" panose="02020603050405020304" pitchFamily="18" charset="0"/>
                <a:cs typeface="Times New Roman" panose="02020603050405020304" pitchFamily="18" charset="0"/>
              </a:rPr>
              <a:t>The user accesses the software online (on demand)</a:t>
            </a:r>
          </a:p>
          <a:p>
            <a:r>
              <a:rPr lang="en-US" sz="2800" dirty="0">
                <a:latin typeface="Times New Roman" panose="02020603050405020304" pitchFamily="18" charset="0"/>
                <a:cs typeface="Times New Roman" panose="02020603050405020304" pitchFamily="18" charset="0"/>
              </a:rPr>
              <a:t>The provider handles:</a:t>
            </a:r>
          </a:p>
          <a:p>
            <a:pPr lvl="1"/>
            <a:r>
              <a:rPr lang="en-US" sz="2400" dirty="0">
                <a:latin typeface="Times New Roman" panose="02020603050405020304" pitchFamily="18" charset="0"/>
                <a:cs typeface="Times New Roman" panose="02020603050405020304" pitchFamily="18" charset="0"/>
              </a:rPr>
              <a:t>Maintenance</a:t>
            </a:r>
          </a:p>
          <a:p>
            <a:pPr lvl="1"/>
            <a:r>
              <a:rPr lang="en-US" sz="2400" dirty="0">
                <a:latin typeface="Times New Roman" panose="02020603050405020304" pitchFamily="18" charset="0"/>
                <a:cs typeface="Times New Roman" panose="02020603050405020304" pitchFamily="18" charset="0"/>
              </a:rPr>
              <a:t>Upgrades</a:t>
            </a:r>
          </a:p>
          <a:p>
            <a:pPr lvl="1"/>
            <a:r>
              <a:rPr lang="en-US" sz="2400" dirty="0">
                <a:latin typeface="Times New Roman" panose="02020603050405020304" pitchFamily="18" charset="0"/>
                <a:cs typeface="Times New Roman" panose="02020603050405020304" pitchFamily="18" charset="0"/>
              </a:rPr>
              <a:t>Security</a:t>
            </a:r>
          </a:p>
          <a:p>
            <a:r>
              <a:rPr lang="en-US" sz="2800" dirty="0">
                <a:latin typeface="Times New Roman" panose="02020603050405020304" pitchFamily="18" charset="0"/>
                <a:cs typeface="Times New Roman" panose="02020603050405020304" pitchFamily="18" charset="0"/>
              </a:rPr>
              <a:t>Typically paid for via a monthly fee or yearly subscription</a:t>
            </a:r>
          </a:p>
          <a:p>
            <a:r>
              <a:rPr lang="en-US" sz="2800" dirty="0">
                <a:latin typeface="Times New Roman" panose="02020603050405020304" pitchFamily="18" charset="0"/>
                <a:cs typeface="Times New Roman" panose="02020603050405020304" pitchFamily="18" charset="0"/>
              </a:rPr>
              <a:t>Examples include: Google Docs, Microsoft 365, Adobe Creative Cloud</a:t>
            </a: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70D85FC-D7FD-41B8-8903-F7D5CF600919}"/>
              </a:ext>
            </a:extLst>
          </p:cNvPr>
          <p:cNvSpPr>
            <a:spLocks noGrp="1"/>
          </p:cNvSpPr>
          <p:nvPr>
            <p:ph type="ftr" sz="quarter" idx="11"/>
          </p:nvPr>
        </p:nvSpPr>
        <p:spPr/>
        <p:txBody>
          <a:bodyPr/>
          <a:lstStyle/>
          <a:p>
            <a:r>
              <a:rPr lang="en-US"/>
              <a:t>Applications of ICT</a:t>
            </a:r>
            <a:endParaRPr lang="en-US" dirty="0"/>
          </a:p>
        </p:txBody>
      </p:sp>
      <p:pic>
        <p:nvPicPr>
          <p:cNvPr id="11266" name="Picture 2" descr="What Is Cloud Computing? Definition, Benefits, Types, and Trends -  Spiceworks">
            <a:extLst>
              <a:ext uri="{FF2B5EF4-FFF2-40B4-BE49-F238E27FC236}">
                <a16:creationId xmlns:a16="http://schemas.microsoft.com/office/drawing/2014/main" id="{DB715FC7-687B-447F-9D18-21F5AAA58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7579" y="1208497"/>
            <a:ext cx="4822812" cy="44410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90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9D17EBC-97A9-4E4B-9349-66E7951E0A9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Hardware</a:t>
            </a:r>
          </a:p>
        </p:txBody>
      </p:sp>
      <p:sp>
        <p:nvSpPr>
          <p:cNvPr id="4" name="Footer Placeholder 3">
            <a:extLst>
              <a:ext uri="{FF2B5EF4-FFF2-40B4-BE49-F238E27FC236}">
                <a16:creationId xmlns:a16="http://schemas.microsoft.com/office/drawing/2014/main" id="{1EA87757-D0FB-4694-9ED8-27C4E0D71318}"/>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81D6EA8E-CB0F-4E4B-B648-6A710D5AFBED}"/>
              </a:ext>
            </a:extLst>
          </p:cNvPr>
          <p:cNvSpPr>
            <a:spLocks noGrp="1"/>
          </p:cNvSpPr>
          <p:nvPr>
            <p:ph type="sldNum" sz="quarter" idx="4294967295"/>
          </p:nvPr>
        </p:nvSpPr>
        <p:spPr>
          <a:xfrm>
            <a:off x="11510963" y="6492875"/>
            <a:ext cx="681037" cy="365125"/>
          </a:xfrm>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231761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9A40C-1DBB-4BD0-9BC4-60F43D85DDE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LAN Hardware - Hub</a:t>
            </a:r>
          </a:p>
        </p:txBody>
      </p:sp>
      <p:sp>
        <p:nvSpPr>
          <p:cNvPr id="6" name="Content Placeholder 5">
            <a:extLst>
              <a:ext uri="{FF2B5EF4-FFF2-40B4-BE49-F238E27FC236}">
                <a16:creationId xmlns:a16="http://schemas.microsoft.com/office/drawing/2014/main" id="{C7E9DD5C-FB03-4C87-964C-208E8EB0D00B}"/>
              </a:ext>
            </a:extLst>
          </p:cNvPr>
          <p:cNvSpPr>
            <a:spLocks noGrp="1"/>
          </p:cNvSpPr>
          <p:nvPr>
            <p:ph idx="1"/>
          </p:nvPr>
        </p:nvSpPr>
        <p:spPr>
          <a:xfrm>
            <a:off x="374469" y="868848"/>
            <a:ext cx="6235881" cy="5493851"/>
          </a:xfrm>
        </p:spPr>
        <p:txBody>
          <a:bodyPr/>
          <a:lstStyle/>
          <a:p>
            <a:r>
              <a:rPr lang="en-US" sz="2800" dirty="0">
                <a:latin typeface="Times New Roman" panose="02020603050405020304" pitchFamily="18" charset="0"/>
                <a:cs typeface="Times New Roman" panose="02020603050405020304" pitchFamily="18" charset="0"/>
              </a:rPr>
              <a:t>A hub is a networking device which is used to connect multiple devices in a network</a:t>
            </a:r>
          </a:p>
          <a:p>
            <a:r>
              <a:rPr lang="en-US" sz="2800" dirty="0">
                <a:latin typeface="Times New Roman" panose="02020603050405020304" pitchFamily="18" charset="0"/>
                <a:cs typeface="Times New Roman" panose="02020603050405020304" pitchFamily="18" charset="0"/>
              </a:rPr>
              <a:t>Hubs are "dumb" devices that pass on anything received on one connection to all other connections</a:t>
            </a:r>
          </a:p>
          <a:p>
            <a:r>
              <a:rPr lang="en-US" sz="2800" dirty="0">
                <a:latin typeface="Times New Roman" panose="02020603050405020304" pitchFamily="18" charset="0"/>
                <a:cs typeface="Times New Roman" panose="02020603050405020304" pitchFamily="18" charset="0"/>
              </a:rPr>
              <a:t>Because all data is sent to all devices, it can lead to network inefficiencies and security issues</a:t>
            </a:r>
          </a:p>
          <a:p>
            <a:r>
              <a:rPr lang="en-US" sz="2800" dirty="0">
                <a:latin typeface="Times New Roman" panose="02020603050405020304" pitchFamily="18" charset="0"/>
                <a:cs typeface="Times New Roman" panose="02020603050405020304" pitchFamily="18" charset="0"/>
              </a:rPr>
              <a:t>Hubs allow multiple other devices to be connected to them</a:t>
            </a:r>
          </a:p>
          <a:p>
            <a:endParaRPr lang="en-US" dirty="0"/>
          </a:p>
          <a:p>
            <a:endParaRPr lang="en-US" dirty="0"/>
          </a:p>
        </p:txBody>
      </p:sp>
      <p:sp>
        <p:nvSpPr>
          <p:cNvPr id="4" name="Footer Placeholder 3">
            <a:extLst>
              <a:ext uri="{FF2B5EF4-FFF2-40B4-BE49-F238E27FC236}">
                <a16:creationId xmlns:a16="http://schemas.microsoft.com/office/drawing/2014/main" id="{D45E78B4-85AC-4901-994B-7886791D5B0B}"/>
              </a:ext>
            </a:extLst>
          </p:cNvPr>
          <p:cNvSpPr>
            <a:spLocks noGrp="1"/>
          </p:cNvSpPr>
          <p:nvPr>
            <p:ph type="ftr" sz="quarter" idx="11"/>
          </p:nvPr>
        </p:nvSpPr>
        <p:spPr/>
        <p:txBody>
          <a:bodyPr/>
          <a:lstStyle/>
          <a:p>
            <a:r>
              <a:rPr lang="en-US"/>
              <a:t>Applications of ICT</a:t>
            </a:r>
            <a:endParaRPr lang="en-US" dirty="0"/>
          </a:p>
        </p:txBody>
      </p:sp>
      <p:pic>
        <p:nvPicPr>
          <p:cNvPr id="7" name="Picture 6">
            <a:extLst>
              <a:ext uri="{FF2B5EF4-FFF2-40B4-BE49-F238E27FC236}">
                <a16:creationId xmlns:a16="http://schemas.microsoft.com/office/drawing/2014/main" id="{326A380A-3E10-452A-A351-7948314558C6}"/>
              </a:ext>
            </a:extLst>
          </p:cNvPr>
          <p:cNvPicPr>
            <a:picLocks noChangeAspect="1"/>
          </p:cNvPicPr>
          <p:nvPr/>
        </p:nvPicPr>
        <p:blipFill>
          <a:blip r:embed="rId2"/>
          <a:stretch>
            <a:fillRect/>
          </a:stretch>
        </p:blipFill>
        <p:spPr>
          <a:xfrm>
            <a:off x="7086602" y="1905363"/>
            <a:ext cx="4643334" cy="2867025"/>
          </a:xfrm>
          <a:prstGeom prst="rect">
            <a:avLst/>
          </a:prstGeom>
        </p:spPr>
      </p:pic>
    </p:spTree>
    <p:extLst>
      <p:ext uri="{BB962C8B-B14F-4D97-AF65-F5344CB8AC3E}">
        <p14:creationId xmlns:p14="http://schemas.microsoft.com/office/powerpoint/2010/main" val="856684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9A40C-1DBB-4BD0-9BC4-60F43D85DDE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LAN Hardware - Hub</a:t>
            </a:r>
          </a:p>
        </p:txBody>
      </p:sp>
      <p:sp>
        <p:nvSpPr>
          <p:cNvPr id="6" name="Content Placeholder 5">
            <a:extLst>
              <a:ext uri="{FF2B5EF4-FFF2-40B4-BE49-F238E27FC236}">
                <a16:creationId xmlns:a16="http://schemas.microsoft.com/office/drawing/2014/main" id="{C7E9DD5C-FB03-4C87-964C-208E8EB0D00B}"/>
              </a:ext>
            </a:extLst>
          </p:cNvPr>
          <p:cNvSpPr>
            <a:spLocks noGrp="1"/>
          </p:cNvSpPr>
          <p:nvPr>
            <p:ph idx="1"/>
          </p:nvPr>
        </p:nvSpPr>
        <p:spPr>
          <a:xfrm>
            <a:off x="374469" y="868848"/>
            <a:ext cx="6235881" cy="5493851"/>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Hubs are generally much cheaper than switches, but:</a:t>
            </a:r>
          </a:p>
          <a:p>
            <a:pPr lvl="1"/>
            <a:r>
              <a:rPr lang="en-US" sz="2400" dirty="0">
                <a:latin typeface="Times New Roman" panose="02020603050405020304" pitchFamily="18" charset="0"/>
                <a:cs typeface="Times New Roman" panose="02020603050405020304" pitchFamily="18" charset="0"/>
              </a:rPr>
              <a:t>When a hub receives a data packet, it will broadcast it to every device on the network</a:t>
            </a:r>
          </a:p>
          <a:p>
            <a:r>
              <a:rPr lang="en-US" sz="2800" dirty="0">
                <a:latin typeface="Times New Roman" panose="02020603050405020304" pitchFamily="18" charset="0"/>
                <a:cs typeface="Times New Roman" panose="02020603050405020304" pitchFamily="18" charset="0"/>
              </a:rPr>
              <a:t>This creates two potential issues:</a:t>
            </a:r>
          </a:p>
          <a:p>
            <a:pPr lvl="1"/>
            <a:r>
              <a:rPr lang="en-US" sz="2400" dirty="0">
                <a:latin typeface="Times New Roman" panose="02020603050405020304" pitchFamily="18" charset="0"/>
                <a:cs typeface="Times New Roman" panose="02020603050405020304" pitchFamily="18" charset="0"/>
              </a:rPr>
              <a:t>As the information is being broadcast to every device, it will make unnecessary traffic, especially if there are a large number of devices</a:t>
            </a:r>
          </a:p>
          <a:p>
            <a:pPr lvl="1"/>
            <a:r>
              <a:rPr lang="en-US" sz="2400" dirty="0">
                <a:latin typeface="Times New Roman" panose="02020603050405020304" pitchFamily="18" charset="0"/>
                <a:cs typeface="Times New Roman" panose="02020603050405020304" pitchFamily="18" charset="0"/>
              </a:rPr>
              <a:t>As every device will receive the data packet, security may be a concern</a:t>
            </a:r>
            <a:endParaRPr lang="en-US" dirty="0"/>
          </a:p>
          <a:p>
            <a:endParaRPr lang="en-US" dirty="0"/>
          </a:p>
        </p:txBody>
      </p:sp>
      <p:sp>
        <p:nvSpPr>
          <p:cNvPr id="4" name="Footer Placeholder 3">
            <a:extLst>
              <a:ext uri="{FF2B5EF4-FFF2-40B4-BE49-F238E27FC236}">
                <a16:creationId xmlns:a16="http://schemas.microsoft.com/office/drawing/2014/main" id="{D45E78B4-85AC-4901-994B-7886791D5B0B}"/>
              </a:ext>
            </a:extLst>
          </p:cNvPr>
          <p:cNvSpPr>
            <a:spLocks noGrp="1"/>
          </p:cNvSpPr>
          <p:nvPr>
            <p:ph type="ftr" sz="quarter" idx="11"/>
          </p:nvPr>
        </p:nvSpPr>
        <p:spPr/>
        <p:txBody>
          <a:bodyPr/>
          <a:lstStyle/>
          <a:p>
            <a:r>
              <a:rPr lang="en-US"/>
              <a:t>Applications of ICT</a:t>
            </a:r>
            <a:endParaRPr lang="en-US" dirty="0"/>
          </a:p>
        </p:txBody>
      </p:sp>
      <p:pic>
        <p:nvPicPr>
          <p:cNvPr id="7" name="Picture 6">
            <a:extLst>
              <a:ext uri="{FF2B5EF4-FFF2-40B4-BE49-F238E27FC236}">
                <a16:creationId xmlns:a16="http://schemas.microsoft.com/office/drawing/2014/main" id="{326A380A-3E10-452A-A351-7948314558C6}"/>
              </a:ext>
            </a:extLst>
          </p:cNvPr>
          <p:cNvPicPr>
            <a:picLocks noChangeAspect="1"/>
          </p:cNvPicPr>
          <p:nvPr/>
        </p:nvPicPr>
        <p:blipFill>
          <a:blip r:embed="rId2"/>
          <a:stretch>
            <a:fillRect/>
          </a:stretch>
        </p:blipFill>
        <p:spPr>
          <a:xfrm>
            <a:off x="7086602" y="1905363"/>
            <a:ext cx="4643334" cy="2867025"/>
          </a:xfrm>
          <a:prstGeom prst="rect">
            <a:avLst/>
          </a:prstGeom>
        </p:spPr>
      </p:pic>
    </p:spTree>
    <p:extLst>
      <p:ext uri="{BB962C8B-B14F-4D97-AF65-F5344CB8AC3E}">
        <p14:creationId xmlns:p14="http://schemas.microsoft.com/office/powerpoint/2010/main" val="2673972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9A40C-1DBB-4BD0-9BC4-60F43D85DDE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LAN Hardware - Switch</a:t>
            </a:r>
          </a:p>
        </p:txBody>
      </p:sp>
      <p:sp>
        <p:nvSpPr>
          <p:cNvPr id="6" name="Content Placeholder 5">
            <a:extLst>
              <a:ext uri="{FF2B5EF4-FFF2-40B4-BE49-F238E27FC236}">
                <a16:creationId xmlns:a16="http://schemas.microsoft.com/office/drawing/2014/main" id="{C7E9DD5C-FB03-4C87-964C-208E8EB0D00B}"/>
              </a:ext>
            </a:extLst>
          </p:cNvPr>
          <p:cNvSpPr>
            <a:spLocks noGrp="1"/>
          </p:cNvSpPr>
          <p:nvPr>
            <p:ph idx="1"/>
          </p:nvPr>
        </p:nvSpPr>
        <p:spPr>
          <a:xfrm>
            <a:off x="374469" y="868848"/>
            <a:ext cx="6235881" cy="5493851"/>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 network switch is a networking device that connects devices on a computer network and uses packet switching to receive, process and forward data to the destination device</a:t>
            </a:r>
          </a:p>
          <a:p>
            <a:r>
              <a:rPr lang="en-US" sz="2800" dirty="0">
                <a:latin typeface="Times New Roman" panose="02020603050405020304" pitchFamily="18" charset="0"/>
                <a:cs typeface="Times New Roman" panose="02020603050405020304" pitchFamily="18" charset="0"/>
              </a:rPr>
              <a:t>Unlike a hub, a switch only sends data to the device it was intended for, which improves network efficiency</a:t>
            </a:r>
            <a:endParaRPr lang="en-US" dirty="0"/>
          </a:p>
        </p:txBody>
      </p:sp>
      <p:sp>
        <p:nvSpPr>
          <p:cNvPr id="4" name="Footer Placeholder 3">
            <a:extLst>
              <a:ext uri="{FF2B5EF4-FFF2-40B4-BE49-F238E27FC236}">
                <a16:creationId xmlns:a16="http://schemas.microsoft.com/office/drawing/2014/main" id="{D45E78B4-85AC-4901-994B-7886791D5B0B}"/>
              </a:ext>
            </a:extLst>
          </p:cNvPr>
          <p:cNvSpPr>
            <a:spLocks noGrp="1"/>
          </p:cNvSpPr>
          <p:nvPr>
            <p:ph type="ftr" sz="quarter" idx="11"/>
          </p:nvPr>
        </p:nvSpPr>
        <p:spPr/>
        <p:txBody>
          <a:bodyPr/>
          <a:lstStyle/>
          <a:p>
            <a:r>
              <a:rPr lang="en-US"/>
              <a:t>Applications of ICT</a:t>
            </a:r>
            <a:endParaRPr lang="en-US" dirty="0"/>
          </a:p>
        </p:txBody>
      </p:sp>
      <p:pic>
        <p:nvPicPr>
          <p:cNvPr id="3" name="Picture 2">
            <a:extLst>
              <a:ext uri="{FF2B5EF4-FFF2-40B4-BE49-F238E27FC236}">
                <a16:creationId xmlns:a16="http://schemas.microsoft.com/office/drawing/2014/main" id="{B53434FD-9D6C-4317-B840-95AD2ECFDED5}"/>
              </a:ext>
            </a:extLst>
          </p:cNvPr>
          <p:cNvPicPr>
            <a:picLocks noChangeAspect="1"/>
          </p:cNvPicPr>
          <p:nvPr/>
        </p:nvPicPr>
        <p:blipFill>
          <a:blip r:embed="rId2"/>
          <a:stretch>
            <a:fillRect/>
          </a:stretch>
        </p:blipFill>
        <p:spPr>
          <a:xfrm>
            <a:off x="6879342" y="2301172"/>
            <a:ext cx="4938188" cy="1569856"/>
          </a:xfrm>
          <a:prstGeom prst="rect">
            <a:avLst/>
          </a:prstGeom>
        </p:spPr>
      </p:pic>
    </p:spTree>
    <p:extLst>
      <p:ext uri="{BB962C8B-B14F-4D97-AF65-F5344CB8AC3E}">
        <p14:creationId xmlns:p14="http://schemas.microsoft.com/office/powerpoint/2010/main" val="3635186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9A40C-1DBB-4BD0-9BC4-60F43D85DDE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LAN Hardware - Switch</a:t>
            </a:r>
          </a:p>
        </p:txBody>
      </p:sp>
      <p:sp>
        <p:nvSpPr>
          <p:cNvPr id="6" name="Content Placeholder 5">
            <a:extLst>
              <a:ext uri="{FF2B5EF4-FFF2-40B4-BE49-F238E27FC236}">
                <a16:creationId xmlns:a16="http://schemas.microsoft.com/office/drawing/2014/main" id="{C7E9DD5C-FB03-4C87-964C-208E8EB0D00B}"/>
              </a:ext>
            </a:extLst>
          </p:cNvPr>
          <p:cNvSpPr>
            <a:spLocks noGrp="1"/>
          </p:cNvSpPr>
          <p:nvPr>
            <p:ph idx="1"/>
          </p:nvPr>
        </p:nvSpPr>
        <p:spPr>
          <a:xfrm>
            <a:off x="374469" y="868848"/>
            <a:ext cx="6235881" cy="5493851"/>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When a switch receives a data packet, it examines the destination MAC address and looks up that address in its lookup table</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Once it has found the matching MAC address, it will then forward the data packet to the corresponding port</a:t>
            </a:r>
            <a:endParaRPr lang="en-US" dirty="0"/>
          </a:p>
        </p:txBody>
      </p:sp>
      <p:sp>
        <p:nvSpPr>
          <p:cNvPr id="4" name="Footer Placeholder 3">
            <a:extLst>
              <a:ext uri="{FF2B5EF4-FFF2-40B4-BE49-F238E27FC236}">
                <a16:creationId xmlns:a16="http://schemas.microsoft.com/office/drawing/2014/main" id="{D45E78B4-85AC-4901-994B-7886791D5B0B}"/>
              </a:ext>
            </a:extLst>
          </p:cNvPr>
          <p:cNvSpPr>
            <a:spLocks noGrp="1"/>
          </p:cNvSpPr>
          <p:nvPr>
            <p:ph type="ftr" sz="quarter" idx="11"/>
          </p:nvPr>
        </p:nvSpPr>
        <p:spPr/>
        <p:txBody>
          <a:bodyPr/>
          <a:lstStyle/>
          <a:p>
            <a:r>
              <a:rPr lang="en-US"/>
              <a:t>Applications of ICT</a:t>
            </a:r>
            <a:endParaRPr lang="en-US" dirty="0"/>
          </a:p>
        </p:txBody>
      </p:sp>
      <p:graphicFrame>
        <p:nvGraphicFramePr>
          <p:cNvPr id="2" name="Table 1">
            <a:extLst>
              <a:ext uri="{FF2B5EF4-FFF2-40B4-BE49-F238E27FC236}">
                <a16:creationId xmlns:a16="http://schemas.microsoft.com/office/drawing/2014/main" id="{63B28AF6-3D79-45C2-A459-CF808DF59D4D}"/>
              </a:ext>
            </a:extLst>
          </p:cNvPr>
          <p:cNvGraphicFramePr>
            <a:graphicFrameLocks noGrp="1"/>
          </p:cNvGraphicFramePr>
          <p:nvPr>
            <p:extLst>
              <p:ext uri="{D42A27DB-BD31-4B8C-83A1-F6EECF244321}">
                <p14:modId xmlns:p14="http://schemas.microsoft.com/office/powerpoint/2010/main" val="3428208000"/>
              </p:ext>
            </p:extLst>
          </p:nvPr>
        </p:nvGraphicFramePr>
        <p:xfrm>
          <a:off x="6802755" y="1877535"/>
          <a:ext cx="5138600" cy="2329340"/>
        </p:xfrm>
        <a:graphic>
          <a:graphicData uri="http://schemas.openxmlformats.org/drawingml/2006/table">
            <a:tbl>
              <a:tblPr/>
              <a:tblGrid>
                <a:gridCol w="2569300">
                  <a:extLst>
                    <a:ext uri="{9D8B030D-6E8A-4147-A177-3AD203B41FA5}">
                      <a16:colId xmlns:a16="http://schemas.microsoft.com/office/drawing/2014/main" val="2026639651"/>
                    </a:ext>
                  </a:extLst>
                </a:gridCol>
                <a:gridCol w="2569300">
                  <a:extLst>
                    <a:ext uri="{9D8B030D-6E8A-4147-A177-3AD203B41FA5}">
                      <a16:colId xmlns:a16="http://schemas.microsoft.com/office/drawing/2014/main" val="480168434"/>
                    </a:ext>
                  </a:extLst>
                </a:gridCol>
              </a:tblGrid>
              <a:tr h="582335">
                <a:tc>
                  <a:txBody>
                    <a:bodyPr/>
                    <a:lstStyle/>
                    <a:p>
                      <a:pPr algn="ctr"/>
                      <a:r>
                        <a:rPr lang="en-US" b="1">
                          <a:solidFill>
                            <a:srgbClr val="323232"/>
                          </a:solidFill>
                          <a:effectLst/>
                          <a:latin typeface="Times New Roman" panose="02020603050405020304" pitchFamily="18" charset="0"/>
                          <a:cs typeface="Times New Roman" panose="02020603050405020304" pitchFamily="18" charset="0"/>
                        </a:rPr>
                        <a:t>Port</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ctr"/>
                      <a:r>
                        <a:rPr lang="en-US" b="1">
                          <a:solidFill>
                            <a:srgbClr val="323232"/>
                          </a:solidFill>
                          <a:effectLst/>
                          <a:latin typeface="Times New Roman" panose="02020603050405020304" pitchFamily="18" charset="0"/>
                          <a:cs typeface="Times New Roman" panose="02020603050405020304" pitchFamily="18" charset="0"/>
                        </a:rPr>
                        <a:t>Mac address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4013526432"/>
                  </a:ext>
                </a:extLst>
              </a:tr>
              <a:tr h="582335">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1</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DF-42-B2-11-4D-E3</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689659641"/>
                  </a:ext>
                </a:extLst>
              </a:tr>
              <a:tr h="582335">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2</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11-14-F2-1D-C3-C6</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351238600"/>
                  </a:ext>
                </a:extLst>
              </a:tr>
              <a:tr h="582335">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3</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pPr algn="ctr"/>
                      <a:r>
                        <a:rPr lang="en-US" dirty="0">
                          <a:solidFill>
                            <a:srgbClr val="323232"/>
                          </a:solidFill>
                          <a:effectLst/>
                          <a:latin typeface="Times New Roman" panose="02020603050405020304" pitchFamily="18" charset="0"/>
                          <a:cs typeface="Times New Roman" panose="02020603050405020304" pitchFamily="18" charset="0"/>
                        </a:rPr>
                        <a:t>00-4B-17-7C-A2-C9</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4072002895"/>
                  </a:ext>
                </a:extLst>
              </a:tr>
            </a:tbl>
          </a:graphicData>
        </a:graphic>
      </p:graphicFrame>
    </p:spTree>
    <p:extLst>
      <p:ext uri="{BB962C8B-B14F-4D97-AF65-F5344CB8AC3E}">
        <p14:creationId xmlns:p14="http://schemas.microsoft.com/office/powerpoint/2010/main" val="93210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16935-D734-4607-83E9-3B6FA43EA0D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Servers</a:t>
            </a:r>
          </a:p>
        </p:txBody>
      </p:sp>
      <p:sp>
        <p:nvSpPr>
          <p:cNvPr id="3" name="Content Placeholder 2">
            <a:extLst>
              <a:ext uri="{FF2B5EF4-FFF2-40B4-BE49-F238E27FC236}">
                <a16:creationId xmlns:a16="http://schemas.microsoft.com/office/drawing/2014/main" id="{A1FA10B4-FD88-4330-9C9A-BC3FE08F1A54}"/>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A server is a powerful computer that provides services or resources to other devices on a network (called clients)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Can manage and store files, host websites, control access to printers, or run applications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Often kept in dedicated rooms or data </a:t>
            </a:r>
            <a:r>
              <a:rPr lang="en-US" dirty="0" err="1">
                <a:latin typeface="Times New Roman" panose="02020603050405020304" pitchFamily="18" charset="0"/>
                <a:cs typeface="Times New Roman" panose="02020603050405020304" pitchFamily="18" charset="0"/>
              </a:rPr>
              <a:t>centres</a:t>
            </a:r>
            <a:r>
              <a:rPr lang="en-US" dirty="0">
                <a:latin typeface="Times New Roman" panose="02020603050405020304" pitchFamily="18" charset="0"/>
                <a:cs typeface="Times New Roman" panose="02020603050405020304" pitchFamily="18" charset="0"/>
              </a:rPr>
              <a:t> due to their importance and high uptime requirements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Designed to handle multiple requests at once and stay on 24/7</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Servers usually run specialist operating systems (e.g. Windows Server, Linux)</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Can be part of a LAN (local server) or accessed remotely over a WAN (cloud server)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Examples include: file server, print server, web server, mail server</a:t>
            </a:r>
          </a:p>
        </p:txBody>
      </p:sp>
      <p:sp>
        <p:nvSpPr>
          <p:cNvPr id="4" name="Footer Placeholder 3">
            <a:extLst>
              <a:ext uri="{FF2B5EF4-FFF2-40B4-BE49-F238E27FC236}">
                <a16:creationId xmlns:a16="http://schemas.microsoft.com/office/drawing/2014/main" id="{A9CB2899-494E-4E74-B68D-6A3DAAD88367}"/>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C5EB3571-4407-4F5D-80AE-EEF134E7F08A}"/>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686667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993E-0E8F-4A6C-BF9F-62058CADEED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Network Interface Card (NIC)</a:t>
            </a:r>
          </a:p>
        </p:txBody>
      </p:sp>
      <p:sp>
        <p:nvSpPr>
          <p:cNvPr id="3" name="Content Placeholder 2">
            <a:extLst>
              <a:ext uri="{FF2B5EF4-FFF2-40B4-BE49-F238E27FC236}">
                <a16:creationId xmlns:a16="http://schemas.microsoft.com/office/drawing/2014/main" id="{60037B4B-F114-48FA-94BD-3684B23C2DAA}"/>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Historically a card inserted into a slot on the motherboard but now more likely to be built into the motherboard, that enables a device to connect to a network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NICs have a built-in ethernet port and can be connected to a network via an ethernet cable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provides a dedicated, full-time connection to a network, converting the computer's data into a network-friendly format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Every NIC has a unique identifier called a MAC address, used to identify the device on the network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primary function of a NIC is to send and receive data packets between the computer or device and the network</a:t>
            </a:r>
          </a:p>
        </p:txBody>
      </p:sp>
      <p:sp>
        <p:nvSpPr>
          <p:cNvPr id="4" name="Footer Placeholder 3">
            <a:extLst>
              <a:ext uri="{FF2B5EF4-FFF2-40B4-BE49-F238E27FC236}">
                <a16:creationId xmlns:a16="http://schemas.microsoft.com/office/drawing/2014/main" id="{2EF3D464-355B-4B08-9B90-3E36ED5932EC}"/>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834D63A9-0E15-4645-866E-6F0149EF062D}"/>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825953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19F1-36EB-4D38-8FCA-7292A39B2E7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Interface Card (NIC)</a:t>
            </a:r>
          </a:p>
        </p:txBody>
      </p:sp>
      <p:pic>
        <p:nvPicPr>
          <p:cNvPr id="7" name="Content Placeholder 6">
            <a:extLst>
              <a:ext uri="{FF2B5EF4-FFF2-40B4-BE49-F238E27FC236}">
                <a16:creationId xmlns:a16="http://schemas.microsoft.com/office/drawing/2014/main" id="{596529C9-B0BE-434D-A07D-3DB57869CB0A}"/>
              </a:ext>
            </a:extLst>
          </p:cNvPr>
          <p:cNvPicPr>
            <a:picLocks noGrp="1" noChangeAspect="1"/>
          </p:cNvPicPr>
          <p:nvPr>
            <p:ph idx="1"/>
          </p:nvPr>
        </p:nvPicPr>
        <p:blipFill>
          <a:blip r:embed="rId2"/>
          <a:stretch>
            <a:fillRect/>
          </a:stretch>
        </p:blipFill>
        <p:spPr>
          <a:xfrm>
            <a:off x="3505200" y="997253"/>
            <a:ext cx="5353050" cy="5403266"/>
          </a:xfrm>
        </p:spPr>
      </p:pic>
      <p:sp>
        <p:nvSpPr>
          <p:cNvPr id="4" name="Footer Placeholder 3">
            <a:extLst>
              <a:ext uri="{FF2B5EF4-FFF2-40B4-BE49-F238E27FC236}">
                <a16:creationId xmlns:a16="http://schemas.microsoft.com/office/drawing/2014/main" id="{588D6321-750B-4709-9176-CE3B36A86003}"/>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4229E9D-4018-4B90-95BF-4115A427EDF7}"/>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849725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5D56E-3275-4FE6-ADB7-D56BF21A31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Wireless Network Interface Card (WNIC)</a:t>
            </a:r>
          </a:p>
        </p:txBody>
      </p:sp>
      <p:sp>
        <p:nvSpPr>
          <p:cNvPr id="3" name="Content Placeholder 2">
            <a:extLst>
              <a:ext uri="{FF2B5EF4-FFF2-40B4-BE49-F238E27FC236}">
                <a16:creationId xmlns:a16="http://schemas.microsoft.com/office/drawing/2014/main" id="{A6DB1CC7-8586-4AEE-B518-70093548F58C}"/>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Allows a device to connect to a wireless network (Wi-Fi)</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Often built into the motherboard of modern laptops, tablets, and smartphones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 radio waves to send and receive data to/from a wireless router or access point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Provides a dedicated connection to the network, without needing physical cables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Supports standard wireless protocols like Wi-Fi 4, 5, or 6 depending on the model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Has a unique MAC address used to identify the device on the network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Converts the device’s data into a wireless signal suitable for network transmission</a:t>
            </a:r>
          </a:p>
        </p:txBody>
      </p:sp>
      <p:sp>
        <p:nvSpPr>
          <p:cNvPr id="4" name="Footer Placeholder 3">
            <a:extLst>
              <a:ext uri="{FF2B5EF4-FFF2-40B4-BE49-F238E27FC236}">
                <a16:creationId xmlns:a16="http://schemas.microsoft.com/office/drawing/2014/main" id="{DE73D5EC-59F3-46CC-A1D5-59CAFE0AF71F}"/>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1907F65A-E345-4D0A-945D-44BCA826A1DB}"/>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3882372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71AE-733E-4EF3-94B6-A575D240BB4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Wireless Access Point (WAP)</a:t>
            </a:r>
          </a:p>
        </p:txBody>
      </p:sp>
      <p:sp>
        <p:nvSpPr>
          <p:cNvPr id="3" name="Content Placeholder 2">
            <a:extLst>
              <a:ext uri="{FF2B5EF4-FFF2-40B4-BE49-F238E27FC236}">
                <a16:creationId xmlns:a16="http://schemas.microsoft.com/office/drawing/2014/main" id="{978AD60B-28AE-4D4B-A7DC-0EFE666B6D35}"/>
              </a:ext>
            </a:extLst>
          </p:cNvPr>
          <p:cNvSpPr>
            <a:spLocks noGrp="1"/>
          </p:cNvSpPr>
          <p:nvPr>
            <p:ph idx="1"/>
          </p:nvPr>
        </p:nvSpPr>
        <p:spPr>
          <a:xfrm>
            <a:off x="374469" y="868849"/>
            <a:ext cx="6197781" cy="5618402"/>
          </a:xfrm>
        </p:spPr>
        <p:txBody>
          <a:bodyPr>
            <a:normAutofit/>
          </a:bodyPr>
          <a:lstStyle/>
          <a:p>
            <a:r>
              <a:rPr lang="en-US" sz="2400" dirty="0">
                <a:latin typeface="Times New Roman" panose="02020603050405020304" pitchFamily="18" charset="0"/>
                <a:cs typeface="Times New Roman" panose="02020603050405020304" pitchFamily="18" charset="0"/>
              </a:rPr>
              <a:t>Allows wireless devices to connect to a wired network</a:t>
            </a:r>
          </a:p>
          <a:p>
            <a:r>
              <a:rPr lang="en-US" sz="2400" dirty="0">
                <a:latin typeface="Times New Roman" panose="02020603050405020304" pitchFamily="18" charset="0"/>
                <a:cs typeface="Times New Roman" panose="02020603050405020304" pitchFamily="18" charset="0"/>
              </a:rPr>
              <a:t>Acts like a bridge between the wired and wireless parts of a network</a:t>
            </a:r>
          </a:p>
          <a:p>
            <a:r>
              <a:rPr lang="en-US" sz="2400" dirty="0">
                <a:latin typeface="Times New Roman" panose="02020603050405020304" pitchFamily="18" charset="0"/>
                <a:cs typeface="Times New Roman" panose="02020603050405020304" pitchFamily="18" charset="0"/>
              </a:rPr>
              <a:t>Commonly found in homes, schools, and offices as part of a Wi-Fi setup</a:t>
            </a:r>
          </a:p>
          <a:p>
            <a:r>
              <a:rPr lang="en-US" sz="2400" dirty="0">
                <a:latin typeface="Times New Roman" panose="02020603050405020304" pitchFamily="18" charset="0"/>
                <a:cs typeface="Times New Roman" panose="02020603050405020304" pitchFamily="18" charset="0"/>
              </a:rPr>
              <a:t>Often built into wireless routers, but can also be a separate device in larger networks</a:t>
            </a:r>
          </a:p>
          <a:p>
            <a:r>
              <a:rPr lang="en-US" sz="2400" dirty="0">
                <a:latin typeface="Times New Roman" panose="02020603050405020304" pitchFamily="18" charset="0"/>
                <a:cs typeface="Times New Roman" panose="02020603050405020304" pitchFamily="18" charset="0"/>
              </a:rPr>
              <a:t>Uses radio signals to send and receive data from wireless devices (e.g. laptops, phones)</a:t>
            </a:r>
          </a:p>
          <a:p>
            <a:r>
              <a:rPr lang="en-US" sz="2400" dirty="0">
                <a:latin typeface="Times New Roman" panose="02020603050405020304" pitchFamily="18" charset="0"/>
                <a:cs typeface="Times New Roman" panose="02020603050405020304" pitchFamily="18" charset="0"/>
              </a:rPr>
              <a:t>Extends the range of the wireless network, especially in large buildings</a:t>
            </a:r>
          </a:p>
          <a:p>
            <a:r>
              <a:rPr lang="en-US" sz="2400" dirty="0">
                <a:latin typeface="Times New Roman" panose="02020603050405020304" pitchFamily="18" charset="0"/>
                <a:cs typeface="Times New Roman" panose="02020603050405020304" pitchFamily="18" charset="0"/>
              </a:rPr>
              <a:t>Supports communication using standard Wi-Fi protocols (e.g. 802.11ac, 802.11ax)</a:t>
            </a:r>
          </a:p>
        </p:txBody>
      </p:sp>
      <p:sp>
        <p:nvSpPr>
          <p:cNvPr id="4" name="Footer Placeholder 3">
            <a:extLst>
              <a:ext uri="{FF2B5EF4-FFF2-40B4-BE49-F238E27FC236}">
                <a16:creationId xmlns:a16="http://schemas.microsoft.com/office/drawing/2014/main" id="{FE8E12CE-7FBC-4BBE-93E2-BE51B2DC7711}"/>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9E343BE3-F67D-476E-9517-466DA472E5EF}"/>
              </a:ext>
            </a:extLst>
          </p:cNvPr>
          <p:cNvSpPr>
            <a:spLocks noGrp="1"/>
          </p:cNvSpPr>
          <p:nvPr>
            <p:ph type="sldNum" sz="quarter" idx="12"/>
          </p:nvPr>
        </p:nvSpPr>
        <p:spPr/>
        <p:txBody>
          <a:bodyPr/>
          <a:lstStyle/>
          <a:p>
            <a:fld id="{B6F15528-21DE-4FAA-801E-634DDDAF4B2B}" type="slidenum">
              <a:rPr lang="en-US" smtClean="0"/>
              <a:pPr/>
              <a:t>41</a:t>
            </a:fld>
            <a:endParaRPr lang="en-US"/>
          </a:p>
        </p:txBody>
      </p:sp>
      <p:pic>
        <p:nvPicPr>
          <p:cNvPr id="6" name="Picture 5">
            <a:extLst>
              <a:ext uri="{FF2B5EF4-FFF2-40B4-BE49-F238E27FC236}">
                <a16:creationId xmlns:a16="http://schemas.microsoft.com/office/drawing/2014/main" id="{655398E0-A0EB-4F0A-9ACD-3B589FC96942}"/>
              </a:ext>
            </a:extLst>
          </p:cNvPr>
          <p:cNvPicPr>
            <a:picLocks noChangeAspect="1"/>
          </p:cNvPicPr>
          <p:nvPr/>
        </p:nvPicPr>
        <p:blipFill>
          <a:blip r:embed="rId2"/>
          <a:stretch>
            <a:fillRect/>
          </a:stretch>
        </p:blipFill>
        <p:spPr>
          <a:xfrm>
            <a:off x="6970031" y="1233974"/>
            <a:ext cx="4847499" cy="4847499"/>
          </a:xfrm>
          <a:prstGeom prst="rect">
            <a:avLst/>
          </a:prstGeom>
        </p:spPr>
      </p:pic>
    </p:spTree>
    <p:extLst>
      <p:ext uri="{BB962C8B-B14F-4D97-AF65-F5344CB8AC3E}">
        <p14:creationId xmlns:p14="http://schemas.microsoft.com/office/powerpoint/2010/main" val="27602985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4B08-8A63-41A1-8778-E8852ED566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Bridge and Repeaters</a:t>
            </a:r>
          </a:p>
        </p:txBody>
      </p:sp>
      <p:sp>
        <p:nvSpPr>
          <p:cNvPr id="6" name="Content Placeholder 5">
            <a:extLst>
              <a:ext uri="{FF2B5EF4-FFF2-40B4-BE49-F238E27FC236}">
                <a16:creationId xmlns:a16="http://schemas.microsoft.com/office/drawing/2014/main" id="{FBF7A6BE-7474-41B5-A119-A8F302E82334}"/>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Bridge </a:t>
            </a:r>
          </a:p>
          <a:p>
            <a:pPr lvl="1"/>
            <a:r>
              <a:rPr lang="en-US" dirty="0">
                <a:latin typeface="Times New Roman" panose="02020603050405020304" pitchFamily="18" charset="0"/>
                <a:cs typeface="Times New Roman" panose="02020603050405020304" pitchFamily="18" charset="0"/>
              </a:rPr>
              <a:t>Connects two separate network segments so they function as one larger LAN.</a:t>
            </a:r>
          </a:p>
          <a:p>
            <a:pPr lvl="1"/>
            <a:r>
              <a:rPr lang="en-US" dirty="0">
                <a:latin typeface="Times New Roman" panose="02020603050405020304" pitchFamily="18" charset="0"/>
                <a:cs typeface="Times New Roman" panose="02020603050405020304" pitchFamily="18" charset="0"/>
              </a:rPr>
              <a:t>Operates at the Data Link Layer (Layer 2) and filters traffic using MAC addresses.</a:t>
            </a:r>
          </a:p>
          <a:p>
            <a:pPr lvl="1"/>
            <a:r>
              <a:rPr lang="en-US" dirty="0">
                <a:latin typeface="Times New Roman" panose="02020603050405020304" pitchFamily="18" charset="0"/>
                <a:cs typeface="Times New Roman" panose="02020603050405020304" pitchFamily="18" charset="0"/>
              </a:rPr>
              <a:t>Reduces unnecessary network traffic by only forwarding data when needed.</a:t>
            </a:r>
          </a:p>
        </p:txBody>
      </p:sp>
      <p:sp>
        <p:nvSpPr>
          <p:cNvPr id="7" name="Content Placeholder 6">
            <a:extLst>
              <a:ext uri="{FF2B5EF4-FFF2-40B4-BE49-F238E27FC236}">
                <a16:creationId xmlns:a16="http://schemas.microsoft.com/office/drawing/2014/main" id="{A573E311-7363-429D-800E-6F16E0B2A2DC}"/>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Repeater </a:t>
            </a:r>
          </a:p>
          <a:p>
            <a:pPr lvl="1"/>
            <a:r>
              <a:rPr lang="en-US" dirty="0">
                <a:latin typeface="Times New Roman" panose="02020603050405020304" pitchFamily="18" charset="0"/>
                <a:cs typeface="Times New Roman" panose="02020603050405020304" pitchFamily="18" charset="0"/>
              </a:rPr>
              <a:t>Regenerates and boosts weak signals to extend the range of a network.</a:t>
            </a:r>
          </a:p>
          <a:p>
            <a:pPr lvl="1"/>
            <a:r>
              <a:rPr lang="en-US" dirty="0">
                <a:latin typeface="Times New Roman" panose="02020603050405020304" pitchFamily="18" charset="0"/>
                <a:cs typeface="Times New Roman" panose="02020603050405020304" pitchFamily="18" charset="0"/>
              </a:rPr>
              <a:t>Operates at the Physical Layer (Layer 1) of the OSI model.</a:t>
            </a:r>
          </a:p>
          <a:p>
            <a:pPr lvl="1"/>
            <a:r>
              <a:rPr lang="en-US" dirty="0">
                <a:latin typeface="Times New Roman" panose="02020603050405020304" pitchFamily="18" charset="0"/>
                <a:cs typeface="Times New Roman" panose="02020603050405020304" pitchFamily="18" charset="0"/>
              </a:rPr>
              <a:t>Ensures data can travel long distances without losing quality.</a:t>
            </a:r>
          </a:p>
        </p:txBody>
      </p:sp>
      <p:sp>
        <p:nvSpPr>
          <p:cNvPr id="4" name="Footer Placeholder 3">
            <a:extLst>
              <a:ext uri="{FF2B5EF4-FFF2-40B4-BE49-F238E27FC236}">
                <a16:creationId xmlns:a16="http://schemas.microsoft.com/office/drawing/2014/main" id="{6F479C11-8531-47FB-A4FD-7C2896FBC614}"/>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B372C693-4A6C-4C54-A5B4-EB4A1B3F9B13}"/>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254988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DD66A6-F015-4F65-8D3A-DF466BB3C67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Role of Routers</a:t>
            </a:r>
          </a:p>
        </p:txBody>
      </p:sp>
      <p:sp>
        <p:nvSpPr>
          <p:cNvPr id="8" name="Content Placeholder 7">
            <a:extLst>
              <a:ext uri="{FF2B5EF4-FFF2-40B4-BE49-F238E27FC236}">
                <a16:creationId xmlns:a16="http://schemas.microsoft.com/office/drawing/2014/main" id="{9CC95BAC-8A12-45BD-864D-F2A56550567E}"/>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 router is a network hardware device that routes data from a local area network (LAN) to another network connection - it joins two networks together</a:t>
            </a:r>
          </a:p>
          <a:p>
            <a:r>
              <a:rPr lang="en-US" dirty="0">
                <a:latin typeface="Times New Roman" panose="02020603050405020304" pitchFamily="18" charset="0"/>
                <a:cs typeface="Times New Roman" panose="02020603050405020304" pitchFamily="18" charset="0"/>
              </a:rPr>
              <a:t>Routers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data packets and determine the best path for the packet to reach its destination</a:t>
            </a:r>
          </a:p>
          <a:p>
            <a:pPr lvl="1"/>
            <a:r>
              <a:rPr lang="en-US" dirty="0">
                <a:latin typeface="Times New Roman" panose="02020603050405020304" pitchFamily="18" charset="0"/>
                <a:cs typeface="Times New Roman" panose="02020603050405020304" pitchFamily="18" charset="0"/>
              </a:rPr>
              <a:t>The header contains information about the packet</a:t>
            </a:r>
          </a:p>
          <a:p>
            <a:pPr lvl="1"/>
            <a:r>
              <a:rPr lang="en-US" dirty="0">
                <a:latin typeface="Times New Roman" panose="02020603050405020304" pitchFamily="18" charset="0"/>
                <a:cs typeface="Times New Roman" panose="02020603050405020304" pitchFamily="18" charset="0"/>
              </a:rPr>
              <a:t>The payload is the actual data being sent</a:t>
            </a:r>
          </a:p>
          <a:p>
            <a:pPr lvl="1"/>
            <a:r>
              <a:rPr lang="en-US" dirty="0">
                <a:latin typeface="Times New Roman" panose="02020603050405020304" pitchFamily="18" charset="0"/>
                <a:cs typeface="Times New Roman" panose="02020603050405020304" pitchFamily="18" charset="0"/>
              </a:rPr>
              <a:t>The IP address of both the sender and intended recipient is stored in the header of the data packet</a:t>
            </a:r>
          </a:p>
        </p:txBody>
      </p:sp>
      <p:sp>
        <p:nvSpPr>
          <p:cNvPr id="5" name="Footer Placeholder 4">
            <a:extLst>
              <a:ext uri="{FF2B5EF4-FFF2-40B4-BE49-F238E27FC236}">
                <a16:creationId xmlns:a16="http://schemas.microsoft.com/office/drawing/2014/main" id="{1BDAC188-A463-440F-9DCB-9C0C9481AF08}"/>
              </a:ext>
            </a:extLst>
          </p:cNvPr>
          <p:cNvSpPr>
            <a:spLocks noGrp="1"/>
          </p:cNvSpPr>
          <p:nvPr>
            <p:ph type="ftr" sz="quarter" idx="11"/>
          </p:nvPr>
        </p:nvSpPr>
        <p:spPr/>
        <p:txBody>
          <a:bodyPr/>
          <a:lstStyle/>
          <a:p>
            <a:r>
              <a:rPr lang="en-US"/>
              <a:t>Applications of ICT</a:t>
            </a:r>
            <a:endParaRPr lang="en-US" dirty="0"/>
          </a:p>
        </p:txBody>
      </p:sp>
      <p:sp>
        <p:nvSpPr>
          <p:cNvPr id="6" name="Slide Number Placeholder 5">
            <a:extLst>
              <a:ext uri="{FF2B5EF4-FFF2-40B4-BE49-F238E27FC236}">
                <a16:creationId xmlns:a16="http://schemas.microsoft.com/office/drawing/2014/main" id="{80657C5F-8E9C-40E0-9279-7FC6F177EB31}"/>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618863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9021-552A-4FAA-9E9D-1FD708230F2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Role of Routers</a:t>
            </a:r>
          </a:p>
        </p:txBody>
      </p:sp>
      <p:sp>
        <p:nvSpPr>
          <p:cNvPr id="3" name="Content Placeholder 2">
            <a:extLst>
              <a:ext uri="{FF2B5EF4-FFF2-40B4-BE49-F238E27FC236}">
                <a16:creationId xmlns:a16="http://schemas.microsoft.com/office/drawing/2014/main" id="{EFC7E8E3-52E6-4D5D-9200-77B18D4F6D7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router can often feature additional functionalities such as wireless networking, built-in firewalls for enhanced security, and network switch capabilities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router being used to connect a LAN to a WAN will have a public IP address, which has been assigned to it by an Internet Service Provider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is this public IP address that other routers use to identify and direct packets to the network</a:t>
            </a:r>
          </a:p>
        </p:txBody>
      </p:sp>
      <p:sp>
        <p:nvSpPr>
          <p:cNvPr id="4" name="Footer Placeholder 3">
            <a:extLst>
              <a:ext uri="{FF2B5EF4-FFF2-40B4-BE49-F238E27FC236}">
                <a16:creationId xmlns:a16="http://schemas.microsoft.com/office/drawing/2014/main" id="{FDA418E1-16B2-4FD6-8D91-E1CBC595811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A00AAB8B-A90E-450D-8F90-D52D7CFC4067}"/>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297539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9021-552A-4FAA-9E9D-1FD708230F2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Role of Routers</a:t>
            </a:r>
          </a:p>
        </p:txBody>
      </p:sp>
      <p:sp>
        <p:nvSpPr>
          <p:cNvPr id="3" name="Content Placeholder 2">
            <a:extLst>
              <a:ext uri="{FF2B5EF4-FFF2-40B4-BE49-F238E27FC236}">
                <a16:creationId xmlns:a16="http://schemas.microsoft.com/office/drawing/2014/main" id="{EFC7E8E3-52E6-4D5D-9200-77B18D4F6D76}"/>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If the data packet is coming into the LAN, the router will send the data packet to the specific device within its LAN that the packet is meant for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the packet is being sent from a device within the LAN, it will read the header of the packet to determine the intended destination IP address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might have to travel through several routers before it gets to its destination</a:t>
            </a:r>
          </a:p>
          <a:p>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Each pass from router to router is called a hop</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It will then forward the packet to its destination</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network access device or ‘home hub’ used in your home network will have a router built into it</a:t>
            </a:r>
          </a:p>
        </p:txBody>
      </p:sp>
      <p:sp>
        <p:nvSpPr>
          <p:cNvPr id="4" name="Footer Placeholder 3">
            <a:extLst>
              <a:ext uri="{FF2B5EF4-FFF2-40B4-BE49-F238E27FC236}">
                <a16:creationId xmlns:a16="http://schemas.microsoft.com/office/drawing/2014/main" id="{FDA418E1-16B2-4FD6-8D91-E1CBC595811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A00AAB8B-A90E-450D-8F90-D52D7CFC4067}"/>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4116323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27C4-BB98-40EB-BEB7-4C1265E2697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Role of Routers</a:t>
            </a:r>
          </a:p>
        </p:txBody>
      </p:sp>
      <p:pic>
        <p:nvPicPr>
          <p:cNvPr id="6" name="Content Placeholder 5">
            <a:extLst>
              <a:ext uri="{FF2B5EF4-FFF2-40B4-BE49-F238E27FC236}">
                <a16:creationId xmlns:a16="http://schemas.microsoft.com/office/drawing/2014/main" id="{8C2CD7DF-95D4-488C-924A-1DBD4F59C36F}"/>
              </a:ext>
            </a:extLst>
          </p:cNvPr>
          <p:cNvPicPr>
            <a:picLocks noGrp="1" noChangeAspect="1"/>
          </p:cNvPicPr>
          <p:nvPr>
            <p:ph idx="1"/>
          </p:nvPr>
        </p:nvPicPr>
        <p:blipFill>
          <a:blip r:embed="rId2"/>
          <a:stretch>
            <a:fillRect/>
          </a:stretch>
        </p:blipFill>
        <p:spPr>
          <a:xfrm>
            <a:off x="1447800" y="996897"/>
            <a:ext cx="9134475" cy="5139806"/>
          </a:xfrm>
          <a:prstGeom prst="rect">
            <a:avLst/>
          </a:prstGeom>
        </p:spPr>
      </p:pic>
      <p:sp>
        <p:nvSpPr>
          <p:cNvPr id="4" name="Footer Placeholder 3">
            <a:extLst>
              <a:ext uri="{FF2B5EF4-FFF2-40B4-BE49-F238E27FC236}">
                <a16:creationId xmlns:a16="http://schemas.microsoft.com/office/drawing/2014/main" id="{79736BB8-234D-4114-8B86-FCEE25251A35}"/>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5C0B5834-2E4E-4DB0-A8B6-D5D5B46A741F}"/>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573061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03B2-B7B1-49E8-9B20-9E8DB89F6EC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Steps</a:t>
            </a:r>
          </a:p>
        </p:txBody>
      </p:sp>
      <p:graphicFrame>
        <p:nvGraphicFramePr>
          <p:cNvPr id="6" name="Content Placeholder 5">
            <a:extLst>
              <a:ext uri="{FF2B5EF4-FFF2-40B4-BE49-F238E27FC236}">
                <a16:creationId xmlns:a16="http://schemas.microsoft.com/office/drawing/2014/main" id="{9645494A-A91F-4544-9867-F601D6B84773}"/>
              </a:ext>
            </a:extLst>
          </p:cNvPr>
          <p:cNvGraphicFramePr>
            <a:graphicFrameLocks noGrp="1"/>
          </p:cNvGraphicFramePr>
          <p:nvPr>
            <p:ph idx="1"/>
            <p:extLst>
              <p:ext uri="{D42A27DB-BD31-4B8C-83A1-F6EECF244321}">
                <p14:modId xmlns:p14="http://schemas.microsoft.com/office/powerpoint/2010/main" val="1075098165"/>
              </p:ext>
            </p:extLst>
          </p:nvPr>
        </p:nvGraphicFramePr>
        <p:xfrm>
          <a:off x="374469" y="1426650"/>
          <a:ext cx="11103156" cy="4004699"/>
        </p:xfrm>
        <a:graphic>
          <a:graphicData uri="http://schemas.openxmlformats.org/drawingml/2006/table">
            <a:tbl>
              <a:tblPr/>
              <a:tblGrid>
                <a:gridCol w="5551578">
                  <a:extLst>
                    <a:ext uri="{9D8B030D-6E8A-4147-A177-3AD203B41FA5}">
                      <a16:colId xmlns:a16="http://schemas.microsoft.com/office/drawing/2014/main" val="4215846513"/>
                    </a:ext>
                  </a:extLst>
                </a:gridCol>
                <a:gridCol w="5551578">
                  <a:extLst>
                    <a:ext uri="{9D8B030D-6E8A-4147-A177-3AD203B41FA5}">
                      <a16:colId xmlns:a16="http://schemas.microsoft.com/office/drawing/2014/main" val="420319570"/>
                    </a:ext>
                  </a:extLst>
                </a:gridCol>
              </a:tblGrid>
              <a:tr h="323461">
                <a:tc>
                  <a:txBody>
                    <a:bodyPr/>
                    <a:lstStyle/>
                    <a:p>
                      <a:pPr algn="ctr"/>
                      <a:r>
                        <a:rPr lang="en-US" b="1">
                          <a:solidFill>
                            <a:srgbClr val="323232"/>
                          </a:solidFill>
                          <a:effectLst/>
                          <a:latin typeface="Times New Roman" panose="02020603050405020304" pitchFamily="18" charset="0"/>
                          <a:cs typeface="Times New Roman" panose="02020603050405020304" pitchFamily="18" charset="0"/>
                        </a:rPr>
                        <a:t>Step</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ctr"/>
                      <a:r>
                        <a:rPr lang="en-US" b="1">
                          <a:solidFill>
                            <a:srgbClr val="323232"/>
                          </a:solidFill>
                          <a:effectLst/>
                          <a:latin typeface="Times New Roman" panose="02020603050405020304" pitchFamily="18" charset="0"/>
                          <a:cs typeface="Times New Roman" panose="02020603050405020304" pitchFamily="18" charset="0"/>
                        </a:rPr>
                        <a:t>Description</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660290930"/>
                  </a:ext>
                </a:extLst>
              </a:tr>
              <a:tr h="1293845">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1</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a:solidFill>
                            <a:srgbClr val="323232"/>
                          </a:solidFill>
                          <a:effectLst/>
                          <a:latin typeface="Times New Roman" panose="02020603050405020304" pitchFamily="18" charset="0"/>
                          <a:cs typeface="Times New Roman" panose="02020603050405020304" pitchFamily="18" charset="0"/>
                        </a:rPr>
                        <a:t>A router receives incoming data packets from one network and analyses the packet header to determine the destination IP address</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4049979839"/>
                  </a:ext>
                </a:extLst>
              </a:tr>
              <a:tr h="1536441">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2</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a:solidFill>
                            <a:srgbClr val="323232"/>
                          </a:solidFill>
                          <a:effectLst/>
                          <a:latin typeface="Times New Roman" panose="02020603050405020304" pitchFamily="18" charset="0"/>
                          <a:cs typeface="Times New Roman" panose="02020603050405020304" pitchFamily="18" charset="0"/>
                        </a:rPr>
                        <a:t>It then looks up the IP address in a routing table (routing table of known networks) to determine the next network where the packet should be sent</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107653963"/>
                  </a:ext>
                </a:extLst>
              </a:tr>
              <a:tr h="808653">
                <a:tc>
                  <a:txBody>
                    <a:bodyPr/>
                    <a:lstStyle/>
                    <a:p>
                      <a:pPr algn="ctr"/>
                      <a:r>
                        <a:rPr lang="en-US">
                          <a:solidFill>
                            <a:srgbClr val="323232"/>
                          </a:solidFill>
                          <a:effectLst/>
                          <a:latin typeface="Times New Roman" panose="02020603050405020304" pitchFamily="18" charset="0"/>
                          <a:cs typeface="Times New Roman" panose="02020603050405020304" pitchFamily="18" charset="0"/>
                        </a:rPr>
                        <a:t>3</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dirty="0">
                          <a:solidFill>
                            <a:srgbClr val="323232"/>
                          </a:solidFill>
                          <a:effectLst/>
                          <a:latin typeface="Times New Roman" panose="02020603050405020304" pitchFamily="18" charset="0"/>
                          <a:cs typeface="Times New Roman" panose="02020603050405020304" pitchFamily="18" charset="0"/>
                        </a:rPr>
                        <a:t>The router then forwards the packet to the appropriate network or device</a:t>
                      </a:r>
                    </a:p>
                  </a:txBody>
                  <a:tcPr>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3664588553"/>
                  </a:ext>
                </a:extLst>
              </a:tr>
            </a:tbl>
          </a:graphicData>
        </a:graphic>
      </p:graphicFrame>
      <p:sp>
        <p:nvSpPr>
          <p:cNvPr id="4" name="Footer Placeholder 3">
            <a:extLst>
              <a:ext uri="{FF2B5EF4-FFF2-40B4-BE49-F238E27FC236}">
                <a16:creationId xmlns:a16="http://schemas.microsoft.com/office/drawing/2014/main" id="{04F29049-44D5-44C3-9798-4B87B9A9ED65}"/>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066D0E8-258E-4861-B5B3-EEE498D3E1C3}"/>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619799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ABD9A-E53A-400E-BF24-E189B33D013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Other Functions</a:t>
            </a:r>
          </a:p>
        </p:txBody>
      </p:sp>
      <p:sp>
        <p:nvSpPr>
          <p:cNvPr id="3" name="Content Placeholder 2">
            <a:extLst>
              <a:ext uri="{FF2B5EF4-FFF2-40B4-BE49-F238E27FC236}">
                <a16:creationId xmlns:a16="http://schemas.microsoft.com/office/drawing/2014/main" id="{7204A8FB-CC66-486E-98CA-3FF50245F93D}"/>
              </a:ext>
            </a:extLst>
          </p:cNvPr>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Assigning IP addresses to devices within the LAN</a:t>
            </a:r>
          </a:p>
          <a:p>
            <a:r>
              <a:rPr lang="en-US" dirty="0">
                <a:latin typeface="Times New Roman" panose="02020603050405020304" pitchFamily="18" charset="0"/>
                <a:cs typeface="Times New Roman" panose="02020603050405020304" pitchFamily="18" charset="0"/>
              </a:rPr>
              <a:t>Filtering incoming traffic based on certain criteria, such as IP address, port number, or protocol type</a:t>
            </a:r>
          </a:p>
        </p:txBody>
      </p:sp>
      <p:sp>
        <p:nvSpPr>
          <p:cNvPr id="4" name="Footer Placeholder 3">
            <a:extLst>
              <a:ext uri="{FF2B5EF4-FFF2-40B4-BE49-F238E27FC236}">
                <a16:creationId xmlns:a16="http://schemas.microsoft.com/office/drawing/2014/main" id="{28DB2A94-C776-47B0-8896-41D3F6925E04}"/>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211FB0B-9C7A-4606-8380-B9B39022B337}"/>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2572554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4AAF-0197-4850-A3C3-E0F303AEB5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Ethernet</a:t>
            </a:r>
          </a:p>
        </p:txBody>
      </p:sp>
      <p:sp>
        <p:nvSpPr>
          <p:cNvPr id="3" name="Content Placeholder 2">
            <a:extLst>
              <a:ext uri="{FF2B5EF4-FFF2-40B4-BE49-F238E27FC236}">
                <a16:creationId xmlns:a16="http://schemas.microsoft.com/office/drawing/2014/main" id="{9C31D6C7-E6BA-408E-A7D5-3F2A87AC9F9F}"/>
              </a:ext>
            </a:extLst>
          </p:cNvPr>
          <p:cNvSpPr>
            <a:spLocks noGrp="1"/>
          </p:cNvSpPr>
          <p:nvPr>
            <p:ph idx="1"/>
          </p:nvPr>
        </p:nvSpPr>
        <p:spPr>
          <a:xfrm>
            <a:off x="374468" y="868848"/>
            <a:ext cx="6912157" cy="5741502"/>
          </a:xfrm>
        </p:spPr>
        <p:txBody>
          <a:bodyPr>
            <a:normAutofit/>
          </a:bodyPr>
          <a:lstStyle/>
          <a:p>
            <a:r>
              <a:rPr lang="en-US" sz="2800" dirty="0">
                <a:latin typeface="Times New Roman" panose="02020603050405020304" pitchFamily="18" charset="0"/>
                <a:cs typeface="Times New Roman" panose="02020603050405020304" pitchFamily="18" charset="0"/>
              </a:rPr>
              <a:t>Ethernet is a wired networking standard used in LANs.</a:t>
            </a:r>
          </a:p>
          <a:p>
            <a:r>
              <a:rPr lang="en-US" sz="2800" dirty="0">
                <a:latin typeface="Times New Roman" panose="02020603050405020304" pitchFamily="18" charset="0"/>
                <a:cs typeface="Times New Roman" panose="02020603050405020304" pitchFamily="18" charset="0"/>
              </a:rPr>
              <a:t>It defines how devices send and receive data over cables.</a:t>
            </a:r>
          </a:p>
          <a:p>
            <a:r>
              <a:rPr lang="en-US" sz="2800" dirty="0">
                <a:latin typeface="Times New Roman" panose="02020603050405020304" pitchFamily="18" charset="0"/>
                <a:cs typeface="Times New Roman" panose="02020603050405020304" pitchFamily="18" charset="0"/>
              </a:rPr>
              <a:t>Data is transmitted in small units called frames.</a:t>
            </a:r>
          </a:p>
          <a:p>
            <a:r>
              <a:rPr lang="en-US" sz="2800" dirty="0">
                <a:latin typeface="Times New Roman" panose="02020603050405020304" pitchFamily="18" charset="0"/>
                <a:cs typeface="Times New Roman" panose="02020603050405020304" pitchFamily="18" charset="0"/>
              </a:rPr>
              <a:t>Each frame includes source &amp; destination MAC addresses.</a:t>
            </a:r>
          </a:p>
          <a:p>
            <a:r>
              <a:rPr lang="en-US" sz="2800" dirty="0">
                <a:latin typeface="Times New Roman" panose="02020603050405020304" pitchFamily="18" charset="0"/>
                <a:cs typeface="Times New Roman" panose="02020603050405020304" pitchFamily="18" charset="0"/>
              </a:rPr>
              <a:t>Ethernet uses CSMA/CD to detect and avoid collisions.</a:t>
            </a:r>
          </a:p>
          <a:p>
            <a:r>
              <a:rPr lang="en-US" sz="2800" dirty="0">
                <a:latin typeface="Times New Roman" panose="02020603050405020304" pitchFamily="18" charset="0"/>
                <a:cs typeface="Times New Roman" panose="02020603050405020304" pitchFamily="18" charset="0"/>
              </a:rPr>
              <a:t>It ensures reliable communication through error checking (FCS – Frame Check Sequence).</a:t>
            </a:r>
          </a:p>
        </p:txBody>
      </p:sp>
      <p:sp>
        <p:nvSpPr>
          <p:cNvPr id="4" name="Footer Placeholder 3">
            <a:extLst>
              <a:ext uri="{FF2B5EF4-FFF2-40B4-BE49-F238E27FC236}">
                <a16:creationId xmlns:a16="http://schemas.microsoft.com/office/drawing/2014/main" id="{6527F2C5-86A3-4733-8EFD-2406276F0C62}"/>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C9AC31CC-7F1A-42AA-842E-9909FA9B8A9E}"/>
              </a:ext>
            </a:extLst>
          </p:cNvPr>
          <p:cNvSpPr>
            <a:spLocks noGrp="1"/>
          </p:cNvSpPr>
          <p:nvPr>
            <p:ph type="sldNum" sz="quarter" idx="12"/>
          </p:nvPr>
        </p:nvSpPr>
        <p:spPr/>
        <p:txBody>
          <a:bodyPr/>
          <a:lstStyle/>
          <a:p>
            <a:fld id="{B6F15528-21DE-4FAA-801E-634DDDAF4B2B}" type="slidenum">
              <a:rPr lang="en-US" smtClean="0"/>
              <a:pPr/>
              <a:t>49</a:t>
            </a:fld>
            <a:endParaRPr lang="en-US"/>
          </a:p>
        </p:txBody>
      </p:sp>
      <p:pic>
        <p:nvPicPr>
          <p:cNvPr id="6" name="Picture 5">
            <a:extLst>
              <a:ext uri="{FF2B5EF4-FFF2-40B4-BE49-F238E27FC236}">
                <a16:creationId xmlns:a16="http://schemas.microsoft.com/office/drawing/2014/main" id="{712F84B0-CF3A-44CF-BE3D-FE512D619E19}"/>
              </a:ext>
            </a:extLst>
          </p:cNvPr>
          <p:cNvPicPr>
            <a:picLocks noChangeAspect="1"/>
          </p:cNvPicPr>
          <p:nvPr/>
        </p:nvPicPr>
        <p:blipFill>
          <a:blip r:embed="rId2"/>
          <a:stretch>
            <a:fillRect/>
          </a:stretch>
        </p:blipFill>
        <p:spPr>
          <a:xfrm>
            <a:off x="7623144" y="2190750"/>
            <a:ext cx="4279743" cy="2847975"/>
          </a:xfrm>
          <a:prstGeom prst="rect">
            <a:avLst/>
          </a:prstGeom>
        </p:spPr>
      </p:pic>
    </p:spTree>
    <p:extLst>
      <p:ext uri="{BB962C8B-B14F-4D97-AF65-F5344CB8AC3E}">
        <p14:creationId xmlns:p14="http://schemas.microsoft.com/office/powerpoint/2010/main" val="4263959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5389-7864-402B-8316-02F47712988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Ethernet Frames</a:t>
            </a:r>
          </a:p>
        </p:txBody>
      </p:sp>
      <p:sp>
        <p:nvSpPr>
          <p:cNvPr id="3" name="Content Placeholder 2">
            <a:extLst>
              <a:ext uri="{FF2B5EF4-FFF2-40B4-BE49-F238E27FC236}">
                <a16:creationId xmlns:a16="http://schemas.microsoft.com/office/drawing/2014/main" id="{9AC9D9EB-ADA4-4D7D-BE9C-C5C493FB7A8F}"/>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Data is transmitted across the network in structured units called frames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Each frame typically includes:</a:t>
            </a:r>
          </a:p>
          <a:p>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Preamble – A sequence of bits used to </a:t>
            </a:r>
            <a:r>
              <a:rPr lang="en-US" dirty="0" err="1">
                <a:latin typeface="Times New Roman" panose="02020603050405020304" pitchFamily="18" charset="0"/>
                <a:cs typeface="Times New Roman" panose="02020603050405020304" pitchFamily="18" charset="0"/>
              </a:rPr>
              <a:t>synchronise</a:t>
            </a:r>
            <a:r>
              <a:rPr lang="en-US" dirty="0">
                <a:latin typeface="Times New Roman" panose="02020603050405020304" pitchFamily="18" charset="0"/>
                <a:cs typeface="Times New Roman" panose="02020603050405020304" pitchFamily="18" charset="0"/>
              </a:rPr>
              <a:t> communication between devices</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Destination MAC Address – The unique ID of the device the data is being sent to</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Source MAC Address – The unique ID of the device sending the data</a:t>
            </a:r>
          </a:p>
          <a:p>
            <a:pPr lvl="1"/>
            <a:endParaRPr lang="en-US" dirty="0">
              <a:latin typeface="Times New Roman" panose="02020603050405020304" pitchFamily="18" charset="0"/>
              <a:cs typeface="Times New Roman" panose="02020603050405020304" pitchFamily="18" charset="0"/>
            </a:endParaRPr>
          </a:p>
          <a:p>
            <a:pPr lvl="1"/>
            <a:r>
              <a:rPr lang="en-US" dirty="0" err="1">
                <a:latin typeface="Times New Roman" panose="02020603050405020304" pitchFamily="18" charset="0"/>
                <a:cs typeface="Times New Roman" panose="02020603050405020304" pitchFamily="18" charset="0"/>
              </a:rPr>
              <a:t>EtherType</a:t>
            </a:r>
            <a:r>
              <a:rPr lang="en-US" dirty="0">
                <a:latin typeface="Times New Roman" panose="02020603050405020304" pitchFamily="18" charset="0"/>
                <a:cs typeface="Times New Roman" panose="02020603050405020304" pitchFamily="18" charset="0"/>
              </a:rPr>
              <a:t> / Length – Indicates the type of data or the size of the payload</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Payload – The actual data being sent (e.g. a web page, file, or message)</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FCS (Frame Check Sequence) – Used for error detection to check if data arrived correctly</a:t>
            </a:r>
          </a:p>
        </p:txBody>
      </p:sp>
      <p:sp>
        <p:nvSpPr>
          <p:cNvPr id="4" name="Footer Placeholder 3">
            <a:extLst>
              <a:ext uri="{FF2B5EF4-FFF2-40B4-BE49-F238E27FC236}">
                <a16:creationId xmlns:a16="http://schemas.microsoft.com/office/drawing/2014/main" id="{5603CE9B-31A4-4ED1-A8BB-EDC1FC25FA70}"/>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BC0FFAA1-C15E-46A5-A7F4-40A6A178F4FD}"/>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4894629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4AAF-0197-4850-A3C3-E0F303AEB5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CSMA/CD</a:t>
            </a:r>
          </a:p>
        </p:txBody>
      </p:sp>
      <p:sp>
        <p:nvSpPr>
          <p:cNvPr id="3" name="Content Placeholder 2">
            <a:extLst>
              <a:ext uri="{FF2B5EF4-FFF2-40B4-BE49-F238E27FC236}">
                <a16:creationId xmlns:a16="http://schemas.microsoft.com/office/drawing/2014/main" id="{9C31D6C7-E6BA-408E-A7D5-3F2A87AC9F9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CSMA/CD helps Ethernet networks avoid and handle data collisions.</a:t>
            </a:r>
          </a:p>
          <a:p>
            <a:r>
              <a:rPr lang="en-US" dirty="0">
                <a:latin typeface="Times New Roman" panose="02020603050405020304" pitchFamily="18" charset="0"/>
                <a:cs typeface="Times New Roman" panose="02020603050405020304" pitchFamily="18" charset="0"/>
              </a:rPr>
              <a:t>Devices listen to the cable first (“Carrier Sense”) to check if it is free.</a:t>
            </a:r>
          </a:p>
          <a:p>
            <a:r>
              <a:rPr lang="en-US" dirty="0">
                <a:latin typeface="Times New Roman" panose="02020603050405020304" pitchFamily="18" charset="0"/>
                <a:cs typeface="Times New Roman" panose="02020603050405020304" pitchFamily="18" charset="0"/>
              </a:rPr>
              <a:t>If free → they transmit; if busy → they wait (“Multiple Access”).</a:t>
            </a:r>
          </a:p>
          <a:p>
            <a:r>
              <a:rPr lang="en-US" dirty="0">
                <a:latin typeface="Times New Roman" panose="02020603050405020304" pitchFamily="18" charset="0"/>
                <a:cs typeface="Times New Roman" panose="02020603050405020304" pitchFamily="18" charset="0"/>
              </a:rPr>
              <a:t>If two devices transmit at the same time → a collision happens and is detected (“Collision Detection”).</a:t>
            </a:r>
          </a:p>
          <a:p>
            <a:r>
              <a:rPr lang="en-US" dirty="0">
                <a:latin typeface="Times New Roman" panose="02020603050405020304" pitchFamily="18" charset="0"/>
                <a:cs typeface="Times New Roman" panose="02020603050405020304" pitchFamily="18" charset="0"/>
              </a:rPr>
              <a:t>Devices stop, send a jamming signal, wait a random time, and try again.</a:t>
            </a:r>
          </a:p>
        </p:txBody>
      </p:sp>
      <p:sp>
        <p:nvSpPr>
          <p:cNvPr id="4" name="Footer Placeholder 3">
            <a:extLst>
              <a:ext uri="{FF2B5EF4-FFF2-40B4-BE49-F238E27FC236}">
                <a16:creationId xmlns:a16="http://schemas.microsoft.com/office/drawing/2014/main" id="{6527F2C5-86A3-4733-8EFD-2406276F0C62}"/>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C9AC31CC-7F1A-42AA-842E-9909FA9B8A9E}"/>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090748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615E-5802-40AF-A4B6-6E87D79A42E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Bit Streaming</a:t>
            </a:r>
          </a:p>
        </p:txBody>
      </p:sp>
      <p:sp>
        <p:nvSpPr>
          <p:cNvPr id="3" name="Content Placeholder 2">
            <a:extLst>
              <a:ext uri="{FF2B5EF4-FFF2-40B4-BE49-F238E27FC236}">
                <a16:creationId xmlns:a16="http://schemas.microsoft.com/office/drawing/2014/main" id="{9C9F2C36-1B0B-489A-B7D5-913254E44376}"/>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Bit streaming is the continuous flow of data (bits) sent over the internet or a network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Commonly used for real-time services like video, audio, or live broadcasts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is sent in small chunks so it can be played back immediately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Reduces the need to download the entire file before use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Bit streaming can be </a:t>
            </a:r>
            <a:r>
              <a:rPr lang="en-US" dirty="0" err="1">
                <a:latin typeface="Times New Roman" panose="02020603050405020304" pitchFamily="18" charset="0"/>
                <a:cs typeface="Times New Roman" panose="02020603050405020304" pitchFamily="18" charset="0"/>
              </a:rPr>
              <a:t>categorised</a:t>
            </a:r>
            <a:r>
              <a:rPr lang="en-US" dirty="0">
                <a:latin typeface="Times New Roman" panose="02020603050405020304" pitchFamily="18" charset="0"/>
                <a:cs typeface="Times New Roman" panose="02020603050405020304" pitchFamily="18" charset="0"/>
              </a:rPr>
              <a:t> into two types:</a:t>
            </a:r>
          </a:p>
          <a:p>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Real-time</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On-demand</a:t>
            </a:r>
          </a:p>
        </p:txBody>
      </p:sp>
      <p:sp>
        <p:nvSpPr>
          <p:cNvPr id="4" name="Footer Placeholder 3">
            <a:extLst>
              <a:ext uri="{FF2B5EF4-FFF2-40B4-BE49-F238E27FC236}">
                <a16:creationId xmlns:a16="http://schemas.microsoft.com/office/drawing/2014/main" id="{531BA584-D4F3-4153-BAAF-E6A0C8A9E34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998B0E54-CBDC-447D-9CDC-B2AE4CBAC6CC}"/>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4010318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284D8-A994-47BD-A31A-CB101DCA380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Real – Time Vs. On-Demand</a:t>
            </a:r>
          </a:p>
        </p:txBody>
      </p:sp>
      <p:graphicFrame>
        <p:nvGraphicFramePr>
          <p:cNvPr id="6" name="Content Placeholder 5">
            <a:extLst>
              <a:ext uri="{FF2B5EF4-FFF2-40B4-BE49-F238E27FC236}">
                <a16:creationId xmlns:a16="http://schemas.microsoft.com/office/drawing/2014/main" id="{7137E302-21B4-475A-A0E3-5790CFB3FDAC}"/>
              </a:ext>
            </a:extLst>
          </p:cNvPr>
          <p:cNvGraphicFramePr>
            <a:graphicFrameLocks noGrp="1"/>
          </p:cNvGraphicFramePr>
          <p:nvPr>
            <p:ph idx="1"/>
            <p:extLst>
              <p:ext uri="{D42A27DB-BD31-4B8C-83A1-F6EECF244321}">
                <p14:modId xmlns:p14="http://schemas.microsoft.com/office/powerpoint/2010/main" val="3931592923"/>
              </p:ext>
            </p:extLst>
          </p:nvPr>
        </p:nvGraphicFramePr>
        <p:xfrm>
          <a:off x="666750" y="868364"/>
          <a:ext cx="11150781" cy="4970462"/>
        </p:xfrm>
        <a:graphic>
          <a:graphicData uri="http://schemas.openxmlformats.org/drawingml/2006/table">
            <a:tbl>
              <a:tblPr/>
              <a:tblGrid>
                <a:gridCol w="3716927">
                  <a:extLst>
                    <a:ext uri="{9D8B030D-6E8A-4147-A177-3AD203B41FA5}">
                      <a16:colId xmlns:a16="http://schemas.microsoft.com/office/drawing/2014/main" val="1076256135"/>
                    </a:ext>
                  </a:extLst>
                </a:gridCol>
                <a:gridCol w="3716927">
                  <a:extLst>
                    <a:ext uri="{9D8B030D-6E8A-4147-A177-3AD203B41FA5}">
                      <a16:colId xmlns:a16="http://schemas.microsoft.com/office/drawing/2014/main" val="3547967525"/>
                    </a:ext>
                  </a:extLst>
                </a:gridCol>
                <a:gridCol w="3716927">
                  <a:extLst>
                    <a:ext uri="{9D8B030D-6E8A-4147-A177-3AD203B41FA5}">
                      <a16:colId xmlns:a16="http://schemas.microsoft.com/office/drawing/2014/main" val="1144864868"/>
                    </a:ext>
                  </a:extLst>
                </a:gridCol>
              </a:tblGrid>
              <a:tr h="497046">
                <a:tc>
                  <a:txBody>
                    <a:bodyPr/>
                    <a:lstStyle/>
                    <a:p>
                      <a:pPr algn="l"/>
                      <a:r>
                        <a:rPr lang="en-US" sz="1500" b="1">
                          <a:solidFill>
                            <a:srgbClr val="323232"/>
                          </a:solidFill>
                          <a:effectLst/>
                          <a:latin typeface="Times New Roman" panose="02020603050405020304" pitchFamily="18" charset="0"/>
                          <a:cs typeface="Times New Roman" panose="02020603050405020304" pitchFamily="18" charset="0"/>
                        </a:rPr>
                        <a:t>Feature</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l"/>
                      <a:r>
                        <a:rPr lang="en-US" sz="1500" b="1">
                          <a:solidFill>
                            <a:srgbClr val="323232"/>
                          </a:solidFill>
                          <a:effectLst/>
                          <a:latin typeface="Times New Roman" panose="02020603050405020304" pitchFamily="18" charset="0"/>
                          <a:cs typeface="Times New Roman" panose="02020603050405020304" pitchFamily="18" charset="0"/>
                        </a:rPr>
                        <a:t>Real-time streaming</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tc>
                  <a:txBody>
                    <a:bodyPr/>
                    <a:lstStyle/>
                    <a:p>
                      <a:pPr algn="l"/>
                      <a:r>
                        <a:rPr lang="en-US" sz="1500" b="1">
                          <a:solidFill>
                            <a:srgbClr val="323232"/>
                          </a:solidFill>
                          <a:effectLst/>
                          <a:latin typeface="Times New Roman" panose="02020603050405020304" pitchFamily="18" charset="0"/>
                          <a:cs typeface="Times New Roman" panose="02020603050405020304" pitchFamily="18" charset="0"/>
                        </a:rPr>
                        <a:t>On-demand streaming</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2803258910"/>
                  </a:ext>
                </a:extLst>
              </a:tr>
              <a:tr h="71006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What is it?</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Watching something </a:t>
                      </a:r>
                      <a:r>
                        <a:rPr lang="en-US" sz="1500" b="1">
                          <a:solidFill>
                            <a:srgbClr val="323232"/>
                          </a:solidFill>
                          <a:effectLst/>
                          <a:latin typeface="Times New Roman" panose="02020603050405020304" pitchFamily="18" charset="0"/>
                          <a:cs typeface="Times New Roman" panose="02020603050405020304" pitchFamily="18" charset="0"/>
                        </a:rPr>
                        <a:t>live as it happens</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Watching something </a:t>
                      </a:r>
                      <a:r>
                        <a:rPr lang="en-US" sz="1500" b="1">
                          <a:solidFill>
                            <a:srgbClr val="323232"/>
                          </a:solidFill>
                          <a:effectLst/>
                          <a:latin typeface="Times New Roman" panose="02020603050405020304" pitchFamily="18" charset="0"/>
                          <a:cs typeface="Times New Roman" panose="02020603050405020304" pitchFamily="18" charset="0"/>
                        </a:rPr>
                        <a:t>whenever you choose</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3912256816"/>
                  </a:ext>
                </a:extLst>
              </a:tr>
              <a:tr h="71006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Examples</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Live sports, live news, online gaming, video calls</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Netflix, YouTube, Amazon Prime</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224955832"/>
                  </a:ext>
                </a:extLst>
              </a:tr>
              <a:tr h="71006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Timing</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b="1">
                          <a:solidFill>
                            <a:srgbClr val="323232"/>
                          </a:solidFill>
                          <a:effectLst/>
                          <a:latin typeface="Times New Roman" panose="02020603050405020304" pitchFamily="18" charset="0"/>
                          <a:cs typeface="Times New Roman" panose="02020603050405020304" pitchFamily="18" charset="0"/>
                        </a:rPr>
                        <a:t>Streamed and watched at the same time</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b="1">
                          <a:solidFill>
                            <a:srgbClr val="323232"/>
                          </a:solidFill>
                          <a:effectLst/>
                          <a:latin typeface="Times New Roman" panose="02020603050405020304" pitchFamily="18" charset="0"/>
                          <a:cs typeface="Times New Roman" panose="02020603050405020304" pitchFamily="18" charset="0"/>
                        </a:rPr>
                        <a:t>You choose when to watch</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885318880"/>
                  </a:ext>
                </a:extLst>
              </a:tr>
              <a:tr h="71006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Delays (latency)</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Needs </a:t>
                      </a:r>
                      <a:r>
                        <a:rPr lang="en-US" sz="1500" b="1">
                          <a:solidFill>
                            <a:srgbClr val="323232"/>
                          </a:solidFill>
                          <a:effectLst/>
                          <a:latin typeface="Times New Roman" panose="02020603050405020304" pitchFamily="18" charset="0"/>
                          <a:cs typeface="Times New Roman" panose="02020603050405020304" pitchFamily="18" charset="0"/>
                        </a:rPr>
                        <a:t>low delay</a:t>
                      </a:r>
                      <a:r>
                        <a:rPr lang="en-US" sz="1500">
                          <a:solidFill>
                            <a:srgbClr val="323232"/>
                          </a:solidFill>
                          <a:effectLst/>
                          <a:latin typeface="Times New Roman" panose="02020603050405020304" pitchFamily="18" charset="0"/>
                          <a:cs typeface="Times New Roman" panose="02020603050405020304" pitchFamily="18" charset="0"/>
                        </a:rPr>
                        <a:t> to feel live</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Can handle </a:t>
                      </a:r>
                      <a:r>
                        <a:rPr lang="en-US" sz="1500" b="1">
                          <a:solidFill>
                            <a:srgbClr val="323232"/>
                          </a:solidFill>
                          <a:effectLst/>
                          <a:latin typeface="Times New Roman" panose="02020603050405020304" pitchFamily="18" charset="0"/>
                          <a:cs typeface="Times New Roman" panose="02020603050405020304" pitchFamily="18" charset="0"/>
                        </a:rPr>
                        <a:t>small delays</a:t>
                      </a:r>
                      <a:r>
                        <a:rPr lang="en-US" sz="1500">
                          <a:solidFill>
                            <a:srgbClr val="323232"/>
                          </a:solidFill>
                          <a:effectLst/>
                          <a:latin typeface="Times New Roman" panose="02020603050405020304" pitchFamily="18" charset="0"/>
                          <a:cs typeface="Times New Roman" panose="02020603050405020304" pitchFamily="18" charset="0"/>
                        </a:rPr>
                        <a:t> thanks to buffering</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498266573"/>
                  </a:ext>
                </a:extLst>
              </a:tr>
              <a:tr h="92308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Internet needed</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dirty="0">
                          <a:solidFill>
                            <a:srgbClr val="323232"/>
                          </a:solidFill>
                          <a:effectLst/>
                          <a:latin typeface="Times New Roman" panose="02020603050405020304" pitchFamily="18" charset="0"/>
                          <a:cs typeface="Times New Roman" panose="02020603050405020304" pitchFamily="18" charset="0"/>
                        </a:rPr>
                        <a:t>Needs a </a:t>
                      </a:r>
                      <a:r>
                        <a:rPr lang="en-US" sz="1500" b="1" dirty="0">
                          <a:solidFill>
                            <a:srgbClr val="323232"/>
                          </a:solidFill>
                          <a:effectLst/>
                          <a:latin typeface="Times New Roman" panose="02020603050405020304" pitchFamily="18" charset="0"/>
                          <a:cs typeface="Times New Roman" panose="02020603050405020304" pitchFamily="18" charset="0"/>
                        </a:rPr>
                        <a:t>strong and steady connection</a:t>
                      </a:r>
                      <a:endParaRPr lang="en-US" sz="1500" dirty="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Can adjust quality based on your connection (adaptive bitrate)</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581548615"/>
                  </a:ext>
                </a:extLst>
              </a:tr>
              <a:tr h="710066">
                <a:tc>
                  <a:txBody>
                    <a:bodyPr/>
                    <a:lstStyle/>
                    <a:p>
                      <a:r>
                        <a:rPr lang="en-US" sz="1500" b="1">
                          <a:solidFill>
                            <a:srgbClr val="323232"/>
                          </a:solidFill>
                          <a:effectLst/>
                          <a:latin typeface="Times New Roman" panose="02020603050405020304" pitchFamily="18" charset="0"/>
                          <a:cs typeface="Times New Roman" panose="02020603050405020304" pitchFamily="18" charset="0"/>
                        </a:rPr>
                        <a:t>Playback controls</a:t>
                      </a:r>
                      <a:endParaRPr lang="en-US" sz="1500">
                        <a:solidFill>
                          <a:srgbClr val="323232"/>
                        </a:solidFill>
                        <a:effectLst/>
                        <a:latin typeface="Times New Roman" panose="02020603050405020304" pitchFamily="18" charset="0"/>
                        <a:cs typeface="Times New Roman" panose="02020603050405020304" pitchFamily="18" charset="0"/>
                      </a:endParaRP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a:solidFill>
                            <a:srgbClr val="323232"/>
                          </a:solidFill>
                          <a:effectLst/>
                          <a:latin typeface="Times New Roman" panose="02020603050405020304" pitchFamily="18" charset="0"/>
                          <a:cs typeface="Times New Roman" panose="02020603050405020304" pitchFamily="18" charset="0"/>
                        </a:rPr>
                        <a:t>Usually </a:t>
                      </a:r>
                      <a:r>
                        <a:rPr lang="en-US" sz="1500" b="1">
                          <a:solidFill>
                            <a:srgbClr val="323232"/>
                          </a:solidFill>
                          <a:effectLst/>
                          <a:latin typeface="Times New Roman" panose="02020603050405020304" pitchFamily="18" charset="0"/>
                          <a:cs typeface="Times New Roman" panose="02020603050405020304" pitchFamily="18" charset="0"/>
                        </a:rPr>
                        <a:t>no pause or rewind</a:t>
                      </a:r>
                      <a:r>
                        <a:rPr lang="en-US" sz="1500">
                          <a:solidFill>
                            <a:srgbClr val="323232"/>
                          </a:solidFill>
                          <a:effectLst/>
                          <a:latin typeface="Times New Roman" panose="02020603050405020304" pitchFamily="18" charset="0"/>
                          <a:cs typeface="Times New Roman" panose="02020603050405020304" pitchFamily="18" charset="0"/>
                        </a:rPr>
                        <a:t> during live events</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tc>
                  <a:txBody>
                    <a:bodyPr/>
                    <a:lstStyle/>
                    <a:p>
                      <a:r>
                        <a:rPr lang="en-US" sz="1500" dirty="0">
                          <a:solidFill>
                            <a:srgbClr val="323232"/>
                          </a:solidFill>
                          <a:effectLst/>
                          <a:latin typeface="Times New Roman" panose="02020603050405020304" pitchFamily="18" charset="0"/>
                          <a:cs typeface="Times New Roman" panose="02020603050405020304" pitchFamily="18" charset="0"/>
                        </a:rPr>
                        <a:t>You can </a:t>
                      </a:r>
                      <a:r>
                        <a:rPr lang="en-US" sz="1500" b="1" dirty="0">
                          <a:solidFill>
                            <a:srgbClr val="323232"/>
                          </a:solidFill>
                          <a:effectLst/>
                          <a:latin typeface="Times New Roman" panose="02020603050405020304" pitchFamily="18" charset="0"/>
                          <a:cs typeface="Times New Roman" panose="02020603050405020304" pitchFamily="18" charset="0"/>
                        </a:rPr>
                        <a:t>pause, rewind, or skip</a:t>
                      </a:r>
                      <a:r>
                        <a:rPr lang="en-US" sz="1500" dirty="0">
                          <a:solidFill>
                            <a:srgbClr val="323232"/>
                          </a:solidFill>
                          <a:effectLst/>
                          <a:latin typeface="Times New Roman" panose="02020603050405020304" pitchFamily="18" charset="0"/>
                          <a:cs typeface="Times New Roman" panose="02020603050405020304" pitchFamily="18" charset="0"/>
                        </a:rPr>
                        <a:t> as needed</a:t>
                      </a:r>
                    </a:p>
                  </a:txBody>
                  <a:tcPr marL="78400" marR="78400" marT="39200" marB="39200">
                    <a:lnL w="6767" cap="flat" cmpd="sng" algn="ctr">
                      <a:solidFill>
                        <a:srgbClr val="323232"/>
                      </a:solidFill>
                      <a:prstDash val="solid"/>
                      <a:round/>
                      <a:headEnd type="none" w="med" len="med"/>
                      <a:tailEnd type="none" w="med" len="med"/>
                    </a:lnL>
                    <a:lnR w="6767" cap="flat" cmpd="sng" algn="ctr">
                      <a:solidFill>
                        <a:srgbClr val="323232"/>
                      </a:solidFill>
                      <a:prstDash val="solid"/>
                      <a:round/>
                      <a:headEnd type="none" w="med" len="med"/>
                      <a:tailEnd type="none" w="med" len="med"/>
                    </a:lnR>
                    <a:lnT w="6767" cap="flat" cmpd="sng" algn="ctr">
                      <a:solidFill>
                        <a:srgbClr val="323232"/>
                      </a:solidFill>
                      <a:prstDash val="solid"/>
                      <a:round/>
                      <a:headEnd type="none" w="med" len="med"/>
                      <a:tailEnd type="none" w="med" len="med"/>
                    </a:lnT>
                    <a:lnB w="6767"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3879951051"/>
                  </a:ext>
                </a:extLst>
              </a:tr>
            </a:tbl>
          </a:graphicData>
        </a:graphic>
      </p:graphicFrame>
      <p:sp>
        <p:nvSpPr>
          <p:cNvPr id="4" name="Footer Placeholder 3">
            <a:extLst>
              <a:ext uri="{FF2B5EF4-FFF2-40B4-BE49-F238E27FC236}">
                <a16:creationId xmlns:a16="http://schemas.microsoft.com/office/drawing/2014/main" id="{33C390AD-D52E-4A5E-9E2E-7577837F72F3}"/>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8707A8F6-00D6-4EFE-9B19-CC3C93F58893}"/>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37433692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8420944-37AE-4AF2-9A82-340FA7A28A5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Network Types</a:t>
            </a:r>
          </a:p>
        </p:txBody>
      </p:sp>
      <p:sp>
        <p:nvSpPr>
          <p:cNvPr id="9" name="Text Placeholder 8">
            <a:extLst>
              <a:ext uri="{FF2B5EF4-FFF2-40B4-BE49-F238E27FC236}">
                <a16:creationId xmlns:a16="http://schemas.microsoft.com/office/drawing/2014/main" id="{4E361AA8-A817-418F-B3EB-863CF8C80010}"/>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Geographical Scope</a:t>
            </a:r>
          </a:p>
        </p:txBody>
      </p:sp>
      <p:sp>
        <p:nvSpPr>
          <p:cNvPr id="4" name="Footer Placeholder 3">
            <a:extLst>
              <a:ext uri="{FF2B5EF4-FFF2-40B4-BE49-F238E27FC236}">
                <a16:creationId xmlns:a16="http://schemas.microsoft.com/office/drawing/2014/main" id="{5AC9C384-3420-4CCD-A830-0B91CFAF3FC5}"/>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A40AF543-3D77-4603-81F2-2FFE53027D52}"/>
              </a:ext>
            </a:extLst>
          </p:cNvPr>
          <p:cNvSpPr>
            <a:spLocks noGrp="1"/>
          </p:cNvSpPr>
          <p:nvPr>
            <p:ph type="sldNum" sz="quarter" idx="4294967295"/>
          </p:nvPr>
        </p:nvSpPr>
        <p:spPr>
          <a:xfrm>
            <a:off x="11510963" y="6492875"/>
            <a:ext cx="681037" cy="365125"/>
          </a:xfrm>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629264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808A89-399D-45D9-84D7-D6151F30C97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Geographical Scope</a:t>
            </a:r>
          </a:p>
        </p:txBody>
      </p:sp>
      <p:pic>
        <p:nvPicPr>
          <p:cNvPr id="7" name="Content Placeholder 6">
            <a:extLst>
              <a:ext uri="{FF2B5EF4-FFF2-40B4-BE49-F238E27FC236}">
                <a16:creationId xmlns:a16="http://schemas.microsoft.com/office/drawing/2014/main" id="{3FB9F4AF-7EE1-49E0-B0B7-8122721773C2}"/>
              </a:ext>
            </a:extLst>
          </p:cNvPr>
          <p:cNvPicPr>
            <a:picLocks noGrp="1" noChangeAspect="1"/>
          </p:cNvPicPr>
          <p:nvPr>
            <p:ph idx="1"/>
          </p:nvPr>
        </p:nvPicPr>
        <p:blipFill>
          <a:blip r:embed="rId2"/>
          <a:stretch>
            <a:fillRect/>
          </a:stretch>
        </p:blipFill>
        <p:spPr>
          <a:xfrm>
            <a:off x="1514459" y="1204228"/>
            <a:ext cx="9163082" cy="4816257"/>
          </a:xfrm>
          <a:prstGeom prst="rect">
            <a:avLst/>
          </a:prstGeom>
        </p:spPr>
      </p:pic>
      <p:sp>
        <p:nvSpPr>
          <p:cNvPr id="4" name="Footer Placeholder 3">
            <a:extLst>
              <a:ext uri="{FF2B5EF4-FFF2-40B4-BE49-F238E27FC236}">
                <a16:creationId xmlns:a16="http://schemas.microsoft.com/office/drawing/2014/main" id="{C3AC1987-8D89-4F07-A11C-4D781BF86B63}"/>
              </a:ext>
            </a:extLst>
          </p:cNvPr>
          <p:cNvSpPr>
            <a:spLocks noGrp="1"/>
          </p:cNvSpPr>
          <p:nvPr>
            <p:ph type="ftr" sz="quarter" idx="11"/>
          </p:nvPr>
        </p:nvSpPr>
        <p:spPr/>
        <p:txBody>
          <a:bodyPr/>
          <a:lstStyle/>
          <a:p>
            <a:r>
              <a:rPr lang="en-US"/>
              <a:t>Applications of ICT</a:t>
            </a:r>
            <a:endParaRPr lang="en-US" dirty="0"/>
          </a:p>
        </p:txBody>
      </p:sp>
    </p:spTree>
    <p:extLst>
      <p:ext uri="{BB962C8B-B14F-4D97-AF65-F5344CB8AC3E}">
        <p14:creationId xmlns:p14="http://schemas.microsoft.com/office/powerpoint/2010/main" val="2951737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BDD4-F5DB-43DB-8C13-B742910BDC5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Important Parameters</a:t>
            </a:r>
          </a:p>
        </p:txBody>
      </p:sp>
      <p:pic>
        <p:nvPicPr>
          <p:cNvPr id="6" name="Content Placeholder 5">
            <a:extLst>
              <a:ext uri="{FF2B5EF4-FFF2-40B4-BE49-F238E27FC236}">
                <a16:creationId xmlns:a16="http://schemas.microsoft.com/office/drawing/2014/main" id="{5D434133-110E-4C1F-BD99-2654514862BF}"/>
              </a:ext>
            </a:extLst>
          </p:cNvPr>
          <p:cNvPicPr>
            <a:picLocks noGrp="1" noChangeAspect="1"/>
          </p:cNvPicPr>
          <p:nvPr>
            <p:ph idx="1"/>
          </p:nvPr>
        </p:nvPicPr>
        <p:blipFill>
          <a:blip r:embed="rId2"/>
          <a:stretch>
            <a:fillRect/>
          </a:stretch>
        </p:blipFill>
        <p:spPr>
          <a:xfrm>
            <a:off x="2625880" y="868363"/>
            <a:ext cx="6940240" cy="5487987"/>
          </a:xfrm>
          <a:prstGeom prst="rect">
            <a:avLst/>
          </a:prstGeom>
        </p:spPr>
      </p:pic>
      <p:sp>
        <p:nvSpPr>
          <p:cNvPr id="4" name="Footer Placeholder 3">
            <a:extLst>
              <a:ext uri="{FF2B5EF4-FFF2-40B4-BE49-F238E27FC236}">
                <a16:creationId xmlns:a16="http://schemas.microsoft.com/office/drawing/2014/main" id="{1F860AAC-4A0F-4D6C-B42E-FF2219AFFC50}"/>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FF6F6535-667C-4FF2-8BFE-5F45BEE57E46}"/>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37174862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BF9E6-32AF-4AC9-B28A-21E01629E8C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 Activity</a:t>
            </a:r>
          </a:p>
        </p:txBody>
      </p:sp>
      <p:sp>
        <p:nvSpPr>
          <p:cNvPr id="3" name="Content Placeholder 2">
            <a:extLst>
              <a:ext uri="{FF2B5EF4-FFF2-40B4-BE49-F238E27FC236}">
                <a16:creationId xmlns:a16="http://schemas.microsoft.com/office/drawing/2014/main" id="{4AA69881-20E8-4986-9DFF-68A0F2B92FC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Draw a hybrid topology with a star backbone and three ring networks.</a:t>
            </a:r>
          </a:p>
          <a:p>
            <a:r>
              <a:rPr lang="en-US" dirty="0">
                <a:latin typeface="Times New Roman" panose="02020603050405020304" pitchFamily="18" charset="0"/>
                <a:cs typeface="Times New Roman" panose="02020603050405020304" pitchFamily="18" charset="0"/>
              </a:rPr>
              <a:t>Differentiate between bus and </a:t>
            </a:r>
            <a:r>
              <a:rPr lang="en-US">
                <a:latin typeface="Times New Roman" panose="02020603050405020304" pitchFamily="18" charset="0"/>
                <a:cs typeface="Times New Roman" panose="02020603050405020304" pitchFamily="18" charset="0"/>
              </a:rPr>
              <a:t>line topology.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 mesh topology, four devices are arranged to form the mesh. </a:t>
            </a:r>
          </a:p>
          <a:p>
            <a:pPr lvl="1"/>
            <a:r>
              <a:rPr lang="en-US" dirty="0">
                <a:latin typeface="Times New Roman" panose="02020603050405020304" pitchFamily="18" charset="0"/>
                <a:cs typeface="Times New Roman" panose="02020603050405020304" pitchFamily="18" charset="0"/>
              </a:rPr>
              <a:t>How many cables will be needed? How many ports are needed for each device?</a:t>
            </a:r>
          </a:p>
          <a:p>
            <a:pPr lvl="1"/>
            <a:r>
              <a:rPr lang="en-US" dirty="0">
                <a:latin typeface="Times New Roman" panose="02020603050405020304" pitchFamily="18" charset="0"/>
                <a:cs typeface="Times New Roman" panose="02020603050405020304" pitchFamily="18" charset="0"/>
              </a:rPr>
              <a:t>If the mesh now contains six devices, how many cables will be needed? How many ports are needed for each device?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178E62F-D984-40C8-B11E-29CF3ECE4415}"/>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42013509-1928-4C7A-B937-A2A2FE39DFE1}"/>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308061829"/>
      </p:ext>
    </p:extLst>
  </p:cSld>
  <p:clrMapOvr>
    <a:masterClrMapping/>
  </p:clrMapOvr>
</p:sld>
</file>

<file path=ppt/theme/theme1.xml><?xml version="1.0" encoding="utf-8"?>
<a:theme xmlns:a="http://schemas.openxmlformats.org/drawingml/2006/main" name="seecs_template_design_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15557</TotalTime>
  <Words>3573</Words>
  <Application>Microsoft Office PowerPoint</Application>
  <PresentationFormat>Widescreen</PresentationFormat>
  <Paragraphs>485</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Calibri Light</vt:lpstr>
      <vt:lpstr>Franklin Gothic Book</vt:lpstr>
      <vt:lpstr>Times New Roman</vt:lpstr>
      <vt:lpstr>seecs_template_design_16-9</vt:lpstr>
      <vt:lpstr>Networks and Internet</vt:lpstr>
      <vt:lpstr>We will explore……</vt:lpstr>
      <vt:lpstr>Computer Network Models</vt:lpstr>
      <vt:lpstr>OSI Vs. TCP/IP Model</vt:lpstr>
      <vt:lpstr>TCP/IP</vt:lpstr>
      <vt:lpstr>How TCP/IP Connects All</vt:lpstr>
      <vt:lpstr>Network Models : Client - Server</vt:lpstr>
      <vt:lpstr>Benefits &amp; Drawbacks</vt:lpstr>
      <vt:lpstr>Network Models : Peer-to-Peer</vt:lpstr>
      <vt:lpstr>Benefits &amp; Drawbacks</vt:lpstr>
      <vt:lpstr>When to use a client-server network</vt:lpstr>
      <vt:lpstr>Network Topology : Bus</vt:lpstr>
      <vt:lpstr>Network Topology : Bus</vt:lpstr>
      <vt:lpstr>Network Topology: Star</vt:lpstr>
      <vt:lpstr>Network Topology: Star</vt:lpstr>
      <vt:lpstr>Network Topology: Mesh</vt:lpstr>
      <vt:lpstr>Network Topology: Mesh</vt:lpstr>
      <vt:lpstr>Network Topology : Ring</vt:lpstr>
      <vt:lpstr>Network Topology: Hybrid</vt:lpstr>
      <vt:lpstr>Network Topology: Hybrid</vt:lpstr>
      <vt:lpstr>Examples</vt:lpstr>
      <vt:lpstr>Network Topology : Tree</vt:lpstr>
      <vt:lpstr>Selection of Topology</vt:lpstr>
      <vt:lpstr>Problem 1</vt:lpstr>
      <vt:lpstr>Problem 2</vt:lpstr>
      <vt:lpstr>Problem 3</vt:lpstr>
      <vt:lpstr>Problem 4</vt:lpstr>
      <vt:lpstr>Cloud Computing</vt:lpstr>
      <vt:lpstr>Cloud Computing</vt:lpstr>
      <vt:lpstr>Cloud Storage</vt:lpstr>
      <vt:lpstr>Cloud Software</vt:lpstr>
      <vt:lpstr>Network Hardware</vt:lpstr>
      <vt:lpstr>LAN Hardware - Hub</vt:lpstr>
      <vt:lpstr>LAN Hardware - Hub</vt:lpstr>
      <vt:lpstr>LAN Hardware - Switch</vt:lpstr>
      <vt:lpstr>LAN Hardware - Switch</vt:lpstr>
      <vt:lpstr>Servers</vt:lpstr>
      <vt:lpstr>Network Interface Card (NIC)</vt:lpstr>
      <vt:lpstr>Network Interface Card (NIC)</vt:lpstr>
      <vt:lpstr>Wireless Network Interface Card (WNIC)</vt:lpstr>
      <vt:lpstr>Wireless Access Point (WAP)</vt:lpstr>
      <vt:lpstr>Bridge and Repeaters</vt:lpstr>
      <vt:lpstr>Role of Routers</vt:lpstr>
      <vt:lpstr>Role of Routers</vt:lpstr>
      <vt:lpstr>Role of Routers</vt:lpstr>
      <vt:lpstr>Role of Routers</vt:lpstr>
      <vt:lpstr>Steps</vt:lpstr>
      <vt:lpstr>Other Functions</vt:lpstr>
      <vt:lpstr>Ethernet</vt:lpstr>
      <vt:lpstr>Ethernet Frames</vt:lpstr>
      <vt:lpstr>CSMA/CD</vt:lpstr>
      <vt:lpstr>Bit Streaming</vt:lpstr>
      <vt:lpstr>Real – Time Vs. On-Demand</vt:lpstr>
      <vt:lpstr>Network Types</vt:lpstr>
      <vt:lpstr>Geographical Scope</vt:lpstr>
      <vt:lpstr>Important Parameters</vt:lpstr>
      <vt:lpstr>Class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462</cp:revision>
  <dcterms:created xsi:type="dcterms:W3CDTF">2025-09-27T06:21:46Z</dcterms:created>
  <dcterms:modified xsi:type="dcterms:W3CDTF">2025-12-01T04:43:16Z</dcterms:modified>
</cp:coreProperties>
</file>