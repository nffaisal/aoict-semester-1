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556" r:id="rId2"/>
    <p:sldId id="603" r:id="rId3"/>
    <p:sldId id="558" r:id="rId4"/>
    <p:sldId id="701" r:id="rId5"/>
    <p:sldId id="703" r:id="rId6"/>
    <p:sldId id="677" r:id="rId7"/>
    <p:sldId id="704" r:id="rId8"/>
    <p:sldId id="702" r:id="rId9"/>
    <p:sldId id="705" r:id="rId10"/>
    <p:sldId id="679" r:id="rId11"/>
    <p:sldId id="680" r:id="rId12"/>
    <p:sldId id="681" r:id="rId13"/>
    <p:sldId id="682" r:id="rId14"/>
    <p:sldId id="683" r:id="rId15"/>
    <p:sldId id="684" r:id="rId16"/>
    <p:sldId id="604" r:id="rId17"/>
    <p:sldId id="656" r:id="rId18"/>
    <p:sldId id="667" r:id="rId19"/>
    <p:sldId id="605" r:id="rId20"/>
    <p:sldId id="606" r:id="rId21"/>
    <p:sldId id="608" r:id="rId22"/>
    <p:sldId id="607" r:id="rId23"/>
    <p:sldId id="671" r:id="rId24"/>
    <p:sldId id="685" r:id="rId25"/>
    <p:sldId id="686" r:id="rId26"/>
    <p:sldId id="687" r:id="rId27"/>
    <p:sldId id="688" r:id="rId28"/>
    <p:sldId id="272" r:id="rId29"/>
    <p:sldId id="269" r:id="rId30"/>
    <p:sldId id="706" r:id="rId31"/>
    <p:sldId id="627" r:id="rId32"/>
    <p:sldId id="628" r:id="rId33"/>
    <p:sldId id="670" r:id="rId34"/>
    <p:sldId id="62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893" autoAdjust="0"/>
  </p:normalViewPr>
  <p:slideViewPr>
    <p:cSldViewPr snapToGrid="0">
      <p:cViewPr varScale="1">
        <p:scale>
          <a:sx n="79" d="100"/>
          <a:sy n="79" d="100"/>
        </p:scale>
        <p:origin x="850" y="1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524ABF-8EF2-4CE9-97A6-103FF179B507}" type="datetimeFigureOut">
              <a:rPr lang="en-US" smtClean="0"/>
              <a:t>10/1/2025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81DF69-4657-46B6-8B3B-5E782485FAA8}" type="slidenum">
              <a:rPr lang="en-US" smtClean="0"/>
              <a:t>‹#›</a:t>
            </a:fld>
            <a:endParaRPr lang="en-US"/>
          </a:p>
        </p:txBody>
      </p:sp>
    </p:spTree>
    <p:extLst>
      <p:ext uri="{BB962C8B-B14F-4D97-AF65-F5344CB8AC3E}">
        <p14:creationId xmlns:p14="http://schemas.microsoft.com/office/powerpoint/2010/main" val="1890101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A639A1-9ABA-4AA6-BF1B-39C21EE30F4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71006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solidFill>
                  <a:srgbClr val="178838"/>
                </a:solidFill>
                <a:effectLst/>
                <a:latin typeface="+mj-lt"/>
              </a:rPr>
              <a:t>Inputted marks are stored in the array Score[] </a:t>
            </a:r>
            <a:endParaRPr lang="en-US" b="0" i="0" dirty="0">
              <a:solidFill>
                <a:srgbClr val="323232"/>
              </a:solidFill>
              <a:effectLst/>
              <a:latin typeface="+mj-lt"/>
            </a:endParaRPr>
          </a:p>
          <a:p>
            <a:pPr algn="l">
              <a:buFont typeface="Arial" panose="020B0604020202020204" pitchFamily="34" charset="0"/>
              <a:buChar char="•"/>
            </a:pPr>
            <a:r>
              <a:rPr lang="en-US" b="0" i="0" dirty="0">
                <a:solidFill>
                  <a:srgbClr val="178838"/>
                </a:solidFill>
                <a:effectLst/>
                <a:latin typeface="+mj-lt"/>
              </a:rPr>
              <a:t>Marks are then checked against a range of boundaries </a:t>
            </a:r>
            <a:endParaRPr lang="en-US" b="0" i="0" dirty="0">
              <a:solidFill>
                <a:srgbClr val="323232"/>
              </a:solidFill>
              <a:effectLst/>
              <a:latin typeface="+mj-lt"/>
            </a:endParaRPr>
          </a:p>
          <a:p>
            <a:pPr algn="l">
              <a:buFont typeface="Arial" panose="020B0604020202020204" pitchFamily="34" charset="0"/>
              <a:buChar char="•"/>
            </a:pPr>
            <a:r>
              <a:rPr lang="en-US" b="0" i="0" dirty="0">
                <a:solidFill>
                  <a:srgbClr val="178838"/>
                </a:solidFill>
                <a:effectLst/>
                <a:latin typeface="+mj-lt"/>
              </a:rPr>
              <a:t>A matching grade is assigned to each mark that has been input </a:t>
            </a:r>
            <a:endParaRPr lang="en-US" b="0" i="0" dirty="0">
              <a:solidFill>
                <a:srgbClr val="323232"/>
              </a:solidFill>
              <a:effectLst/>
              <a:latin typeface="+mj-lt"/>
            </a:endParaRPr>
          </a:p>
          <a:p>
            <a:pPr algn="l">
              <a:buFont typeface="Arial" panose="020B0604020202020204" pitchFamily="34" charset="0"/>
              <a:buChar char="•"/>
            </a:pPr>
            <a:r>
              <a:rPr lang="en-US" b="0" i="0" dirty="0">
                <a:solidFill>
                  <a:srgbClr val="178838"/>
                </a:solidFill>
                <a:effectLst/>
                <a:latin typeface="+mj-lt"/>
              </a:rPr>
              <a:t>The grade is then stored in the array Grade[] </a:t>
            </a:r>
            <a:endParaRPr lang="en-US" b="0" i="0" dirty="0">
              <a:solidFill>
                <a:srgbClr val="323232"/>
              </a:solidFill>
              <a:effectLst/>
              <a:latin typeface="+mj-lt"/>
            </a:endParaRPr>
          </a:p>
          <a:p>
            <a:pPr algn="l">
              <a:buFont typeface="Arial" panose="020B0604020202020204" pitchFamily="34" charset="0"/>
              <a:buChar char="•"/>
            </a:pPr>
            <a:r>
              <a:rPr lang="en-US" b="0" i="0" dirty="0">
                <a:solidFill>
                  <a:srgbClr val="178838"/>
                </a:solidFill>
                <a:effectLst/>
                <a:latin typeface="+mj-lt"/>
              </a:rPr>
              <a:t>At the same index as the inputted mark </a:t>
            </a:r>
            <a:endParaRPr lang="en-US" b="0" i="0" dirty="0">
              <a:solidFill>
                <a:srgbClr val="323232"/>
              </a:solidFill>
              <a:effectLst/>
              <a:latin typeface="+mj-lt"/>
            </a:endParaRPr>
          </a:p>
          <a:p>
            <a:pPr algn="l">
              <a:buFont typeface="Arial" panose="020B0604020202020204" pitchFamily="34" charset="0"/>
              <a:buChar char="•"/>
            </a:pPr>
            <a:r>
              <a:rPr lang="en-US" b="0" i="0" dirty="0">
                <a:solidFill>
                  <a:srgbClr val="178838"/>
                </a:solidFill>
                <a:effectLst/>
                <a:latin typeface="+mj-lt"/>
              </a:rPr>
              <a:t>The algorithm finishes after 30 marks have been input </a:t>
            </a:r>
            <a:endParaRPr lang="en-US" b="0" i="0" dirty="0">
              <a:solidFill>
                <a:srgbClr val="323232"/>
              </a:solidFill>
              <a:effectLst/>
              <a:latin typeface="+mj-lt"/>
            </a:endParaRPr>
          </a:p>
          <a:p>
            <a:endParaRPr lang="en-US" dirty="0"/>
          </a:p>
        </p:txBody>
      </p:sp>
      <p:sp>
        <p:nvSpPr>
          <p:cNvPr id="4" name="Slide Number Placeholder 3"/>
          <p:cNvSpPr>
            <a:spLocks noGrp="1"/>
          </p:cNvSpPr>
          <p:nvPr>
            <p:ph type="sldNum" sz="quarter" idx="5"/>
          </p:nvPr>
        </p:nvSpPr>
        <p:spPr/>
        <p:txBody>
          <a:bodyPr/>
          <a:lstStyle/>
          <a:p>
            <a:fld id="{9B81DF69-4657-46B6-8B3B-5E782485FAA8}" type="slidenum">
              <a:rPr lang="en-US" smtClean="0"/>
              <a:t>27</a:t>
            </a:fld>
            <a:endParaRPr lang="en-US"/>
          </a:p>
        </p:txBody>
      </p:sp>
    </p:spTree>
    <p:extLst>
      <p:ext uri="{BB962C8B-B14F-4D97-AF65-F5344CB8AC3E}">
        <p14:creationId xmlns:p14="http://schemas.microsoft.com/office/powerpoint/2010/main" val="12509026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Freeform 2">
            <a:extLst>
              <a:ext uri="{FF2B5EF4-FFF2-40B4-BE49-F238E27FC236}">
                <a16:creationId xmlns:a16="http://schemas.microsoft.com/office/drawing/2014/main" id="{2CDBDDAB-5B13-28CF-C014-22522532D436}"/>
              </a:ext>
            </a:extLst>
          </p:cNvPr>
          <p:cNvSpPr/>
          <p:nvPr/>
        </p:nvSpPr>
        <p:spPr>
          <a:xfrm>
            <a:off x="0" y="-10006"/>
            <a:ext cx="12192001" cy="68780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dpi="0" rotWithShape="1">
            <a:blip r:embed="rId2">
              <a:alphaModFix amt="40000"/>
            </a:blip>
            <a:srcRect/>
            <a:stretch>
              <a:fillRect l="-20312" r="-20312"/>
            </a:stretch>
          </a:blipFill>
        </p:spPr>
        <p:txBody>
          <a:bodyPr/>
          <a:lstStyle/>
          <a:p>
            <a:endParaRPr lang="LID4096"/>
          </a:p>
        </p:txBody>
      </p:sp>
      <p:sp>
        <p:nvSpPr>
          <p:cNvPr id="2" name="Title 1"/>
          <p:cNvSpPr>
            <a:spLocks noGrp="1"/>
          </p:cNvSpPr>
          <p:nvPr>
            <p:ph type="ctrTitle"/>
          </p:nvPr>
        </p:nvSpPr>
        <p:spPr>
          <a:xfrm>
            <a:off x="1524000" y="2207059"/>
            <a:ext cx="9144000" cy="2387600"/>
          </a:xfrm>
        </p:spPr>
        <p:txBody>
          <a:bodyPr anchor="b" anchorCtr="0"/>
          <a:lstStyle>
            <a:lvl1pPr algn="l">
              <a:defRPr sz="6000">
                <a:solidFill>
                  <a:srgbClr val="004778"/>
                </a:solidFill>
              </a:defRPr>
            </a:lvl1pPr>
          </a:lstStyle>
          <a:p>
            <a:r>
              <a:rPr lang="en-US"/>
              <a:t>Click to edit Master title style</a:t>
            </a:r>
            <a:endParaRPr lang="en-US" dirty="0"/>
          </a:p>
        </p:txBody>
      </p:sp>
      <p:sp>
        <p:nvSpPr>
          <p:cNvPr id="3" name="Subtitle 2"/>
          <p:cNvSpPr>
            <a:spLocks noGrp="1"/>
          </p:cNvSpPr>
          <p:nvPr>
            <p:ph type="subTitle" idx="1"/>
          </p:nvPr>
        </p:nvSpPr>
        <p:spPr>
          <a:xfrm>
            <a:off x="1524000" y="4716463"/>
            <a:ext cx="9144000" cy="1655762"/>
          </a:xfrm>
        </p:spPr>
        <p:txBody>
          <a:bodyPr/>
          <a:lstStyle>
            <a:lvl1pPr marL="0" indent="0" algn="l">
              <a:buNone/>
              <a:defRPr sz="24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4" name="Picture 3" descr="NUST-logo.png">
            <a:extLst>
              <a:ext uri="{FF2B5EF4-FFF2-40B4-BE49-F238E27FC236}">
                <a16:creationId xmlns:a16="http://schemas.microsoft.com/office/drawing/2014/main" id="{6E708162-C6B5-4F69-ACFE-D801D0559404}"/>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942578" y="661"/>
            <a:ext cx="3249422" cy="1240118"/>
          </a:xfrm>
          <a:prstGeom prst="rect">
            <a:avLst/>
          </a:prstGeom>
        </p:spPr>
      </p:pic>
      <p:grpSp>
        <p:nvGrpSpPr>
          <p:cNvPr id="6" name="Group 5">
            <a:extLst>
              <a:ext uri="{FF2B5EF4-FFF2-40B4-BE49-F238E27FC236}">
                <a16:creationId xmlns:a16="http://schemas.microsoft.com/office/drawing/2014/main" id="{135455CC-DEC1-4C46-9CBD-97C5892159E4}"/>
              </a:ext>
            </a:extLst>
          </p:cNvPr>
          <p:cNvGrpSpPr/>
          <p:nvPr/>
        </p:nvGrpSpPr>
        <p:grpSpPr>
          <a:xfrm>
            <a:off x="1524000" y="4614053"/>
            <a:ext cx="9144000" cy="77100"/>
            <a:chOff x="-1" y="2533163"/>
            <a:chExt cx="7381662" cy="77100"/>
          </a:xfrm>
        </p:grpSpPr>
        <p:sp>
          <p:nvSpPr>
            <p:cNvPr id="19" name="Google Shape;11;p2">
              <a:extLst>
                <a:ext uri="{FF2B5EF4-FFF2-40B4-BE49-F238E27FC236}">
                  <a16:creationId xmlns:a16="http://schemas.microsoft.com/office/drawing/2014/main" id="{DDA94289-5BF4-4035-B53F-A1D8ED0CF55D}"/>
                </a:ext>
              </a:extLst>
            </p:cNvPr>
            <p:cNvSpPr/>
            <p:nvPr userDrawn="1"/>
          </p:nvSpPr>
          <p:spPr>
            <a:xfrm>
              <a:off x="5938246" y="2533163"/>
              <a:ext cx="721800" cy="77100"/>
            </a:xfrm>
            <a:prstGeom prst="rect">
              <a:avLst/>
            </a:prstGeom>
            <a:solidFill>
              <a:srgbClr val="7ECEFD"/>
            </a:solidFill>
            <a:ln>
              <a:noFill/>
            </a:ln>
          </p:spPr>
          <p:txBody>
            <a:bodyPr spcFirstLastPara="1" wrap="square" lIns="91425" tIns="91425" rIns="91425" bIns="91425" anchor="ctr" anchorCtr="0">
              <a:noAutofit/>
            </a:bodyPr>
            <a:lstStyle/>
            <a:p>
              <a:pPr marR="0" lvl="0" indent="0" fontAlgn="auto">
                <a:lnSpc>
                  <a:spcPct val="100000"/>
                </a:lnSpc>
                <a:spcBef>
                  <a:spcPts val="0"/>
                </a:spcBef>
                <a:spcAft>
                  <a:spcPts val="0"/>
                </a:spcAft>
                <a:buClr>
                  <a:srgbClr val="000000"/>
                </a:buClr>
                <a:buSzTx/>
                <a:buFont typeface="Arial"/>
                <a:buNone/>
                <a:tabLst/>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12;p2">
              <a:extLst>
                <a:ext uri="{FF2B5EF4-FFF2-40B4-BE49-F238E27FC236}">
                  <a16:creationId xmlns:a16="http://schemas.microsoft.com/office/drawing/2014/main" id="{0CE17981-878C-4BC8-BE71-37CD9A5C7760}"/>
                </a:ext>
              </a:extLst>
            </p:cNvPr>
            <p:cNvSpPr/>
            <p:nvPr userDrawn="1"/>
          </p:nvSpPr>
          <p:spPr>
            <a:xfrm>
              <a:off x="6659861" y="2533163"/>
              <a:ext cx="721800" cy="77100"/>
            </a:xfrm>
            <a:prstGeom prst="rect">
              <a:avLst/>
            </a:prstGeom>
            <a:solidFill>
              <a:srgbClr val="00477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Google Shape;13;p2">
              <a:extLst>
                <a:ext uri="{FF2B5EF4-FFF2-40B4-BE49-F238E27FC236}">
                  <a16:creationId xmlns:a16="http://schemas.microsoft.com/office/drawing/2014/main" id="{9F0C2E28-B4B6-499E-BD7A-F1082384480C}"/>
                </a:ext>
              </a:extLst>
            </p:cNvPr>
            <p:cNvSpPr/>
            <p:nvPr userDrawn="1"/>
          </p:nvSpPr>
          <p:spPr>
            <a:xfrm>
              <a:off x="-1" y="2533163"/>
              <a:ext cx="721800" cy="77100"/>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noProof="0">
                <a:solidFill>
                  <a:schemeClr val="lt1"/>
                </a:solidFill>
                <a:sym typeface="Arial"/>
              </a:endParaRPr>
            </a:p>
          </p:txBody>
        </p:sp>
        <p:sp>
          <p:nvSpPr>
            <p:cNvPr id="22" name="Google Shape;14;p2">
              <a:extLst>
                <a:ext uri="{FF2B5EF4-FFF2-40B4-BE49-F238E27FC236}">
                  <a16:creationId xmlns:a16="http://schemas.microsoft.com/office/drawing/2014/main" id="{B69F0476-BD7C-405E-B801-16F28D04ACE1}"/>
                </a:ext>
              </a:extLst>
            </p:cNvPr>
            <p:cNvSpPr/>
            <p:nvPr userDrawn="1"/>
          </p:nvSpPr>
          <p:spPr>
            <a:xfrm>
              <a:off x="721425" y="2533163"/>
              <a:ext cx="5216700" cy="77100"/>
            </a:xfrm>
            <a:prstGeom prst="rect">
              <a:avLst/>
            </a:prstGeom>
            <a:solidFill>
              <a:srgbClr val="2185C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3" name="TextBox 12">
            <a:extLst>
              <a:ext uri="{FF2B5EF4-FFF2-40B4-BE49-F238E27FC236}">
                <a16:creationId xmlns:a16="http://schemas.microsoft.com/office/drawing/2014/main" id="{A3B37E65-8132-1DE4-BFA3-9ED1BCCF55A3}"/>
              </a:ext>
            </a:extLst>
          </p:cNvPr>
          <p:cNvSpPr txBox="1"/>
          <p:nvPr/>
        </p:nvSpPr>
        <p:spPr>
          <a:xfrm>
            <a:off x="1405890" y="326279"/>
            <a:ext cx="4564263" cy="615553"/>
          </a:xfrm>
          <a:prstGeom prst="rect">
            <a:avLst/>
          </a:prstGeom>
          <a:noFill/>
        </p:spPr>
        <p:txBody>
          <a:bodyPr wrap="none" rtlCol="0">
            <a:spAutoFit/>
          </a:bodyPr>
          <a:lstStyle/>
          <a:p>
            <a:r>
              <a:rPr lang="en-US" sz="1700" b="1" dirty="0">
                <a:solidFill>
                  <a:srgbClr val="004678"/>
                </a:solidFill>
                <a:latin typeface="Arial" panose="020B0604020202020204" pitchFamily="34" charset="0"/>
                <a:cs typeface="Arial" panose="020B0604020202020204" pitchFamily="34" charset="0"/>
              </a:rPr>
              <a:t>SCHOOL OF ELECTRICL ENGINEERING &amp;</a:t>
            </a:r>
          </a:p>
          <a:p>
            <a:r>
              <a:rPr lang="en-US" sz="1700" b="1" dirty="0">
                <a:solidFill>
                  <a:srgbClr val="004678"/>
                </a:solidFill>
                <a:latin typeface="Arial" panose="020B0604020202020204" pitchFamily="34" charset="0"/>
                <a:cs typeface="Arial" panose="020B0604020202020204" pitchFamily="34" charset="0"/>
              </a:rPr>
              <a:t>COMPUTER SCIENCE (SEECS)</a:t>
            </a:r>
          </a:p>
        </p:txBody>
      </p:sp>
      <p:cxnSp>
        <p:nvCxnSpPr>
          <p:cNvPr id="17" name="Straight Connector 16">
            <a:extLst>
              <a:ext uri="{FF2B5EF4-FFF2-40B4-BE49-F238E27FC236}">
                <a16:creationId xmlns:a16="http://schemas.microsoft.com/office/drawing/2014/main" id="{D5DD04ED-DEC2-A606-6710-ABC8D6BFD875}"/>
              </a:ext>
            </a:extLst>
          </p:cNvPr>
          <p:cNvCxnSpPr>
            <a:cxnSpLocks/>
          </p:cNvCxnSpPr>
          <p:nvPr/>
        </p:nvCxnSpPr>
        <p:spPr>
          <a:xfrm flipV="1">
            <a:off x="1385570" y="141295"/>
            <a:ext cx="0" cy="985520"/>
          </a:xfrm>
          <a:prstGeom prst="line">
            <a:avLst/>
          </a:prstGeom>
          <a:ln w="25400">
            <a:solidFill>
              <a:srgbClr val="004678"/>
            </a:solidFill>
          </a:ln>
        </p:spPr>
        <p:style>
          <a:lnRef idx="1">
            <a:schemeClr val="dk1"/>
          </a:lnRef>
          <a:fillRef idx="0">
            <a:schemeClr val="dk1"/>
          </a:fillRef>
          <a:effectRef idx="0">
            <a:schemeClr val="dk1"/>
          </a:effectRef>
          <a:fontRef idx="minor">
            <a:schemeClr val="tx1"/>
          </a:fontRef>
        </p:style>
      </p:cxnSp>
      <p:pic>
        <p:nvPicPr>
          <p:cNvPr id="8" name="Picture 7" descr="A picture containing circle, logo, emblem, trademark&#10;&#10;Description automatically generated">
            <a:extLst>
              <a:ext uri="{FF2B5EF4-FFF2-40B4-BE49-F238E27FC236}">
                <a16:creationId xmlns:a16="http://schemas.microsoft.com/office/drawing/2014/main" id="{BD12F431-6BBA-8A60-9C90-DF7736E0BB7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508" y="-47834"/>
            <a:ext cx="1422398" cy="1363778"/>
          </a:xfrm>
          <a:prstGeom prst="rect">
            <a:avLst/>
          </a:prstGeom>
        </p:spPr>
      </p:pic>
    </p:spTree>
    <p:extLst>
      <p:ext uri="{BB962C8B-B14F-4D97-AF65-F5344CB8AC3E}">
        <p14:creationId xmlns:p14="http://schemas.microsoft.com/office/powerpoint/2010/main" val="364084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992"/>
                </a:solidFill>
              </a:defRPr>
            </a:lvl1p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200"/>
            </a:lvl1pPr>
            <a:lvl2pPr>
              <a:defRPr sz="2800">
                <a:solidFill>
                  <a:schemeClr val="bg2">
                    <a:lumMod val="50000"/>
                  </a:schemeClr>
                </a:solidFill>
              </a:defRPr>
            </a:lvl2pPr>
            <a:lvl3pPr>
              <a:defRPr sz="2400"/>
            </a:lvl3pPr>
            <a:lvl4pPr>
              <a:defRPr sz="2000">
                <a:solidFill>
                  <a:schemeClr val="bg2">
                    <a:lumMod val="50000"/>
                  </a:schemeClr>
                </a:solidFill>
              </a:defRPr>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lvl1pPr>
              <a:defRPr/>
            </a:lvl1pPr>
          </a:lstStyle>
          <a:p>
            <a:r>
              <a:rPr lang="en-US" dirty="0"/>
              <a:t>Applications of ICT</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76093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2">
            <a:extLst>
              <a:ext uri="{FF2B5EF4-FFF2-40B4-BE49-F238E27FC236}">
                <a16:creationId xmlns:a16="http://schemas.microsoft.com/office/drawing/2014/main" id="{5BFE3D3F-1ABA-5144-847B-84B0BCC0C5EE}"/>
              </a:ext>
            </a:extLst>
          </p:cNvPr>
          <p:cNvSpPr/>
          <p:nvPr/>
        </p:nvSpPr>
        <p:spPr>
          <a:xfrm>
            <a:off x="0" y="-10006"/>
            <a:ext cx="12192001" cy="68780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dpi="0" rotWithShape="1">
            <a:blip r:embed="rId2">
              <a:alphaModFix amt="40000"/>
            </a:blip>
            <a:srcRect/>
            <a:stretch>
              <a:fillRect l="-20312" r="-20312"/>
            </a:stretch>
          </a:blipFill>
        </p:spPr>
        <p:txBody>
          <a:bodyPr/>
          <a:lstStyle/>
          <a:p>
            <a:endParaRPr lang="LID4096"/>
          </a:p>
        </p:txBody>
      </p:sp>
      <p:sp>
        <p:nvSpPr>
          <p:cNvPr id="2" name="Title 1"/>
          <p:cNvSpPr>
            <a:spLocks noGrp="1"/>
          </p:cNvSpPr>
          <p:nvPr>
            <p:ph type="title"/>
          </p:nvPr>
        </p:nvSpPr>
        <p:spPr>
          <a:xfrm>
            <a:off x="831850" y="1590470"/>
            <a:ext cx="10515600" cy="2852737"/>
          </a:xfrm>
        </p:spPr>
        <p:txBody>
          <a:bodyPr anchor="b"/>
          <a:lstStyle>
            <a:lvl1pPr>
              <a:defRPr sz="5400">
                <a:solidFill>
                  <a:srgbClr val="004778"/>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normAutofit/>
          </a:bodyPr>
          <a:lstStyle>
            <a:lvl1pPr marL="0" indent="0">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a:xfrm>
            <a:off x="1905001" y="6487251"/>
            <a:ext cx="8382000" cy="365125"/>
          </a:xfrm>
        </p:spPr>
        <p:txBody>
          <a:bodyPr/>
          <a:lstStyle>
            <a:lvl1pPr>
              <a:defRPr/>
            </a:lvl1pPr>
          </a:lstStyle>
          <a:p>
            <a:r>
              <a:rPr lang="en-US" dirty="0"/>
              <a:t>Applications of ICT</a:t>
            </a:r>
          </a:p>
        </p:txBody>
      </p:sp>
      <p:pic>
        <p:nvPicPr>
          <p:cNvPr id="15" name="Picture 14" descr="NUST-logo.png">
            <a:extLst>
              <a:ext uri="{FF2B5EF4-FFF2-40B4-BE49-F238E27FC236}">
                <a16:creationId xmlns:a16="http://schemas.microsoft.com/office/drawing/2014/main" id="{36A82046-851C-4628-A603-1950E17A6D5B}"/>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818498" y="6346387"/>
            <a:ext cx="1343077" cy="512575"/>
          </a:xfrm>
          <a:prstGeom prst="rect">
            <a:avLst/>
          </a:prstGeom>
        </p:spPr>
      </p:pic>
      <p:grpSp>
        <p:nvGrpSpPr>
          <p:cNvPr id="4" name="Group 3">
            <a:extLst>
              <a:ext uri="{FF2B5EF4-FFF2-40B4-BE49-F238E27FC236}">
                <a16:creationId xmlns:a16="http://schemas.microsoft.com/office/drawing/2014/main" id="{CC85013C-27AA-4C63-A0F4-15084C5CE624}"/>
              </a:ext>
            </a:extLst>
          </p:cNvPr>
          <p:cNvGrpSpPr/>
          <p:nvPr/>
        </p:nvGrpSpPr>
        <p:grpSpPr>
          <a:xfrm>
            <a:off x="0" y="0"/>
            <a:ext cx="12204000" cy="77100"/>
            <a:chOff x="0" y="0"/>
            <a:chExt cx="7381662" cy="77100"/>
          </a:xfrm>
        </p:grpSpPr>
        <p:sp>
          <p:nvSpPr>
            <p:cNvPr id="10" name="Google Shape;11;p2">
              <a:extLst>
                <a:ext uri="{FF2B5EF4-FFF2-40B4-BE49-F238E27FC236}">
                  <a16:creationId xmlns:a16="http://schemas.microsoft.com/office/drawing/2014/main" id="{1C153A3B-2D71-47F6-AB3C-2D513B09DA58}"/>
                </a:ext>
              </a:extLst>
            </p:cNvPr>
            <p:cNvSpPr/>
            <p:nvPr userDrawn="1"/>
          </p:nvSpPr>
          <p:spPr>
            <a:xfrm>
              <a:off x="5938247" y="0"/>
              <a:ext cx="721800" cy="77100"/>
            </a:xfrm>
            <a:prstGeom prst="rect">
              <a:avLst/>
            </a:prstGeom>
            <a:solidFill>
              <a:srgbClr val="7ECEFD"/>
            </a:solidFill>
            <a:ln>
              <a:noFill/>
            </a:ln>
          </p:spPr>
          <p:txBody>
            <a:bodyPr spcFirstLastPara="1" wrap="square" lIns="91425" tIns="91425" rIns="91425" bIns="91425" anchor="ctr" anchorCtr="0">
              <a:noAutofit/>
            </a:bodyPr>
            <a:lstStyle/>
            <a:p>
              <a:pPr marR="0" lvl="0" indent="0" fontAlgn="auto">
                <a:lnSpc>
                  <a:spcPct val="100000"/>
                </a:lnSpc>
                <a:spcBef>
                  <a:spcPts val="0"/>
                </a:spcBef>
                <a:spcAft>
                  <a:spcPts val="0"/>
                </a:spcAft>
                <a:buClr>
                  <a:srgbClr val="000000"/>
                </a:buClr>
                <a:buSzTx/>
                <a:buFont typeface="Arial"/>
                <a:buNone/>
                <a:tabLst/>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 name="Google Shape;12;p2">
              <a:extLst>
                <a:ext uri="{FF2B5EF4-FFF2-40B4-BE49-F238E27FC236}">
                  <a16:creationId xmlns:a16="http://schemas.microsoft.com/office/drawing/2014/main" id="{B888208B-4184-4F36-B6FD-9A66DD67B5B0}"/>
                </a:ext>
              </a:extLst>
            </p:cNvPr>
            <p:cNvSpPr/>
            <p:nvPr userDrawn="1"/>
          </p:nvSpPr>
          <p:spPr>
            <a:xfrm>
              <a:off x="6659862" y="0"/>
              <a:ext cx="721800" cy="77100"/>
            </a:xfrm>
            <a:prstGeom prst="rect">
              <a:avLst/>
            </a:prstGeom>
            <a:solidFill>
              <a:srgbClr val="00477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 name="Google Shape;13;p2">
              <a:extLst>
                <a:ext uri="{FF2B5EF4-FFF2-40B4-BE49-F238E27FC236}">
                  <a16:creationId xmlns:a16="http://schemas.microsoft.com/office/drawing/2014/main" id="{EDAF84F7-C2B7-4C4D-8BB7-C6E01E132385}"/>
                </a:ext>
              </a:extLst>
            </p:cNvPr>
            <p:cNvSpPr/>
            <p:nvPr userDrawn="1"/>
          </p:nvSpPr>
          <p:spPr>
            <a:xfrm>
              <a:off x="0" y="0"/>
              <a:ext cx="721800" cy="77100"/>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noProof="0">
                <a:solidFill>
                  <a:schemeClr val="lt1"/>
                </a:solidFill>
                <a:sym typeface="Arial"/>
              </a:endParaRPr>
            </a:p>
          </p:txBody>
        </p:sp>
        <p:sp>
          <p:nvSpPr>
            <p:cNvPr id="13" name="Google Shape;14;p2">
              <a:extLst>
                <a:ext uri="{FF2B5EF4-FFF2-40B4-BE49-F238E27FC236}">
                  <a16:creationId xmlns:a16="http://schemas.microsoft.com/office/drawing/2014/main" id="{58EDAA57-F530-4DA8-BD46-B1D7E59B6246}"/>
                </a:ext>
              </a:extLst>
            </p:cNvPr>
            <p:cNvSpPr/>
            <p:nvPr userDrawn="1"/>
          </p:nvSpPr>
          <p:spPr>
            <a:xfrm>
              <a:off x="721426" y="0"/>
              <a:ext cx="5216700" cy="77100"/>
            </a:xfrm>
            <a:prstGeom prst="rect">
              <a:avLst/>
            </a:prstGeom>
            <a:solidFill>
              <a:srgbClr val="2185C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pic>
        <p:nvPicPr>
          <p:cNvPr id="17" name="Picture 16">
            <a:extLst>
              <a:ext uri="{FF2B5EF4-FFF2-40B4-BE49-F238E27FC236}">
                <a16:creationId xmlns:a16="http://schemas.microsoft.com/office/drawing/2014/main" id="{3269F94E-FAFA-B948-4F25-49C80AA8A3E9}"/>
              </a:ext>
            </a:extLst>
          </p:cNvPr>
          <p:cNvPicPr>
            <a:picLocks noChangeAspect="1"/>
          </p:cNvPicPr>
          <p:nvPr/>
        </p:nvPicPr>
        <p:blipFill>
          <a:blip r:embed="rId4"/>
          <a:stretch>
            <a:fillRect/>
          </a:stretch>
        </p:blipFill>
        <p:spPr>
          <a:xfrm>
            <a:off x="-26048" y="6305884"/>
            <a:ext cx="2437543" cy="556017"/>
          </a:xfrm>
          <a:prstGeom prst="rect">
            <a:avLst/>
          </a:prstGeom>
        </p:spPr>
      </p:pic>
    </p:spTree>
    <p:extLst>
      <p:ext uri="{BB962C8B-B14F-4D97-AF65-F5344CB8AC3E}">
        <p14:creationId xmlns:p14="http://schemas.microsoft.com/office/powerpoint/2010/main" val="115729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99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374469" y="868848"/>
            <a:ext cx="5645331" cy="55014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199" y="868849"/>
            <a:ext cx="5645331" cy="55014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lvl1pPr>
              <a:defRPr/>
            </a:lvl1pPr>
          </a:lstStyle>
          <a:p>
            <a:r>
              <a:rPr lang="en-US" dirty="0"/>
              <a:t>Applications of ICT</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18453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992"/>
                </a:solidFill>
              </a:defRPr>
            </a:lvl1p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r>
              <a:rPr lang="en-US" dirty="0"/>
              <a:t>Applications of ICT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92312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C35A1C4D-0756-5E2E-295E-8B626A7BCDCE}"/>
              </a:ext>
            </a:extLst>
          </p:cNvPr>
          <p:cNvSpPr/>
          <p:nvPr/>
        </p:nvSpPr>
        <p:spPr>
          <a:xfrm>
            <a:off x="0" y="-10006"/>
            <a:ext cx="12192001" cy="68780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dpi="0" rotWithShape="1">
            <a:blip r:embed="rId2">
              <a:alphaModFix amt="40000"/>
            </a:blip>
            <a:srcRect/>
            <a:stretch>
              <a:fillRect l="-20312" r="-20312"/>
            </a:stretch>
          </a:blipFill>
        </p:spPr>
        <p:txBody>
          <a:bodyPr/>
          <a:lstStyle/>
          <a:p>
            <a:endParaRPr lang="LID4096"/>
          </a:p>
        </p:txBody>
      </p:sp>
      <p:sp>
        <p:nvSpPr>
          <p:cNvPr id="3" name="Footer Placeholder 2"/>
          <p:cNvSpPr>
            <a:spLocks noGrp="1"/>
          </p:cNvSpPr>
          <p:nvPr>
            <p:ph type="ftr" sz="quarter" idx="11"/>
          </p:nvPr>
        </p:nvSpPr>
        <p:spPr/>
        <p:txBody>
          <a:bodyPr/>
          <a:lstStyle/>
          <a:p>
            <a:r>
              <a:rPr lang="en-US" dirty="0"/>
              <a:t>Applications of ICT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726983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7" name="Freeform 2">
            <a:extLst>
              <a:ext uri="{FF2B5EF4-FFF2-40B4-BE49-F238E27FC236}">
                <a16:creationId xmlns:a16="http://schemas.microsoft.com/office/drawing/2014/main" id="{3A00D127-6E33-F31E-202E-C50B77103564}"/>
              </a:ext>
            </a:extLst>
          </p:cNvPr>
          <p:cNvSpPr/>
          <p:nvPr/>
        </p:nvSpPr>
        <p:spPr>
          <a:xfrm>
            <a:off x="0" y="-10006"/>
            <a:ext cx="12192001" cy="6878012"/>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dpi="0" rotWithShape="1">
            <a:blip r:embed="rId8">
              <a:alphaModFix amt="40000"/>
            </a:blip>
            <a:srcRect/>
            <a:stretch>
              <a:fillRect l="-20312" r="-20312"/>
            </a:stretch>
          </a:blipFill>
        </p:spPr>
        <p:txBody>
          <a:bodyPr/>
          <a:lstStyle/>
          <a:p>
            <a:endParaRPr lang="LID4096"/>
          </a:p>
        </p:txBody>
      </p:sp>
      <p:sp>
        <p:nvSpPr>
          <p:cNvPr id="2" name="Title Placeholder 1"/>
          <p:cNvSpPr>
            <a:spLocks noGrp="1"/>
          </p:cNvSpPr>
          <p:nvPr>
            <p:ph type="title"/>
          </p:nvPr>
        </p:nvSpPr>
        <p:spPr>
          <a:xfrm>
            <a:off x="374469" y="157"/>
            <a:ext cx="11443061" cy="649224"/>
          </a:xfrm>
          <a:prstGeom prst="rect">
            <a:avLst/>
          </a:prstGeom>
        </p:spPr>
        <p:txBody>
          <a:bodyPr vert="horz" lIns="91440" tIns="45720" rIns="91440" bIns="45720" rtlCol="0" anchor="ctr">
            <a:noAutofit/>
          </a:bodyPr>
          <a:lstStyle/>
          <a:p>
            <a:endParaRPr lang="en-US" dirty="0"/>
          </a:p>
        </p:txBody>
      </p:sp>
      <p:sp>
        <p:nvSpPr>
          <p:cNvPr id="3" name="Text Placeholder 2"/>
          <p:cNvSpPr>
            <a:spLocks noGrp="1"/>
          </p:cNvSpPr>
          <p:nvPr>
            <p:ph type="body" idx="1"/>
          </p:nvPr>
        </p:nvSpPr>
        <p:spPr>
          <a:xfrm>
            <a:off x="374468" y="868849"/>
            <a:ext cx="11443063" cy="54870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1373502" y="6487251"/>
            <a:ext cx="9444997" cy="365125"/>
          </a:xfrm>
          <a:prstGeom prst="rect">
            <a:avLst/>
          </a:prstGeom>
        </p:spPr>
        <p:txBody>
          <a:bodyPr vert="horz" lIns="91440" tIns="45720" rIns="91440" bIns="45720" rtlCol="0" anchor="ctr"/>
          <a:lstStyle>
            <a:lvl1pPr algn="ctr">
              <a:defRPr sz="1200" b="0">
                <a:solidFill>
                  <a:schemeClr val="bg1">
                    <a:lumMod val="50000"/>
                  </a:schemeClr>
                </a:solidFill>
              </a:defRPr>
            </a:lvl1pPr>
          </a:lstStyle>
          <a:p>
            <a:r>
              <a:rPr lang="en-US"/>
              <a:t>Fundamentals of Computer Programming</a:t>
            </a:r>
          </a:p>
        </p:txBody>
      </p:sp>
      <p:sp>
        <p:nvSpPr>
          <p:cNvPr id="6" name="Slide Number Placeholder 5"/>
          <p:cNvSpPr>
            <a:spLocks noGrp="1"/>
          </p:cNvSpPr>
          <p:nvPr>
            <p:ph type="sldNum" sz="quarter" idx="4"/>
          </p:nvPr>
        </p:nvSpPr>
        <p:spPr>
          <a:xfrm>
            <a:off x="11136283" y="6492875"/>
            <a:ext cx="681248" cy="365125"/>
          </a:xfrm>
          <a:prstGeom prst="rect">
            <a:avLst/>
          </a:prstGeom>
        </p:spPr>
        <p:txBody>
          <a:bodyPr vert="horz" lIns="91440" tIns="45720" rIns="91440" bIns="45720" rtlCol="0" anchor="ctr"/>
          <a:lstStyle>
            <a:lvl1pPr algn="r">
              <a:defRPr sz="1200" b="0">
                <a:solidFill>
                  <a:schemeClr val="bg1">
                    <a:lumMod val="50000"/>
                  </a:schemeClr>
                </a:solidFill>
              </a:defRPr>
            </a:lvl1pPr>
          </a:lstStyle>
          <a:p>
            <a:fld id="{B6F15528-21DE-4FAA-801E-634DDDAF4B2B}" type="slidenum">
              <a:rPr lang="en-US" smtClean="0"/>
              <a:pPr/>
              <a:t>‹#›</a:t>
            </a:fld>
            <a:endParaRPr lang="en-US"/>
          </a:p>
        </p:txBody>
      </p:sp>
      <p:grpSp>
        <p:nvGrpSpPr>
          <p:cNvPr id="4" name="Group 3">
            <a:extLst>
              <a:ext uri="{FF2B5EF4-FFF2-40B4-BE49-F238E27FC236}">
                <a16:creationId xmlns:a16="http://schemas.microsoft.com/office/drawing/2014/main" id="{D46421C2-E946-4940-97CF-2B44AA7D7128}"/>
              </a:ext>
            </a:extLst>
          </p:cNvPr>
          <p:cNvGrpSpPr/>
          <p:nvPr/>
        </p:nvGrpSpPr>
        <p:grpSpPr>
          <a:xfrm>
            <a:off x="354000" y="672779"/>
            <a:ext cx="11484000" cy="36000"/>
            <a:chOff x="-1" y="2533163"/>
            <a:chExt cx="7381662" cy="77100"/>
          </a:xfrm>
        </p:grpSpPr>
        <p:sp>
          <p:nvSpPr>
            <p:cNvPr id="16" name="Google Shape;11;p2">
              <a:extLst>
                <a:ext uri="{FF2B5EF4-FFF2-40B4-BE49-F238E27FC236}">
                  <a16:creationId xmlns:a16="http://schemas.microsoft.com/office/drawing/2014/main" id="{19C0DB5B-72AE-4C70-8F73-D9FDC654D07D}"/>
                </a:ext>
              </a:extLst>
            </p:cNvPr>
            <p:cNvSpPr/>
            <p:nvPr userDrawn="1"/>
          </p:nvSpPr>
          <p:spPr>
            <a:xfrm>
              <a:off x="5938246" y="2533163"/>
              <a:ext cx="721800" cy="77100"/>
            </a:xfrm>
            <a:prstGeom prst="rect">
              <a:avLst/>
            </a:prstGeom>
            <a:solidFill>
              <a:srgbClr val="7ECEFD"/>
            </a:solidFill>
            <a:ln>
              <a:noFill/>
            </a:ln>
          </p:spPr>
          <p:txBody>
            <a:bodyPr spcFirstLastPara="1" wrap="square" lIns="91425" tIns="91425" rIns="91425" bIns="91425" anchor="ctr" anchorCtr="0">
              <a:noAutofit/>
            </a:bodyPr>
            <a:lstStyle/>
            <a:p>
              <a:pPr marR="0" lvl="0" indent="0" fontAlgn="auto">
                <a:lnSpc>
                  <a:spcPct val="100000"/>
                </a:lnSpc>
                <a:spcBef>
                  <a:spcPts val="0"/>
                </a:spcBef>
                <a:spcAft>
                  <a:spcPts val="0"/>
                </a:spcAft>
                <a:buClr>
                  <a:srgbClr val="000000"/>
                </a:buClr>
                <a:buSzTx/>
                <a:buFont typeface="Arial"/>
                <a:buNone/>
                <a:tabLst/>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Google Shape;12;p2">
              <a:extLst>
                <a:ext uri="{FF2B5EF4-FFF2-40B4-BE49-F238E27FC236}">
                  <a16:creationId xmlns:a16="http://schemas.microsoft.com/office/drawing/2014/main" id="{F01C745C-9969-42D0-BDFC-6855C5FA2115}"/>
                </a:ext>
              </a:extLst>
            </p:cNvPr>
            <p:cNvSpPr/>
            <p:nvPr userDrawn="1"/>
          </p:nvSpPr>
          <p:spPr>
            <a:xfrm>
              <a:off x="6659861" y="2533163"/>
              <a:ext cx="721800" cy="77100"/>
            </a:xfrm>
            <a:prstGeom prst="rect">
              <a:avLst/>
            </a:prstGeom>
            <a:solidFill>
              <a:srgbClr val="004778"/>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13;p2">
              <a:extLst>
                <a:ext uri="{FF2B5EF4-FFF2-40B4-BE49-F238E27FC236}">
                  <a16:creationId xmlns:a16="http://schemas.microsoft.com/office/drawing/2014/main" id="{2E53C4EE-FDDD-4371-9C09-5315DE3FC70F}"/>
                </a:ext>
              </a:extLst>
            </p:cNvPr>
            <p:cNvSpPr/>
            <p:nvPr userDrawn="1"/>
          </p:nvSpPr>
          <p:spPr>
            <a:xfrm>
              <a:off x="-1" y="2533163"/>
              <a:ext cx="721800" cy="77100"/>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noProof="0">
                <a:solidFill>
                  <a:schemeClr val="lt1"/>
                </a:solidFill>
                <a:sym typeface="Arial"/>
              </a:endParaRPr>
            </a:p>
          </p:txBody>
        </p:sp>
        <p:sp>
          <p:nvSpPr>
            <p:cNvPr id="21" name="Google Shape;14;p2">
              <a:extLst>
                <a:ext uri="{FF2B5EF4-FFF2-40B4-BE49-F238E27FC236}">
                  <a16:creationId xmlns:a16="http://schemas.microsoft.com/office/drawing/2014/main" id="{D15E8F4E-4D67-46C3-BBEC-E8113784915E}"/>
                </a:ext>
              </a:extLst>
            </p:cNvPr>
            <p:cNvSpPr/>
            <p:nvPr userDrawn="1"/>
          </p:nvSpPr>
          <p:spPr>
            <a:xfrm>
              <a:off x="721425" y="2533163"/>
              <a:ext cx="5216700" cy="77100"/>
            </a:xfrm>
            <a:prstGeom prst="rect">
              <a:avLst/>
            </a:prstGeom>
            <a:solidFill>
              <a:srgbClr val="2185C5"/>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13254660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lgn="l" defTabSz="914400" rtl="0" eaLnBrk="1" latinLnBrk="0" hangingPunct="1">
        <a:lnSpc>
          <a:spcPct val="90000"/>
        </a:lnSpc>
        <a:spcBef>
          <a:spcPct val="0"/>
        </a:spcBef>
        <a:buNone/>
        <a:defRPr sz="4000" kern="1200">
          <a:solidFill>
            <a:srgbClr val="004778"/>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rgbClr val="004778"/>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bg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rgbClr val="004778"/>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477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07059"/>
            <a:ext cx="9677400" cy="2387600"/>
          </a:xfrm>
        </p:spPr>
        <p:txBody>
          <a:bodyPr/>
          <a:lstStyle/>
          <a:p>
            <a:br>
              <a:rPr lang="en-US" sz="5400" dirty="0">
                <a:latin typeface="Times New Roman" panose="02020603050405020304" pitchFamily="18" charset="0"/>
                <a:cs typeface="Times New Roman" panose="02020603050405020304" pitchFamily="18" charset="0"/>
              </a:rPr>
            </a:br>
            <a:r>
              <a:rPr lang="en-US" sz="5400" dirty="0">
                <a:latin typeface="Times New Roman" panose="02020603050405020304" pitchFamily="18" charset="0"/>
                <a:cs typeface="Times New Roman" panose="02020603050405020304" pitchFamily="18" charset="0"/>
              </a:rPr>
              <a:t>Applications of ICT (CS 108)</a:t>
            </a:r>
            <a:endParaRPr lang="en-US" sz="44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524000" y="4716463"/>
            <a:ext cx="9677400" cy="1655762"/>
          </a:xfrm>
        </p:spPr>
        <p:txBody>
          <a:bodyPr>
            <a:normAutofit/>
          </a:bodyPr>
          <a:lstStyle/>
          <a:p>
            <a:r>
              <a:rPr lang="en-US" dirty="0">
                <a:latin typeface="Times New Roman" panose="02020603050405020304" pitchFamily="18" charset="0"/>
                <a:cs typeface="Times New Roman" panose="02020603050405020304" pitchFamily="18" charset="0"/>
              </a:rPr>
              <a:t>Sara Tariq Sheikh</a:t>
            </a:r>
          </a:p>
        </p:txBody>
      </p:sp>
    </p:spTree>
    <p:extLst>
      <p:ext uri="{BB962C8B-B14F-4D97-AF65-F5344CB8AC3E}">
        <p14:creationId xmlns:p14="http://schemas.microsoft.com/office/powerpoint/2010/main" val="1178929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A46647D-02CB-4CB6-B0A2-5249915C1B3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Agenda</a:t>
            </a:r>
          </a:p>
        </p:txBody>
      </p:sp>
      <p:sp>
        <p:nvSpPr>
          <p:cNvPr id="6" name="Content Placeholder 5">
            <a:extLst>
              <a:ext uri="{FF2B5EF4-FFF2-40B4-BE49-F238E27FC236}">
                <a16:creationId xmlns:a16="http://schemas.microsoft.com/office/drawing/2014/main" id="{2C7D5551-93DD-4658-B4D2-560DD5667137}"/>
              </a:ext>
            </a:extLst>
          </p:cNvPr>
          <p:cNvSpPr>
            <a:spLocks noGrp="1"/>
          </p:cNvSpPr>
          <p:nvPr>
            <p:ph idx="1"/>
          </p:nvPr>
        </p:nvSpPr>
        <p:spPr>
          <a:xfrm>
            <a:off x="374469" y="1295401"/>
            <a:ext cx="11665132" cy="3771650"/>
          </a:xfrm>
        </p:spPr>
        <p:txBody>
          <a:bodyPr>
            <a:normAutofit/>
          </a:bodyPr>
          <a:lstStyle/>
          <a:p>
            <a:r>
              <a:rPr lang="en-US" sz="4000" dirty="0">
                <a:latin typeface="Times New Roman" panose="02020603050405020304" pitchFamily="18" charset="0"/>
                <a:cs typeface="Times New Roman" panose="02020603050405020304" pitchFamily="18" charset="0"/>
              </a:rPr>
              <a:t>Problem Solving</a:t>
            </a:r>
          </a:p>
          <a:p>
            <a:pPr lvl="1"/>
            <a:r>
              <a:rPr lang="en-US" sz="3600" dirty="0">
                <a:latin typeface="Times New Roman" panose="02020603050405020304" pitchFamily="18" charset="0"/>
                <a:cs typeface="Times New Roman" panose="02020603050405020304" pitchFamily="18" charset="0"/>
              </a:rPr>
              <a:t>Basics</a:t>
            </a:r>
          </a:p>
          <a:p>
            <a:pPr lvl="1"/>
            <a:r>
              <a:rPr lang="en-US" sz="3600" dirty="0">
                <a:latin typeface="Times New Roman" panose="02020603050405020304" pitchFamily="18" charset="0"/>
                <a:cs typeface="Times New Roman" panose="02020603050405020304" pitchFamily="18" charset="0"/>
              </a:rPr>
              <a:t>Algorithms</a:t>
            </a:r>
          </a:p>
          <a:p>
            <a:pPr lvl="1"/>
            <a:r>
              <a:rPr lang="en-US" sz="3600" dirty="0">
                <a:latin typeface="Times New Roman" panose="02020603050405020304" pitchFamily="18" charset="0"/>
                <a:cs typeface="Times New Roman" panose="02020603050405020304" pitchFamily="18" charset="0"/>
              </a:rPr>
              <a:t>Pseudocodes</a:t>
            </a:r>
            <a:endParaRPr lang="en-US" sz="4000" dirty="0">
              <a:latin typeface="Times New Roman" panose="02020603050405020304" pitchFamily="18" charset="0"/>
              <a:cs typeface="Times New Roman" panose="02020603050405020304" pitchFamily="18" charset="0"/>
            </a:endParaRPr>
          </a:p>
          <a:p>
            <a:r>
              <a:rPr lang="en-US" sz="4000" dirty="0">
                <a:latin typeface="Times New Roman" panose="02020603050405020304" pitchFamily="18" charset="0"/>
                <a:cs typeface="Times New Roman" panose="02020603050405020304" pitchFamily="18" charset="0"/>
              </a:rPr>
              <a:t>Mathematical Foundations for Computing</a:t>
            </a:r>
          </a:p>
          <a:p>
            <a:pPr lvl="1"/>
            <a:r>
              <a:rPr lang="en-US" sz="3600" dirty="0">
                <a:latin typeface="Times New Roman" panose="02020603050405020304" pitchFamily="18" charset="0"/>
                <a:cs typeface="Times New Roman" panose="02020603050405020304" pitchFamily="18" charset="0"/>
              </a:rPr>
              <a:t>Logic Building</a:t>
            </a:r>
          </a:p>
        </p:txBody>
      </p:sp>
      <p:sp>
        <p:nvSpPr>
          <p:cNvPr id="4" name="Footer Placeholder 3">
            <a:extLst>
              <a:ext uri="{FF2B5EF4-FFF2-40B4-BE49-F238E27FC236}">
                <a16:creationId xmlns:a16="http://schemas.microsoft.com/office/drawing/2014/main" id="{58EAD477-2749-4761-8693-400F8584EC51}"/>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Applications of ICT</a:t>
            </a:r>
          </a:p>
        </p:txBody>
      </p:sp>
    </p:spTree>
    <p:extLst>
      <p:ext uri="{BB962C8B-B14F-4D97-AF65-F5344CB8AC3E}">
        <p14:creationId xmlns:p14="http://schemas.microsoft.com/office/powerpoint/2010/main" val="1870134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98B1293-4166-42A8-9EB3-3B6FC8E27E4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Recap!</a:t>
            </a:r>
          </a:p>
        </p:txBody>
      </p:sp>
      <p:sp>
        <p:nvSpPr>
          <p:cNvPr id="7" name="Text Placeholder 6">
            <a:extLst>
              <a:ext uri="{FF2B5EF4-FFF2-40B4-BE49-F238E27FC236}">
                <a16:creationId xmlns:a16="http://schemas.microsoft.com/office/drawing/2014/main" id="{24FB2707-925C-4A1E-9A70-5F3403236B3C}"/>
              </a:ext>
            </a:extLst>
          </p:cNvPr>
          <p:cNvSpPr>
            <a:spLocks noGrp="1"/>
          </p:cNvSpPr>
          <p:nvPr>
            <p:ph type="body" idx="1"/>
          </p:nvPr>
        </p:nvSpPr>
        <p:spPr/>
        <p:txBody>
          <a:bodyPr>
            <a:normAutofit/>
          </a:bodyPr>
          <a:lstStyle/>
          <a:p>
            <a:r>
              <a:rPr lang="en-US" sz="2800" b="1" dirty="0">
                <a:solidFill>
                  <a:schemeClr val="tx1"/>
                </a:solidFill>
                <a:latin typeface="Times New Roman" panose="02020603050405020304" pitchFamily="18" charset="0"/>
                <a:cs typeface="Times New Roman" panose="02020603050405020304" pitchFamily="18" charset="0"/>
              </a:rPr>
              <a:t>Key Points</a:t>
            </a:r>
          </a:p>
        </p:txBody>
      </p:sp>
      <p:sp>
        <p:nvSpPr>
          <p:cNvPr id="4" name="Footer Placeholder 3">
            <a:extLst>
              <a:ext uri="{FF2B5EF4-FFF2-40B4-BE49-F238E27FC236}">
                <a16:creationId xmlns:a16="http://schemas.microsoft.com/office/drawing/2014/main" id="{4C416980-AD8E-4902-99C2-6B5DB7CEF1BB}"/>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lumMod val="50000"/>
                  </a:prstClr>
                </a:solidFill>
                <a:effectLst/>
                <a:uLnTx/>
                <a:uFillTx/>
                <a:latin typeface="Calibri" panose="020F0502020204030204"/>
                <a:ea typeface="+mn-ea"/>
                <a:cs typeface="+mn-cs"/>
              </a:rPr>
              <a:t>Fundamentals of Computer Programming</a:t>
            </a:r>
          </a:p>
        </p:txBody>
      </p:sp>
      <p:sp>
        <p:nvSpPr>
          <p:cNvPr id="5" name="Slide Number Placeholder 4">
            <a:extLst>
              <a:ext uri="{FF2B5EF4-FFF2-40B4-BE49-F238E27FC236}">
                <a16:creationId xmlns:a16="http://schemas.microsoft.com/office/drawing/2014/main" id="{5BD19202-B0D3-433D-843C-D82ADE9C2DF7}"/>
              </a:ext>
            </a:extLst>
          </p:cNvPr>
          <p:cNvSpPr>
            <a:spLocks noGrp="1"/>
          </p:cNvSpPr>
          <p:nvPr>
            <p:ph type="sldNum" sz="quarter" idx="4294967295"/>
          </p:nvPr>
        </p:nvSpPr>
        <p:spPr>
          <a:xfrm>
            <a:off x="11510963" y="6492875"/>
            <a:ext cx="68103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334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D5559D4-7C60-4C3B-A1B5-DF5B2CC8E8F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Computational Thinking</a:t>
            </a:r>
          </a:p>
        </p:txBody>
      </p:sp>
      <p:sp>
        <p:nvSpPr>
          <p:cNvPr id="4" name="Footer Placeholder 3">
            <a:extLst>
              <a:ext uri="{FF2B5EF4-FFF2-40B4-BE49-F238E27FC236}">
                <a16:creationId xmlns:a16="http://schemas.microsoft.com/office/drawing/2014/main" id="{E6D5A956-B851-46DB-BEA2-2B8612CD6413}"/>
              </a:ext>
            </a:extLst>
          </p:cNvPr>
          <p:cNvSpPr>
            <a:spLocks noGrp="1"/>
          </p:cNvSpPr>
          <p:nvPr>
            <p:ph type="ftr" sz="quarter" idx="11"/>
          </p:nvPr>
        </p:nvSpPr>
        <p:spPr/>
        <p:txBody>
          <a:bodyPr/>
          <a:lstStyle/>
          <a:p>
            <a:r>
              <a:rPr lang="en-US"/>
              <a:t>Applications of ICT</a:t>
            </a:r>
            <a:endParaRPr lang="en-US" dirty="0"/>
          </a:p>
        </p:txBody>
      </p:sp>
      <p:pic>
        <p:nvPicPr>
          <p:cNvPr id="8" name="Picture 7">
            <a:extLst>
              <a:ext uri="{FF2B5EF4-FFF2-40B4-BE49-F238E27FC236}">
                <a16:creationId xmlns:a16="http://schemas.microsoft.com/office/drawing/2014/main" id="{9FCED71A-C76F-4629-9FC8-B2EF7A814933}"/>
              </a:ext>
            </a:extLst>
          </p:cNvPr>
          <p:cNvPicPr>
            <a:picLocks noChangeAspect="1"/>
          </p:cNvPicPr>
          <p:nvPr/>
        </p:nvPicPr>
        <p:blipFill>
          <a:blip r:embed="rId2"/>
          <a:stretch>
            <a:fillRect/>
          </a:stretch>
        </p:blipFill>
        <p:spPr>
          <a:xfrm>
            <a:off x="2509520" y="985737"/>
            <a:ext cx="7315200" cy="5501514"/>
          </a:xfrm>
          <a:prstGeom prst="rect">
            <a:avLst/>
          </a:prstGeom>
          <a:ln w="3175">
            <a:solidFill>
              <a:schemeClr val="tx1"/>
            </a:solidFill>
          </a:ln>
        </p:spPr>
      </p:pic>
    </p:spTree>
    <p:extLst>
      <p:ext uri="{BB962C8B-B14F-4D97-AF65-F5344CB8AC3E}">
        <p14:creationId xmlns:p14="http://schemas.microsoft.com/office/powerpoint/2010/main" val="564834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3DB92-500D-4C36-8C3C-CC214234A5A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Computational Thinking</a:t>
            </a:r>
          </a:p>
        </p:txBody>
      </p:sp>
      <p:sp>
        <p:nvSpPr>
          <p:cNvPr id="4" name="Footer Placeholder 3">
            <a:extLst>
              <a:ext uri="{FF2B5EF4-FFF2-40B4-BE49-F238E27FC236}">
                <a16:creationId xmlns:a16="http://schemas.microsoft.com/office/drawing/2014/main" id="{6C3BF6C2-7EF0-4DFE-B0B9-3DB7B4D4EFE3}"/>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8CCCF1C9-BA74-4F9B-8D0C-7F5B2D55C29C}"/>
              </a:ext>
            </a:extLst>
          </p:cNvPr>
          <p:cNvSpPr>
            <a:spLocks noGrp="1"/>
          </p:cNvSpPr>
          <p:nvPr>
            <p:ph type="sldNum" sz="quarter" idx="12"/>
          </p:nvPr>
        </p:nvSpPr>
        <p:spPr/>
        <p:txBody>
          <a:bodyPr/>
          <a:lstStyle/>
          <a:p>
            <a:fld id="{B6F15528-21DE-4FAA-801E-634DDDAF4B2B}" type="slidenum">
              <a:rPr lang="en-US" smtClean="0"/>
              <a:pPr/>
              <a:t>5</a:t>
            </a:fld>
            <a:endParaRPr lang="en-US"/>
          </a:p>
        </p:txBody>
      </p:sp>
      <p:pic>
        <p:nvPicPr>
          <p:cNvPr id="7" name="Picture 6">
            <a:extLst>
              <a:ext uri="{FF2B5EF4-FFF2-40B4-BE49-F238E27FC236}">
                <a16:creationId xmlns:a16="http://schemas.microsoft.com/office/drawing/2014/main" id="{30BF7EF1-6A73-4167-AA45-BCD0DA885CBC}"/>
              </a:ext>
            </a:extLst>
          </p:cNvPr>
          <p:cNvPicPr>
            <a:picLocks noChangeAspect="1"/>
          </p:cNvPicPr>
          <p:nvPr/>
        </p:nvPicPr>
        <p:blipFill>
          <a:blip r:embed="rId2"/>
          <a:stretch>
            <a:fillRect/>
          </a:stretch>
        </p:blipFill>
        <p:spPr>
          <a:xfrm>
            <a:off x="1869440" y="1070836"/>
            <a:ext cx="8786499" cy="5296123"/>
          </a:xfrm>
          <a:prstGeom prst="rect">
            <a:avLst/>
          </a:prstGeom>
          <a:ln w="6350">
            <a:solidFill>
              <a:schemeClr val="tx1"/>
            </a:solidFill>
          </a:ln>
        </p:spPr>
      </p:pic>
    </p:spTree>
    <p:extLst>
      <p:ext uri="{BB962C8B-B14F-4D97-AF65-F5344CB8AC3E}">
        <p14:creationId xmlns:p14="http://schemas.microsoft.com/office/powerpoint/2010/main" val="2116904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1B473-777B-49B4-8285-C0CE87F1B997}"/>
              </a:ext>
            </a:extLst>
          </p:cNvPr>
          <p:cNvSpPr>
            <a:spLocks noGrp="1"/>
          </p:cNvSpPr>
          <p:nvPr>
            <p:ph type="title"/>
          </p:nvPr>
        </p:nvSpPr>
        <p:spPr>
          <a:xfrm>
            <a:off x="374469" y="-71560"/>
            <a:ext cx="11443061" cy="649224"/>
          </a:xfrm>
        </p:spPr>
        <p:txBody>
          <a:bodyPr/>
          <a:lstStyle/>
          <a:p>
            <a:r>
              <a:rPr lang="en-US" dirty="0">
                <a:latin typeface="Times New Roman" panose="02020603050405020304" pitchFamily="18" charset="0"/>
                <a:cs typeface="Times New Roman" panose="02020603050405020304" pitchFamily="18" charset="0"/>
              </a:rPr>
              <a:t>Example : Modern Games</a:t>
            </a:r>
          </a:p>
        </p:txBody>
      </p:sp>
      <p:sp>
        <p:nvSpPr>
          <p:cNvPr id="3" name="Content Placeholder 2">
            <a:extLst>
              <a:ext uri="{FF2B5EF4-FFF2-40B4-BE49-F238E27FC236}">
                <a16:creationId xmlns:a16="http://schemas.microsoft.com/office/drawing/2014/main" id="{37CB8DC1-8FFC-43F8-92F4-D312B052FAD3}"/>
              </a:ext>
            </a:extLst>
          </p:cNvPr>
          <p:cNvSpPr>
            <a:spLocks noGrp="1"/>
          </p:cNvSpPr>
          <p:nvPr>
            <p:ph idx="1"/>
          </p:nvPr>
        </p:nvSpPr>
        <p:spPr>
          <a:xfrm>
            <a:off x="349690" y="1461247"/>
            <a:ext cx="11443061" cy="4105712"/>
          </a:xfrm>
        </p:spPr>
        <p:txBody>
          <a:bodyPr/>
          <a:lstStyle/>
          <a:p>
            <a:r>
              <a:rPr lang="en-US" dirty="0">
                <a:latin typeface="Times New Roman" panose="02020603050405020304" pitchFamily="18" charset="0"/>
                <a:cs typeface="Times New Roman" panose="02020603050405020304" pitchFamily="18" charset="0"/>
              </a:rPr>
              <a:t>Levels - Levels can be designed/created/tested/ independently of other levels</a:t>
            </a:r>
          </a:p>
          <a:p>
            <a:r>
              <a:rPr lang="en-US" dirty="0">
                <a:latin typeface="Times New Roman" panose="02020603050405020304" pitchFamily="18" charset="0"/>
                <a:cs typeface="Times New Roman" panose="02020603050405020304" pitchFamily="18" charset="0"/>
              </a:rPr>
              <a:t>Characters - The mechanics of characters in the game can be designed and created by a separate team</a:t>
            </a:r>
          </a:p>
          <a:p>
            <a:r>
              <a:rPr lang="en-US" dirty="0">
                <a:latin typeface="Times New Roman" panose="02020603050405020304" pitchFamily="18" charset="0"/>
                <a:cs typeface="Times New Roman" panose="02020603050405020304" pitchFamily="18" charset="0"/>
              </a:rPr>
              <a:t>Landscape - The art team can work on the visual aspects of the game without needing to understand how the game is programmed</a:t>
            </a:r>
          </a:p>
        </p:txBody>
      </p:sp>
      <p:sp>
        <p:nvSpPr>
          <p:cNvPr id="4" name="Footer Placeholder 3">
            <a:extLst>
              <a:ext uri="{FF2B5EF4-FFF2-40B4-BE49-F238E27FC236}">
                <a16:creationId xmlns:a16="http://schemas.microsoft.com/office/drawing/2014/main" id="{F3ECBC72-B683-4ADE-83A0-ED4F86F6945A}"/>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806DEE5F-89D0-4B7C-BC7F-AECE2F3AAC63}"/>
              </a:ext>
            </a:extLst>
          </p:cNvPr>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3045037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3373A-46B7-4CEA-A36B-31FDECFA618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Example</a:t>
            </a:r>
          </a:p>
        </p:txBody>
      </p:sp>
      <p:sp>
        <p:nvSpPr>
          <p:cNvPr id="4" name="Footer Placeholder 3">
            <a:extLst>
              <a:ext uri="{FF2B5EF4-FFF2-40B4-BE49-F238E27FC236}">
                <a16:creationId xmlns:a16="http://schemas.microsoft.com/office/drawing/2014/main" id="{9B0C8BD3-B09C-4C3A-BC03-B3AE53370B7B}"/>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91E6BC8E-CCF2-45FF-9396-B8945DBBAEC1}"/>
              </a:ext>
            </a:extLst>
          </p:cNvPr>
          <p:cNvSpPr>
            <a:spLocks noGrp="1"/>
          </p:cNvSpPr>
          <p:nvPr>
            <p:ph type="sldNum" sz="quarter" idx="12"/>
          </p:nvPr>
        </p:nvSpPr>
        <p:spPr/>
        <p:txBody>
          <a:bodyPr/>
          <a:lstStyle/>
          <a:p>
            <a:fld id="{B6F15528-21DE-4FAA-801E-634DDDAF4B2B}" type="slidenum">
              <a:rPr lang="en-US" smtClean="0"/>
              <a:pPr/>
              <a:t>7</a:t>
            </a:fld>
            <a:endParaRPr lang="en-US"/>
          </a:p>
        </p:txBody>
      </p:sp>
      <p:pic>
        <p:nvPicPr>
          <p:cNvPr id="7" name="Picture 6">
            <a:extLst>
              <a:ext uri="{FF2B5EF4-FFF2-40B4-BE49-F238E27FC236}">
                <a16:creationId xmlns:a16="http://schemas.microsoft.com/office/drawing/2014/main" id="{F2A8F5ED-B31E-4A97-9A52-F3613C3E8083}"/>
              </a:ext>
            </a:extLst>
          </p:cNvPr>
          <p:cNvPicPr>
            <a:picLocks noChangeAspect="1"/>
          </p:cNvPicPr>
          <p:nvPr/>
        </p:nvPicPr>
        <p:blipFill>
          <a:blip r:embed="rId2"/>
          <a:stretch>
            <a:fillRect/>
          </a:stretch>
        </p:blipFill>
        <p:spPr>
          <a:xfrm>
            <a:off x="1300480" y="903483"/>
            <a:ext cx="10017652" cy="5583768"/>
          </a:xfrm>
          <a:prstGeom prst="rect">
            <a:avLst/>
          </a:prstGeom>
        </p:spPr>
      </p:pic>
    </p:spTree>
    <p:extLst>
      <p:ext uri="{BB962C8B-B14F-4D97-AF65-F5344CB8AC3E}">
        <p14:creationId xmlns:p14="http://schemas.microsoft.com/office/powerpoint/2010/main" val="2668298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21CA2-1386-45A6-AE7B-90B07E375E5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Abstraction – Automation - Analysis</a:t>
            </a:r>
          </a:p>
        </p:txBody>
      </p:sp>
      <p:sp>
        <p:nvSpPr>
          <p:cNvPr id="4" name="Footer Placeholder 3">
            <a:extLst>
              <a:ext uri="{FF2B5EF4-FFF2-40B4-BE49-F238E27FC236}">
                <a16:creationId xmlns:a16="http://schemas.microsoft.com/office/drawing/2014/main" id="{DD757A6E-AB7A-4D71-9F66-99363A9E6FB5}"/>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290C0EEE-E9C2-4748-BD82-8BFC3EFB48D6}"/>
              </a:ext>
            </a:extLst>
          </p:cNvPr>
          <p:cNvSpPr>
            <a:spLocks noGrp="1"/>
          </p:cNvSpPr>
          <p:nvPr>
            <p:ph type="sldNum" sz="quarter" idx="12"/>
          </p:nvPr>
        </p:nvSpPr>
        <p:spPr/>
        <p:txBody>
          <a:bodyPr/>
          <a:lstStyle/>
          <a:p>
            <a:fld id="{B6F15528-21DE-4FAA-801E-634DDDAF4B2B}" type="slidenum">
              <a:rPr lang="en-US" smtClean="0"/>
              <a:pPr/>
              <a:t>8</a:t>
            </a:fld>
            <a:endParaRPr lang="en-US"/>
          </a:p>
        </p:txBody>
      </p:sp>
      <p:pic>
        <p:nvPicPr>
          <p:cNvPr id="7" name="Picture 6">
            <a:extLst>
              <a:ext uri="{FF2B5EF4-FFF2-40B4-BE49-F238E27FC236}">
                <a16:creationId xmlns:a16="http://schemas.microsoft.com/office/drawing/2014/main" id="{AC6A0F7F-B231-48AA-9738-07272941520C}"/>
              </a:ext>
            </a:extLst>
          </p:cNvPr>
          <p:cNvPicPr>
            <a:picLocks noChangeAspect="1"/>
          </p:cNvPicPr>
          <p:nvPr/>
        </p:nvPicPr>
        <p:blipFill>
          <a:blip r:embed="rId2"/>
          <a:stretch>
            <a:fillRect/>
          </a:stretch>
        </p:blipFill>
        <p:spPr>
          <a:xfrm>
            <a:off x="2727959" y="904775"/>
            <a:ext cx="6736080" cy="5582476"/>
          </a:xfrm>
          <a:prstGeom prst="rect">
            <a:avLst/>
          </a:prstGeom>
          <a:ln w="6350">
            <a:solidFill>
              <a:schemeClr val="tx1"/>
            </a:solidFill>
          </a:ln>
        </p:spPr>
      </p:pic>
    </p:spTree>
    <p:extLst>
      <p:ext uri="{BB962C8B-B14F-4D97-AF65-F5344CB8AC3E}">
        <p14:creationId xmlns:p14="http://schemas.microsoft.com/office/powerpoint/2010/main" val="3931494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27156-553F-4F09-AD07-9A97D4E0840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Abstraction</a:t>
            </a:r>
          </a:p>
        </p:txBody>
      </p:sp>
      <p:sp>
        <p:nvSpPr>
          <p:cNvPr id="4" name="Footer Placeholder 3">
            <a:extLst>
              <a:ext uri="{FF2B5EF4-FFF2-40B4-BE49-F238E27FC236}">
                <a16:creationId xmlns:a16="http://schemas.microsoft.com/office/drawing/2014/main" id="{F8CAE2A4-D5DD-4E7F-8515-84D035866A0F}"/>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5EA35AED-13DC-443A-9B62-CF06F4D9EDD7}"/>
              </a:ext>
            </a:extLst>
          </p:cNvPr>
          <p:cNvSpPr>
            <a:spLocks noGrp="1"/>
          </p:cNvSpPr>
          <p:nvPr>
            <p:ph type="sldNum" sz="quarter" idx="12"/>
          </p:nvPr>
        </p:nvSpPr>
        <p:spPr/>
        <p:txBody>
          <a:bodyPr/>
          <a:lstStyle/>
          <a:p>
            <a:fld id="{B6F15528-21DE-4FAA-801E-634DDDAF4B2B}" type="slidenum">
              <a:rPr lang="en-US" smtClean="0"/>
              <a:pPr/>
              <a:t>9</a:t>
            </a:fld>
            <a:endParaRPr lang="en-US"/>
          </a:p>
        </p:txBody>
      </p:sp>
      <p:pic>
        <p:nvPicPr>
          <p:cNvPr id="7" name="Picture 6">
            <a:extLst>
              <a:ext uri="{FF2B5EF4-FFF2-40B4-BE49-F238E27FC236}">
                <a16:creationId xmlns:a16="http://schemas.microsoft.com/office/drawing/2014/main" id="{F04AE332-AF97-4CE2-A6D3-B21A69551EE8}"/>
              </a:ext>
            </a:extLst>
          </p:cNvPr>
          <p:cNvPicPr>
            <a:picLocks noChangeAspect="1"/>
          </p:cNvPicPr>
          <p:nvPr/>
        </p:nvPicPr>
        <p:blipFill>
          <a:blip r:embed="rId2"/>
          <a:stretch>
            <a:fillRect/>
          </a:stretch>
        </p:blipFill>
        <p:spPr>
          <a:xfrm>
            <a:off x="2113280" y="1079252"/>
            <a:ext cx="8128000" cy="5322956"/>
          </a:xfrm>
          <a:prstGeom prst="rect">
            <a:avLst/>
          </a:prstGeom>
          <a:ln w="3175">
            <a:solidFill>
              <a:schemeClr val="tx1"/>
            </a:solidFill>
          </a:ln>
        </p:spPr>
      </p:pic>
    </p:spTree>
    <p:extLst>
      <p:ext uri="{BB962C8B-B14F-4D97-AF65-F5344CB8AC3E}">
        <p14:creationId xmlns:p14="http://schemas.microsoft.com/office/powerpoint/2010/main" val="1294893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7EB47-B148-40CE-A4F4-57825122015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Example : Pick and Plant</a:t>
            </a:r>
          </a:p>
        </p:txBody>
      </p:sp>
      <p:sp>
        <p:nvSpPr>
          <p:cNvPr id="3" name="Content Placeholder 2">
            <a:extLst>
              <a:ext uri="{FF2B5EF4-FFF2-40B4-BE49-F238E27FC236}">
                <a16:creationId xmlns:a16="http://schemas.microsoft.com/office/drawing/2014/main" id="{B1C2CEAF-8F2A-44C0-921D-DC96BD00E571}"/>
              </a:ext>
            </a:extLst>
          </p:cNvPr>
          <p:cNvSpPr>
            <a:spLocks noGrp="1"/>
          </p:cNvSpPr>
          <p:nvPr>
            <p:ph idx="1"/>
          </p:nvPr>
        </p:nvSpPr>
        <p:spPr>
          <a:xfrm>
            <a:off x="374469" y="868849"/>
            <a:ext cx="11118284" cy="1847457"/>
          </a:xfrm>
        </p:spPr>
        <p:txBody>
          <a:bodyPr>
            <a:normAutofit fontScale="77500" lnSpcReduction="20000"/>
          </a:bodyPr>
          <a:lstStyle/>
          <a:p>
            <a:pPr marL="0" indent="0">
              <a:lnSpc>
                <a:spcPct val="120000"/>
              </a:lnSpc>
              <a:buNone/>
            </a:pPr>
            <a:r>
              <a:rPr lang="en-US" dirty="0">
                <a:latin typeface="Times New Roman" panose="02020603050405020304" pitchFamily="18" charset="0"/>
                <a:cs typeface="Times New Roman" panose="02020603050405020304" pitchFamily="18" charset="0"/>
              </a:rPr>
              <a:t>A kangaroo starts at (0, 0) facing East with no flowers in its pouch. There is a flower at location (3, 0). Write a program that directs the kangaroo to pick the flower and plant it at location (3, 2). After planting the flower, the kangaroo should hop one space East and stop. There are no other nets, flowers, or kangaroo on the island.</a:t>
            </a:r>
          </a:p>
        </p:txBody>
      </p:sp>
      <p:sp>
        <p:nvSpPr>
          <p:cNvPr id="4" name="Footer Placeholder 3">
            <a:extLst>
              <a:ext uri="{FF2B5EF4-FFF2-40B4-BE49-F238E27FC236}">
                <a16:creationId xmlns:a16="http://schemas.microsoft.com/office/drawing/2014/main" id="{B16693AD-D575-4E66-80D7-51A79F8E67CE}"/>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DAB3F88C-799D-46F3-99A7-077A5A863E5C}"/>
              </a:ext>
            </a:extLst>
          </p:cNvPr>
          <p:cNvSpPr>
            <a:spLocks noGrp="1"/>
          </p:cNvSpPr>
          <p:nvPr>
            <p:ph type="sldNum" sz="quarter" idx="12"/>
          </p:nvPr>
        </p:nvSpPr>
        <p:spPr/>
        <p:txBody>
          <a:bodyPr/>
          <a:lstStyle/>
          <a:p>
            <a:fld id="{B6F15528-21DE-4FAA-801E-634DDDAF4B2B}" type="slidenum">
              <a:rPr lang="en-US" smtClean="0"/>
              <a:pPr/>
              <a:t>10</a:t>
            </a:fld>
            <a:endParaRPr lang="en-US"/>
          </a:p>
        </p:txBody>
      </p:sp>
      <p:pic>
        <p:nvPicPr>
          <p:cNvPr id="7" name="Picture 6">
            <a:extLst>
              <a:ext uri="{FF2B5EF4-FFF2-40B4-BE49-F238E27FC236}">
                <a16:creationId xmlns:a16="http://schemas.microsoft.com/office/drawing/2014/main" id="{E7EB7BB4-0615-4197-8202-5C6BE7F6ED57}"/>
              </a:ext>
            </a:extLst>
          </p:cNvPr>
          <p:cNvPicPr>
            <a:picLocks noChangeAspect="1"/>
          </p:cNvPicPr>
          <p:nvPr/>
        </p:nvPicPr>
        <p:blipFill>
          <a:blip r:embed="rId2"/>
          <a:stretch>
            <a:fillRect/>
          </a:stretch>
        </p:blipFill>
        <p:spPr>
          <a:xfrm>
            <a:off x="1004047" y="2887001"/>
            <a:ext cx="10000420" cy="3514406"/>
          </a:xfrm>
          <a:prstGeom prst="rect">
            <a:avLst/>
          </a:prstGeom>
          <a:ln w="6350">
            <a:solidFill>
              <a:schemeClr val="tx1"/>
            </a:solidFill>
          </a:ln>
        </p:spPr>
      </p:pic>
    </p:spTree>
    <p:extLst>
      <p:ext uri="{BB962C8B-B14F-4D97-AF65-F5344CB8AC3E}">
        <p14:creationId xmlns:p14="http://schemas.microsoft.com/office/powerpoint/2010/main" val="3921331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7EB47-B148-40CE-A4F4-57825122015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Analysis</a:t>
            </a:r>
          </a:p>
        </p:txBody>
      </p:sp>
      <p:sp>
        <p:nvSpPr>
          <p:cNvPr id="3" name="Content Placeholder 2">
            <a:extLst>
              <a:ext uri="{FF2B5EF4-FFF2-40B4-BE49-F238E27FC236}">
                <a16:creationId xmlns:a16="http://schemas.microsoft.com/office/drawing/2014/main" id="{B1C2CEAF-8F2A-44C0-921D-DC96BD00E571}"/>
              </a:ext>
            </a:extLst>
          </p:cNvPr>
          <p:cNvSpPr>
            <a:spLocks noGrp="1"/>
          </p:cNvSpPr>
          <p:nvPr>
            <p:ph idx="1"/>
          </p:nvPr>
        </p:nvSpPr>
        <p:spPr>
          <a:xfrm>
            <a:off x="445115" y="844462"/>
            <a:ext cx="11118284" cy="1847457"/>
          </a:xfrm>
        </p:spPr>
        <p:txBody>
          <a:bodyPr>
            <a:normAutofit fontScale="85000" lnSpcReduction="20000"/>
          </a:bodyPr>
          <a:lstStyle/>
          <a:p>
            <a:pPr marL="0" indent="0">
              <a:lnSpc>
                <a:spcPct val="120000"/>
              </a:lnSpc>
              <a:buNone/>
            </a:pPr>
            <a:r>
              <a:rPr lang="en-US" dirty="0">
                <a:latin typeface="Times New Roman" panose="02020603050405020304" pitchFamily="18" charset="0"/>
                <a:cs typeface="Times New Roman" panose="02020603050405020304" pitchFamily="18" charset="0"/>
              </a:rPr>
              <a:t>The flower is exactly three spaces ahead of the kangaroo. The flower is to be planted exactly two spaces South of its current location. The kangaroo is to finish facing East one space East of the planted flower. There are no nets to worry about.</a:t>
            </a:r>
          </a:p>
        </p:txBody>
      </p:sp>
      <p:sp>
        <p:nvSpPr>
          <p:cNvPr id="4" name="Footer Placeholder 3">
            <a:extLst>
              <a:ext uri="{FF2B5EF4-FFF2-40B4-BE49-F238E27FC236}">
                <a16:creationId xmlns:a16="http://schemas.microsoft.com/office/drawing/2014/main" id="{B16693AD-D575-4E66-80D7-51A79F8E67CE}"/>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DAB3F88C-799D-46F3-99A7-077A5A863E5C}"/>
              </a:ext>
            </a:extLst>
          </p:cNvPr>
          <p:cNvSpPr>
            <a:spLocks noGrp="1"/>
          </p:cNvSpPr>
          <p:nvPr>
            <p:ph type="sldNum" sz="quarter" idx="12"/>
          </p:nvPr>
        </p:nvSpPr>
        <p:spPr/>
        <p:txBody>
          <a:bodyPr/>
          <a:lstStyle/>
          <a:p>
            <a:fld id="{B6F15528-21DE-4FAA-801E-634DDDAF4B2B}" type="slidenum">
              <a:rPr lang="en-US" smtClean="0"/>
              <a:pPr/>
              <a:t>11</a:t>
            </a:fld>
            <a:endParaRPr lang="en-US"/>
          </a:p>
        </p:txBody>
      </p:sp>
      <p:pic>
        <p:nvPicPr>
          <p:cNvPr id="7" name="Picture 6">
            <a:extLst>
              <a:ext uri="{FF2B5EF4-FFF2-40B4-BE49-F238E27FC236}">
                <a16:creationId xmlns:a16="http://schemas.microsoft.com/office/drawing/2014/main" id="{E7EB7BB4-0615-4197-8202-5C6BE7F6ED57}"/>
              </a:ext>
            </a:extLst>
          </p:cNvPr>
          <p:cNvPicPr>
            <a:picLocks noChangeAspect="1"/>
          </p:cNvPicPr>
          <p:nvPr/>
        </p:nvPicPr>
        <p:blipFill>
          <a:blip r:embed="rId2"/>
          <a:stretch>
            <a:fillRect/>
          </a:stretch>
        </p:blipFill>
        <p:spPr>
          <a:xfrm>
            <a:off x="1004047" y="2887001"/>
            <a:ext cx="10000420" cy="3514406"/>
          </a:xfrm>
          <a:prstGeom prst="rect">
            <a:avLst/>
          </a:prstGeom>
          <a:ln w="6350">
            <a:solidFill>
              <a:schemeClr val="tx1"/>
            </a:solidFill>
          </a:ln>
        </p:spPr>
      </p:pic>
    </p:spTree>
    <p:extLst>
      <p:ext uri="{BB962C8B-B14F-4D97-AF65-F5344CB8AC3E}">
        <p14:creationId xmlns:p14="http://schemas.microsoft.com/office/powerpoint/2010/main" val="4255065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521B94F-90F7-4A09-99EB-504A4D12CE4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High Level Algorithm Vs Detailed Algorithm</a:t>
            </a:r>
          </a:p>
        </p:txBody>
      </p:sp>
      <p:sp>
        <p:nvSpPr>
          <p:cNvPr id="7" name="Content Placeholder 6">
            <a:extLst>
              <a:ext uri="{FF2B5EF4-FFF2-40B4-BE49-F238E27FC236}">
                <a16:creationId xmlns:a16="http://schemas.microsoft.com/office/drawing/2014/main" id="{2C6ACED6-0606-41B1-9D2D-F519EFE3A433}"/>
              </a:ext>
            </a:extLst>
          </p:cNvPr>
          <p:cNvSpPr>
            <a:spLocks noGrp="1"/>
          </p:cNvSpPr>
          <p:nvPr>
            <p:ph sz="half" idx="1"/>
          </p:nvPr>
        </p:nvSpPr>
        <p:spPr>
          <a:xfrm>
            <a:off x="374469" y="1032733"/>
            <a:ext cx="5551202" cy="4864249"/>
          </a:xfrm>
          <a:ln w="6350">
            <a:solidFill>
              <a:schemeClr val="tx1"/>
            </a:solidFill>
          </a:ln>
        </p:spPr>
        <p: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Get the flower</a:t>
            </a:r>
          </a:p>
          <a:p>
            <a:r>
              <a:rPr lang="en-US" dirty="0">
                <a:latin typeface="Times New Roman" panose="02020603050405020304" pitchFamily="18" charset="0"/>
                <a:cs typeface="Times New Roman" panose="02020603050405020304" pitchFamily="18" charset="0"/>
              </a:rPr>
              <a:t>Put the flower</a:t>
            </a:r>
          </a:p>
          <a:p>
            <a:r>
              <a:rPr lang="en-US" dirty="0">
                <a:latin typeface="Times New Roman" panose="02020603050405020304" pitchFamily="18" charset="0"/>
                <a:cs typeface="Times New Roman" panose="02020603050405020304" pitchFamily="18" charset="0"/>
              </a:rPr>
              <a:t>Hop East</a:t>
            </a:r>
          </a:p>
        </p:txBody>
      </p:sp>
      <p:sp>
        <p:nvSpPr>
          <p:cNvPr id="8" name="Content Placeholder 7">
            <a:extLst>
              <a:ext uri="{FF2B5EF4-FFF2-40B4-BE49-F238E27FC236}">
                <a16:creationId xmlns:a16="http://schemas.microsoft.com/office/drawing/2014/main" id="{A5CCC07E-6BC1-4B6F-B4E7-4106817DA0B1}"/>
              </a:ext>
            </a:extLst>
          </p:cNvPr>
          <p:cNvSpPr>
            <a:spLocks noGrp="1"/>
          </p:cNvSpPr>
          <p:nvPr>
            <p:ph sz="half" idx="2"/>
          </p:nvPr>
        </p:nvSpPr>
        <p:spPr>
          <a:xfrm>
            <a:off x="6096000" y="996875"/>
            <a:ext cx="5645331" cy="4864249"/>
          </a:xfrm>
          <a:ln w="9525">
            <a:solidFill>
              <a:schemeClr val="tx1"/>
            </a:solidFill>
          </a:ln>
        </p:spPr>
        <p:txBody>
          <a:bodyPr/>
          <a:lstStyle/>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Get </a:t>
            </a:r>
            <a:r>
              <a:rPr lang="en-US" dirty="0">
                <a:latin typeface="Times New Roman" panose="02020603050405020304" pitchFamily="18" charset="0"/>
                <a:cs typeface="Times New Roman" panose="02020603050405020304" pitchFamily="18" charset="0"/>
              </a:rPr>
              <a:t>the flower</a:t>
            </a:r>
          </a:p>
          <a:p>
            <a:pPr lvl="1"/>
            <a:r>
              <a:rPr lang="en-US" dirty="0">
                <a:latin typeface="Times New Roman" panose="02020603050405020304" pitchFamily="18" charset="0"/>
                <a:cs typeface="Times New Roman" panose="02020603050405020304" pitchFamily="18" charset="0"/>
              </a:rPr>
              <a:t>Hop 3 times</a:t>
            </a:r>
          </a:p>
          <a:p>
            <a:pPr lvl="1"/>
            <a:r>
              <a:rPr lang="en-US" dirty="0">
                <a:latin typeface="Times New Roman" panose="02020603050405020304" pitchFamily="18" charset="0"/>
                <a:cs typeface="Times New Roman" panose="02020603050405020304" pitchFamily="18" charset="0"/>
              </a:rPr>
              <a:t>Pick the flower</a:t>
            </a:r>
          </a:p>
          <a:p>
            <a:r>
              <a:rPr lang="en-US" dirty="0">
                <a:latin typeface="Times New Roman" panose="02020603050405020304" pitchFamily="18" charset="0"/>
                <a:cs typeface="Times New Roman" panose="02020603050405020304" pitchFamily="18" charset="0"/>
              </a:rPr>
              <a:t>Put the flower</a:t>
            </a:r>
          </a:p>
          <a:p>
            <a:pPr lvl="1"/>
            <a:r>
              <a:rPr lang="en-US" dirty="0">
                <a:latin typeface="Times New Roman" panose="02020603050405020304" pitchFamily="18" charset="0"/>
                <a:cs typeface="Times New Roman" panose="02020603050405020304" pitchFamily="18" charset="0"/>
              </a:rPr>
              <a:t>Turn right Hop 2 times Plant a flower</a:t>
            </a:r>
          </a:p>
          <a:p>
            <a:r>
              <a:rPr lang="en-US" dirty="0">
                <a:latin typeface="Times New Roman" panose="02020603050405020304" pitchFamily="18" charset="0"/>
                <a:cs typeface="Times New Roman" panose="02020603050405020304" pitchFamily="18" charset="0"/>
              </a:rPr>
              <a:t>Hop East</a:t>
            </a:r>
          </a:p>
          <a:p>
            <a:pPr lvl="1"/>
            <a:r>
              <a:rPr lang="en-US" dirty="0">
                <a:latin typeface="Times New Roman" panose="02020603050405020304" pitchFamily="18" charset="0"/>
                <a:cs typeface="Times New Roman" panose="02020603050405020304" pitchFamily="18" charset="0"/>
              </a:rPr>
              <a:t>Turn left Hop once</a:t>
            </a:r>
          </a:p>
        </p:txBody>
      </p:sp>
      <p:sp>
        <p:nvSpPr>
          <p:cNvPr id="4" name="Footer Placeholder 3">
            <a:extLst>
              <a:ext uri="{FF2B5EF4-FFF2-40B4-BE49-F238E27FC236}">
                <a16:creationId xmlns:a16="http://schemas.microsoft.com/office/drawing/2014/main" id="{6DD20806-E054-4531-9D7D-8D52340A7450}"/>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D366094B-0DA9-48DC-81DE-AB468530ADB8}"/>
              </a:ext>
            </a:extLst>
          </p:cNvPr>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741361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7EB47-B148-40CE-A4F4-57825122015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Question : Pick and Plant (Net)</a:t>
            </a:r>
          </a:p>
        </p:txBody>
      </p:sp>
      <p:sp>
        <p:nvSpPr>
          <p:cNvPr id="3" name="Content Placeholder 2">
            <a:extLst>
              <a:ext uri="{FF2B5EF4-FFF2-40B4-BE49-F238E27FC236}">
                <a16:creationId xmlns:a16="http://schemas.microsoft.com/office/drawing/2014/main" id="{B1C2CEAF-8F2A-44C0-921D-DC96BD00E571}"/>
              </a:ext>
            </a:extLst>
          </p:cNvPr>
          <p:cNvSpPr>
            <a:spLocks noGrp="1"/>
          </p:cNvSpPr>
          <p:nvPr>
            <p:ph idx="1"/>
          </p:nvPr>
        </p:nvSpPr>
        <p:spPr>
          <a:xfrm>
            <a:off x="374469" y="868849"/>
            <a:ext cx="11118284" cy="1847457"/>
          </a:xfrm>
        </p:spPr>
        <p:txBody>
          <a:bodyPr>
            <a:normAutofit fontScale="62500" lnSpcReduction="20000"/>
          </a:bodyPr>
          <a:lstStyle/>
          <a:p>
            <a:pPr marL="0" indent="0">
              <a:lnSpc>
                <a:spcPct val="120000"/>
              </a:lnSpc>
              <a:buNone/>
            </a:pPr>
            <a:r>
              <a:rPr lang="en-US" dirty="0">
                <a:latin typeface="Times New Roman" panose="02020603050405020304" pitchFamily="18" charset="0"/>
                <a:cs typeface="Times New Roman" panose="02020603050405020304" pitchFamily="18" charset="0"/>
              </a:rPr>
              <a:t>There are two kangaroos. One kangaroo starts at (0, 0) facing North with one flower in its pouch. The second starts at (0, 2) facing East with one flower in its pouch. There is a net at location (3, 2). Write a program that directs the first kangaroo to give its flower to the second one. After receiving the flower, the second kangaroo must disable the net, and plant a flower in its place. After planting the flower, the kangaroo must turn and face South. There are no other nets, flowers, or kangaroos on the island.</a:t>
            </a:r>
          </a:p>
        </p:txBody>
      </p:sp>
      <p:sp>
        <p:nvSpPr>
          <p:cNvPr id="4" name="Footer Placeholder 3">
            <a:extLst>
              <a:ext uri="{FF2B5EF4-FFF2-40B4-BE49-F238E27FC236}">
                <a16:creationId xmlns:a16="http://schemas.microsoft.com/office/drawing/2014/main" id="{B16693AD-D575-4E66-80D7-51A79F8E67CE}"/>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DAB3F88C-799D-46F3-99A7-077A5A863E5C}"/>
              </a:ext>
            </a:extLst>
          </p:cNvPr>
          <p:cNvSpPr>
            <a:spLocks noGrp="1"/>
          </p:cNvSpPr>
          <p:nvPr>
            <p:ph type="sldNum" sz="quarter" idx="12"/>
          </p:nvPr>
        </p:nvSpPr>
        <p:spPr/>
        <p:txBody>
          <a:bodyPr/>
          <a:lstStyle/>
          <a:p>
            <a:fld id="{B6F15528-21DE-4FAA-801E-634DDDAF4B2B}" type="slidenum">
              <a:rPr lang="en-US" smtClean="0"/>
              <a:pPr/>
              <a:t>13</a:t>
            </a:fld>
            <a:endParaRPr lang="en-US"/>
          </a:p>
        </p:txBody>
      </p:sp>
      <p:pic>
        <p:nvPicPr>
          <p:cNvPr id="8" name="Picture 7">
            <a:extLst>
              <a:ext uri="{FF2B5EF4-FFF2-40B4-BE49-F238E27FC236}">
                <a16:creationId xmlns:a16="http://schemas.microsoft.com/office/drawing/2014/main" id="{1E95A8E8-2455-41BA-BB62-3AC228F40C66}"/>
              </a:ext>
            </a:extLst>
          </p:cNvPr>
          <p:cNvPicPr>
            <a:picLocks noChangeAspect="1"/>
          </p:cNvPicPr>
          <p:nvPr/>
        </p:nvPicPr>
        <p:blipFill>
          <a:blip r:embed="rId2"/>
          <a:stretch>
            <a:fillRect/>
          </a:stretch>
        </p:blipFill>
        <p:spPr>
          <a:xfrm>
            <a:off x="653511" y="2612067"/>
            <a:ext cx="10884977" cy="3650863"/>
          </a:xfrm>
          <a:prstGeom prst="rect">
            <a:avLst/>
          </a:prstGeom>
          <a:ln w="3175">
            <a:solidFill>
              <a:schemeClr val="tx1"/>
            </a:solidFill>
          </a:ln>
        </p:spPr>
      </p:pic>
    </p:spTree>
    <p:extLst>
      <p:ext uri="{BB962C8B-B14F-4D97-AF65-F5344CB8AC3E}">
        <p14:creationId xmlns:p14="http://schemas.microsoft.com/office/powerpoint/2010/main" val="2855068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7EB47-B148-40CE-A4F4-57825122015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Analysis</a:t>
            </a:r>
          </a:p>
        </p:txBody>
      </p:sp>
      <p:sp>
        <p:nvSpPr>
          <p:cNvPr id="3" name="Content Placeholder 2">
            <a:extLst>
              <a:ext uri="{FF2B5EF4-FFF2-40B4-BE49-F238E27FC236}">
                <a16:creationId xmlns:a16="http://schemas.microsoft.com/office/drawing/2014/main" id="{B1C2CEAF-8F2A-44C0-921D-DC96BD00E571}"/>
              </a:ext>
            </a:extLst>
          </p:cNvPr>
          <p:cNvSpPr>
            <a:spLocks noGrp="1"/>
          </p:cNvSpPr>
          <p:nvPr>
            <p:ph idx="1"/>
          </p:nvPr>
        </p:nvSpPr>
        <p:spPr>
          <a:xfrm>
            <a:off x="445115" y="844462"/>
            <a:ext cx="11118284" cy="1847457"/>
          </a:xfrm>
        </p:spPr>
        <p:txBody>
          <a:bodyPr>
            <a:normAutofit fontScale="55000" lnSpcReduction="20000"/>
          </a:bodyPr>
          <a:lstStyle/>
          <a:p>
            <a:pPr marL="0" indent="0">
              <a:lnSpc>
                <a:spcPct val="120000"/>
              </a:lnSpc>
              <a:buNone/>
            </a:pPr>
            <a:r>
              <a:rPr lang="en-US" dirty="0">
                <a:latin typeface="Times New Roman" panose="02020603050405020304" pitchFamily="18" charset="0"/>
                <a:cs typeface="Times New Roman" panose="02020603050405020304" pitchFamily="18" charset="0"/>
              </a:rPr>
              <a:t>kangaroo_2 is exactly two spaces behind kangaroo_1. The only net is exactly three spaces ahead of kangaroo_2. Each kangaroo has exactly one flower. kangaroo_2 will have two flowers after receiving one from kangaroo_1. One flower must be used to disable the net. The other flower must be planted at the location of the net, i.e. (3, 2).  kangaroo_1 will finish at (0, 1) facing South. kangaroo_2 is to finish at (3, 2) facing South. Each kangaroo will finish with 0 flowers in its pouch. One flower was used to disable the net, and the other was planted.</a:t>
            </a:r>
          </a:p>
        </p:txBody>
      </p:sp>
      <p:sp>
        <p:nvSpPr>
          <p:cNvPr id="4" name="Footer Placeholder 3">
            <a:extLst>
              <a:ext uri="{FF2B5EF4-FFF2-40B4-BE49-F238E27FC236}">
                <a16:creationId xmlns:a16="http://schemas.microsoft.com/office/drawing/2014/main" id="{B16693AD-D575-4E66-80D7-51A79F8E67CE}"/>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DAB3F88C-799D-46F3-99A7-077A5A863E5C}"/>
              </a:ext>
            </a:extLst>
          </p:cNvPr>
          <p:cNvSpPr>
            <a:spLocks noGrp="1"/>
          </p:cNvSpPr>
          <p:nvPr>
            <p:ph type="sldNum" sz="quarter" idx="12"/>
          </p:nvPr>
        </p:nvSpPr>
        <p:spPr/>
        <p:txBody>
          <a:bodyPr/>
          <a:lstStyle/>
          <a:p>
            <a:fld id="{B6F15528-21DE-4FAA-801E-634DDDAF4B2B}" type="slidenum">
              <a:rPr lang="en-US" smtClean="0"/>
              <a:pPr/>
              <a:t>14</a:t>
            </a:fld>
            <a:endParaRPr lang="en-US"/>
          </a:p>
        </p:txBody>
      </p:sp>
      <p:pic>
        <p:nvPicPr>
          <p:cNvPr id="6" name="Picture 5">
            <a:extLst>
              <a:ext uri="{FF2B5EF4-FFF2-40B4-BE49-F238E27FC236}">
                <a16:creationId xmlns:a16="http://schemas.microsoft.com/office/drawing/2014/main" id="{926B4A7D-3FF3-4615-855B-8709BB293CF3}"/>
              </a:ext>
            </a:extLst>
          </p:cNvPr>
          <p:cNvPicPr>
            <a:picLocks noChangeAspect="1"/>
          </p:cNvPicPr>
          <p:nvPr/>
        </p:nvPicPr>
        <p:blipFill>
          <a:blip r:embed="rId2"/>
          <a:stretch>
            <a:fillRect/>
          </a:stretch>
        </p:blipFill>
        <p:spPr>
          <a:xfrm>
            <a:off x="762244" y="2754766"/>
            <a:ext cx="10900593" cy="3664014"/>
          </a:xfrm>
          <a:prstGeom prst="rect">
            <a:avLst/>
          </a:prstGeom>
        </p:spPr>
      </p:pic>
    </p:spTree>
    <p:extLst>
      <p:ext uri="{BB962C8B-B14F-4D97-AF65-F5344CB8AC3E}">
        <p14:creationId xmlns:p14="http://schemas.microsoft.com/office/powerpoint/2010/main" val="41551088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521B94F-90F7-4A09-99EB-504A4D12CE4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High Level Algorithm Vs Detailed Algorithm</a:t>
            </a:r>
          </a:p>
        </p:txBody>
      </p:sp>
      <p:sp>
        <p:nvSpPr>
          <p:cNvPr id="7" name="Content Placeholder 6">
            <a:extLst>
              <a:ext uri="{FF2B5EF4-FFF2-40B4-BE49-F238E27FC236}">
                <a16:creationId xmlns:a16="http://schemas.microsoft.com/office/drawing/2014/main" id="{2C6ACED6-0606-41B1-9D2D-F519EFE3A433}"/>
              </a:ext>
            </a:extLst>
          </p:cNvPr>
          <p:cNvSpPr>
            <a:spLocks noGrp="1"/>
          </p:cNvSpPr>
          <p:nvPr>
            <p:ph sz="half" idx="1"/>
          </p:nvPr>
        </p:nvSpPr>
        <p:spPr>
          <a:xfrm>
            <a:off x="374468" y="851647"/>
            <a:ext cx="5620871" cy="5495365"/>
          </a:xfrm>
          <a:ln w="6350">
            <a:solidFill>
              <a:schemeClr val="tx1"/>
            </a:solidFill>
          </a:ln>
        </p:spPr>
        <p:txBody>
          <a:bodyPr>
            <a:normAutofit fontScale="77500" lnSpcReduction="20000"/>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a:lnSpc>
                <a:spcPct val="120000"/>
              </a:lnSpc>
            </a:pPr>
            <a:r>
              <a:rPr lang="en-US" dirty="0">
                <a:latin typeface="Times New Roman" panose="02020603050405020304" pitchFamily="18" charset="0"/>
                <a:cs typeface="Times New Roman" panose="02020603050405020304" pitchFamily="18" charset="0"/>
              </a:rPr>
              <a:t>kangaroo_1 should do the following:</a:t>
            </a:r>
          </a:p>
          <a:p>
            <a:pPr lvl="1">
              <a:lnSpc>
                <a:spcPct val="120000"/>
              </a:lnSpc>
            </a:pPr>
            <a:r>
              <a:rPr lang="en-US" dirty="0">
                <a:latin typeface="Times New Roman" panose="02020603050405020304" pitchFamily="18" charset="0"/>
                <a:cs typeface="Times New Roman" panose="02020603050405020304" pitchFamily="18" charset="0"/>
              </a:rPr>
              <a:t>Find kangaroo_2 (but don't collide with him)</a:t>
            </a:r>
          </a:p>
          <a:p>
            <a:pPr lvl="1">
              <a:lnSpc>
                <a:spcPct val="120000"/>
              </a:lnSpc>
            </a:pPr>
            <a:r>
              <a:rPr lang="en-US" dirty="0">
                <a:latin typeface="Times New Roman" panose="02020603050405020304" pitchFamily="18" charset="0"/>
                <a:cs typeface="Times New Roman" panose="02020603050405020304" pitchFamily="18" charset="0"/>
              </a:rPr>
              <a:t>Give a flower to kangaroo_2 (he will be straight ahead)</a:t>
            </a:r>
          </a:p>
          <a:p>
            <a:pPr>
              <a:lnSpc>
                <a:spcPct val="120000"/>
              </a:lnSpc>
            </a:pPr>
            <a:r>
              <a:rPr lang="en-US" dirty="0">
                <a:latin typeface="Times New Roman" panose="02020603050405020304" pitchFamily="18" charset="0"/>
                <a:cs typeface="Times New Roman" panose="02020603050405020304" pitchFamily="18" charset="0"/>
              </a:rPr>
              <a:t>After receiving the flower, kangaroo_2 should do the following:</a:t>
            </a:r>
          </a:p>
          <a:p>
            <a:pPr lvl="1">
              <a:lnSpc>
                <a:spcPct val="120000"/>
              </a:lnSpc>
            </a:pPr>
            <a:r>
              <a:rPr lang="en-US" dirty="0">
                <a:latin typeface="Times New Roman" panose="02020603050405020304" pitchFamily="18" charset="0"/>
                <a:cs typeface="Times New Roman" panose="02020603050405020304" pitchFamily="18" charset="0"/>
              </a:rPr>
              <a:t>Find the net (but don't hop onto it)</a:t>
            </a:r>
          </a:p>
          <a:p>
            <a:pPr lvl="1">
              <a:lnSpc>
                <a:spcPct val="120000"/>
              </a:lnSpc>
            </a:pPr>
            <a:r>
              <a:rPr lang="en-US" dirty="0">
                <a:latin typeface="Times New Roman" panose="02020603050405020304" pitchFamily="18" charset="0"/>
                <a:cs typeface="Times New Roman" panose="02020603050405020304" pitchFamily="18" charset="0"/>
              </a:rPr>
              <a:t>Disable the net</a:t>
            </a:r>
          </a:p>
          <a:p>
            <a:pPr lvl="1">
              <a:lnSpc>
                <a:spcPct val="120000"/>
              </a:lnSpc>
            </a:pPr>
            <a:r>
              <a:rPr lang="en-US" dirty="0">
                <a:latin typeface="Times New Roman" panose="02020603050405020304" pitchFamily="18" charset="0"/>
                <a:cs typeface="Times New Roman" panose="02020603050405020304" pitchFamily="18" charset="0"/>
              </a:rPr>
              <a:t>Plant a flower at the location of the net</a:t>
            </a:r>
          </a:p>
          <a:p>
            <a:pPr lvl="1">
              <a:lnSpc>
                <a:spcPct val="120000"/>
              </a:lnSpc>
            </a:pPr>
            <a:r>
              <a:rPr lang="en-US" dirty="0">
                <a:latin typeface="Times New Roman" panose="02020603050405020304" pitchFamily="18" charset="0"/>
                <a:cs typeface="Times New Roman" panose="02020603050405020304" pitchFamily="18" charset="0"/>
              </a:rPr>
              <a:t>Face South</a:t>
            </a:r>
          </a:p>
        </p:txBody>
      </p:sp>
      <p:sp>
        <p:nvSpPr>
          <p:cNvPr id="8" name="Content Placeholder 7">
            <a:extLst>
              <a:ext uri="{FF2B5EF4-FFF2-40B4-BE49-F238E27FC236}">
                <a16:creationId xmlns:a16="http://schemas.microsoft.com/office/drawing/2014/main" id="{A5CCC07E-6BC1-4B6F-B4E7-4106817DA0B1}"/>
              </a:ext>
            </a:extLst>
          </p:cNvPr>
          <p:cNvSpPr>
            <a:spLocks noGrp="1"/>
          </p:cNvSpPr>
          <p:nvPr>
            <p:ph sz="half" idx="2"/>
          </p:nvPr>
        </p:nvSpPr>
        <p:spPr>
          <a:xfrm>
            <a:off x="6096000" y="851647"/>
            <a:ext cx="5620871" cy="5495365"/>
          </a:xfrm>
          <a:ln w="9525">
            <a:solidFill>
              <a:schemeClr val="tx1"/>
            </a:solidFill>
          </a:ln>
        </p:spPr>
        <p:txBody>
          <a:bodyPr>
            <a:normAutofit fontScale="55000" lnSpcReduction="20000"/>
          </a:bodyPr>
          <a:lstStyle/>
          <a:p>
            <a:endParaRPr lang="en-US" dirty="0">
              <a:latin typeface="Times New Roman" panose="02020603050405020304" pitchFamily="18" charset="0"/>
              <a:cs typeface="Times New Roman" panose="02020603050405020304" pitchFamily="18" charset="0"/>
            </a:endParaRPr>
          </a:p>
          <a:p>
            <a:pPr>
              <a:lnSpc>
                <a:spcPct val="120000"/>
              </a:lnSpc>
            </a:pPr>
            <a:r>
              <a:rPr lang="en-US" sz="3300" dirty="0">
                <a:latin typeface="Times New Roman" panose="02020603050405020304" pitchFamily="18" charset="0"/>
                <a:cs typeface="Times New Roman" panose="02020603050405020304" pitchFamily="18" charset="0"/>
              </a:rPr>
              <a:t>kangaroo_1 should do the following:</a:t>
            </a:r>
          </a:p>
          <a:p>
            <a:pPr lvl="1">
              <a:lnSpc>
                <a:spcPct val="120000"/>
              </a:lnSpc>
            </a:pPr>
            <a:r>
              <a:rPr lang="en-US" sz="3300" dirty="0">
                <a:latin typeface="Times New Roman" panose="02020603050405020304" pitchFamily="18" charset="0"/>
                <a:cs typeface="Times New Roman" panose="02020603050405020304" pitchFamily="18" charset="0"/>
              </a:rPr>
              <a:t>Find kangaroo_2 </a:t>
            </a:r>
          </a:p>
          <a:p>
            <a:pPr lvl="2">
              <a:lnSpc>
                <a:spcPct val="120000"/>
              </a:lnSpc>
            </a:pPr>
            <a:r>
              <a:rPr lang="en-US" sz="3300" dirty="0">
                <a:latin typeface="Times New Roman" panose="02020603050405020304" pitchFamily="18" charset="0"/>
                <a:cs typeface="Times New Roman" panose="02020603050405020304" pitchFamily="18" charset="0"/>
              </a:rPr>
              <a:t>Turn around (either left or right twice)</a:t>
            </a:r>
          </a:p>
          <a:p>
            <a:pPr lvl="2">
              <a:lnSpc>
                <a:spcPct val="120000"/>
              </a:lnSpc>
            </a:pPr>
            <a:r>
              <a:rPr lang="en-US" sz="3300" dirty="0">
                <a:latin typeface="Times New Roman" panose="02020603050405020304" pitchFamily="18" charset="0"/>
                <a:cs typeface="Times New Roman" panose="02020603050405020304" pitchFamily="18" charset="0"/>
              </a:rPr>
              <a:t>Hop (to location (0, 1))</a:t>
            </a:r>
          </a:p>
          <a:p>
            <a:pPr lvl="1">
              <a:lnSpc>
                <a:spcPct val="120000"/>
              </a:lnSpc>
            </a:pPr>
            <a:r>
              <a:rPr lang="en-US" sz="3300" dirty="0">
                <a:latin typeface="Times New Roman" panose="02020603050405020304" pitchFamily="18" charset="0"/>
                <a:cs typeface="Times New Roman" panose="02020603050405020304" pitchFamily="18" charset="0"/>
              </a:rPr>
              <a:t>Give a flower to kangaroo_2 Give ahead</a:t>
            </a:r>
          </a:p>
          <a:p>
            <a:pPr>
              <a:lnSpc>
                <a:spcPct val="120000"/>
              </a:lnSpc>
            </a:pPr>
            <a:r>
              <a:rPr lang="en-US" sz="3300" dirty="0">
                <a:latin typeface="Times New Roman" panose="02020603050405020304" pitchFamily="18" charset="0"/>
                <a:cs typeface="Times New Roman" panose="02020603050405020304" pitchFamily="18" charset="0"/>
              </a:rPr>
              <a:t>Now kangaroo_2 should do the following:</a:t>
            </a:r>
          </a:p>
          <a:p>
            <a:pPr lvl="1">
              <a:lnSpc>
                <a:spcPct val="120000"/>
              </a:lnSpc>
            </a:pPr>
            <a:r>
              <a:rPr lang="en-US" sz="3300" dirty="0">
                <a:latin typeface="Times New Roman" panose="02020603050405020304" pitchFamily="18" charset="0"/>
                <a:cs typeface="Times New Roman" panose="02020603050405020304" pitchFamily="18" charset="0"/>
              </a:rPr>
              <a:t>Find the net</a:t>
            </a:r>
          </a:p>
          <a:p>
            <a:pPr lvl="2">
              <a:lnSpc>
                <a:spcPct val="120000"/>
              </a:lnSpc>
            </a:pPr>
            <a:r>
              <a:rPr lang="en-US" sz="3300" dirty="0">
                <a:latin typeface="Times New Roman" panose="02020603050405020304" pitchFamily="18" charset="0"/>
                <a:cs typeface="Times New Roman" panose="02020603050405020304" pitchFamily="18" charset="0"/>
              </a:rPr>
              <a:t>Hop twice (to location (2, 2))</a:t>
            </a:r>
          </a:p>
          <a:p>
            <a:pPr lvl="1">
              <a:lnSpc>
                <a:spcPct val="120000"/>
              </a:lnSpc>
            </a:pPr>
            <a:r>
              <a:rPr lang="en-US" sz="3300" dirty="0">
                <a:latin typeface="Times New Roman" panose="02020603050405020304" pitchFamily="18" charset="0"/>
                <a:cs typeface="Times New Roman" panose="02020603050405020304" pitchFamily="18" charset="0"/>
              </a:rPr>
              <a:t>Disable the net</a:t>
            </a:r>
          </a:p>
          <a:p>
            <a:pPr lvl="2">
              <a:lnSpc>
                <a:spcPct val="120000"/>
              </a:lnSpc>
            </a:pPr>
            <a:r>
              <a:rPr lang="en-US" sz="3300" dirty="0">
                <a:latin typeface="Times New Roman" panose="02020603050405020304" pitchFamily="18" charset="0"/>
                <a:cs typeface="Times New Roman" panose="02020603050405020304" pitchFamily="18" charset="0"/>
              </a:rPr>
              <a:t>Toss</a:t>
            </a:r>
          </a:p>
          <a:p>
            <a:pPr lvl="1">
              <a:lnSpc>
                <a:spcPct val="120000"/>
              </a:lnSpc>
            </a:pPr>
            <a:r>
              <a:rPr lang="en-US" sz="3300" dirty="0">
                <a:latin typeface="Times New Roman" panose="02020603050405020304" pitchFamily="18" charset="0"/>
                <a:cs typeface="Times New Roman" panose="02020603050405020304" pitchFamily="18" charset="0"/>
              </a:rPr>
              <a:t>Plant a flower at the location of the net</a:t>
            </a:r>
          </a:p>
          <a:p>
            <a:pPr lvl="2">
              <a:lnSpc>
                <a:spcPct val="120000"/>
              </a:lnSpc>
            </a:pPr>
            <a:r>
              <a:rPr lang="en-US" sz="3300" dirty="0">
                <a:latin typeface="Times New Roman" panose="02020603050405020304" pitchFamily="18" charset="0"/>
                <a:cs typeface="Times New Roman" panose="02020603050405020304" pitchFamily="18" charset="0"/>
              </a:rPr>
              <a:t>Hop (to location (3, 2))</a:t>
            </a:r>
          </a:p>
          <a:p>
            <a:pPr lvl="2">
              <a:lnSpc>
                <a:spcPct val="120000"/>
              </a:lnSpc>
            </a:pPr>
            <a:r>
              <a:rPr lang="en-US" sz="3300" dirty="0">
                <a:latin typeface="Times New Roman" panose="02020603050405020304" pitchFamily="18" charset="0"/>
                <a:cs typeface="Times New Roman" panose="02020603050405020304" pitchFamily="18" charset="0"/>
              </a:rPr>
              <a:t>Plant a flower</a:t>
            </a:r>
          </a:p>
          <a:p>
            <a:pPr lvl="1">
              <a:lnSpc>
                <a:spcPct val="120000"/>
              </a:lnSpc>
            </a:pPr>
            <a:r>
              <a:rPr lang="en-US" sz="3300" dirty="0">
                <a:latin typeface="Times New Roman" panose="02020603050405020304" pitchFamily="18" charset="0"/>
                <a:cs typeface="Times New Roman" panose="02020603050405020304" pitchFamily="18" charset="0"/>
              </a:rPr>
              <a:t>Face South</a:t>
            </a:r>
          </a:p>
          <a:p>
            <a:pPr lvl="2">
              <a:lnSpc>
                <a:spcPct val="120000"/>
              </a:lnSpc>
            </a:pPr>
            <a:r>
              <a:rPr lang="en-US" sz="3300" dirty="0">
                <a:latin typeface="Times New Roman" panose="02020603050405020304" pitchFamily="18" charset="0"/>
                <a:cs typeface="Times New Roman" panose="02020603050405020304" pitchFamily="18" charset="0"/>
              </a:rPr>
              <a:t>Turn right</a:t>
            </a:r>
          </a:p>
        </p:txBody>
      </p:sp>
      <p:sp>
        <p:nvSpPr>
          <p:cNvPr id="4" name="Footer Placeholder 3">
            <a:extLst>
              <a:ext uri="{FF2B5EF4-FFF2-40B4-BE49-F238E27FC236}">
                <a16:creationId xmlns:a16="http://schemas.microsoft.com/office/drawing/2014/main" id="{6DD20806-E054-4531-9D7D-8D52340A7450}"/>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D366094B-0DA9-48DC-81DE-AB468530ADB8}"/>
              </a:ext>
            </a:extLst>
          </p:cNvPr>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5110113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7099E78-A2B2-4B92-BC59-B74FFB92CEE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Logic</a:t>
            </a:r>
          </a:p>
        </p:txBody>
      </p:sp>
      <p:sp>
        <p:nvSpPr>
          <p:cNvPr id="4" name="Footer Placeholder 3">
            <a:extLst>
              <a:ext uri="{FF2B5EF4-FFF2-40B4-BE49-F238E27FC236}">
                <a16:creationId xmlns:a16="http://schemas.microsoft.com/office/drawing/2014/main" id="{A1D3A1AB-4942-45C0-94F5-D9293C344AC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Applications of ICT</a:t>
            </a:r>
          </a:p>
        </p:txBody>
      </p:sp>
      <p:sp>
        <p:nvSpPr>
          <p:cNvPr id="5" name="Slide Number Placeholder 4">
            <a:extLst>
              <a:ext uri="{FF2B5EF4-FFF2-40B4-BE49-F238E27FC236}">
                <a16:creationId xmlns:a16="http://schemas.microsoft.com/office/drawing/2014/main" id="{F7651247-7A2E-4C98-8981-CD38CA2B9B9B}"/>
              </a:ext>
            </a:extLst>
          </p:cNvPr>
          <p:cNvSpPr>
            <a:spLocks noGrp="1"/>
          </p:cNvSpPr>
          <p:nvPr>
            <p:ph type="sldNum" sz="quarter" idx="4294967295"/>
          </p:nvPr>
        </p:nvSpPr>
        <p:spPr>
          <a:xfrm>
            <a:off x="11510963" y="6492875"/>
            <a:ext cx="68103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64940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33B59F4-927E-4EC1-A69B-F8F28B9B71C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Making your Argument Trustworthy</a:t>
            </a:r>
          </a:p>
        </p:txBody>
      </p:sp>
      <p:sp>
        <p:nvSpPr>
          <p:cNvPr id="6" name="Content Placeholder 5">
            <a:extLst>
              <a:ext uri="{FF2B5EF4-FFF2-40B4-BE49-F238E27FC236}">
                <a16:creationId xmlns:a16="http://schemas.microsoft.com/office/drawing/2014/main" id="{F6DF157C-6389-491D-870E-F3B9B2FCE0E2}"/>
              </a:ext>
            </a:extLst>
          </p:cNvPr>
          <p:cNvSpPr>
            <a:spLocks noGrp="1"/>
          </p:cNvSpPr>
          <p:nvPr>
            <p:ph idx="1"/>
          </p:nvPr>
        </p:nvSpPr>
        <p:spPr>
          <a:xfrm>
            <a:off x="374469" y="1317873"/>
            <a:ext cx="11665132" cy="4222253"/>
          </a:xfrm>
        </p:spPr>
        <p:txBody>
          <a:bodyPr/>
          <a:lstStyle/>
          <a:p>
            <a:r>
              <a:rPr lang="en-US" dirty="0">
                <a:latin typeface="Times New Roman" panose="02020603050405020304" pitchFamily="18" charset="0"/>
                <a:cs typeface="Times New Roman" panose="02020603050405020304" pitchFamily="18" charset="0"/>
              </a:rPr>
              <a:t>State the claim clearly (what exactly you’re proving).</a:t>
            </a:r>
          </a:p>
          <a:p>
            <a:r>
              <a:rPr lang="en-US" dirty="0">
                <a:latin typeface="Times New Roman" panose="02020603050405020304" pitchFamily="18" charset="0"/>
                <a:cs typeface="Times New Roman" panose="02020603050405020304" pitchFamily="18" charset="0"/>
              </a:rPr>
              <a:t>List assumptions/preconditions (what must be true first).</a:t>
            </a:r>
          </a:p>
          <a:p>
            <a:r>
              <a:rPr lang="en-US" dirty="0">
                <a:latin typeface="Times New Roman" panose="02020603050405020304" pitchFamily="18" charset="0"/>
                <a:cs typeface="Times New Roman" panose="02020603050405020304" pitchFamily="18" charset="0"/>
              </a:rPr>
              <a:t>Use valid steps only (no leaps; justify each move).</a:t>
            </a:r>
          </a:p>
          <a:p>
            <a:r>
              <a:rPr lang="en-US" dirty="0">
                <a:latin typeface="Times New Roman" panose="02020603050405020304" pitchFamily="18" charset="0"/>
                <a:cs typeface="Times New Roman" panose="02020603050405020304" pitchFamily="18" charset="0"/>
              </a:rPr>
              <a:t>General ≠ example: testing some cases ≠ proof for all cases.</a:t>
            </a:r>
          </a:p>
          <a:p>
            <a:r>
              <a:rPr lang="en-US" dirty="0">
                <a:latin typeface="Times New Roman" panose="02020603050405020304" pitchFamily="18" charset="0"/>
                <a:cs typeface="Times New Roman" panose="02020603050405020304" pitchFamily="18" charset="0"/>
              </a:rPr>
              <a:t>Avoid circularity: don’t use the result to prove itself.</a:t>
            </a:r>
          </a:p>
          <a:p>
            <a:r>
              <a:rPr lang="en-US" dirty="0">
                <a:latin typeface="Times New Roman" panose="02020603050405020304" pitchFamily="18" charset="0"/>
                <a:cs typeface="Times New Roman" panose="02020603050405020304" pitchFamily="18" charset="0"/>
              </a:rPr>
              <a:t>Name the structure (direct, contradiction, contrapositive, induction).</a:t>
            </a:r>
          </a:p>
        </p:txBody>
      </p:sp>
      <p:sp>
        <p:nvSpPr>
          <p:cNvPr id="4" name="Footer Placeholder 3">
            <a:extLst>
              <a:ext uri="{FF2B5EF4-FFF2-40B4-BE49-F238E27FC236}">
                <a16:creationId xmlns:a16="http://schemas.microsoft.com/office/drawing/2014/main" id="{9ACC045E-2175-46D4-9800-0C3F5760BAB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lumMod val="50000"/>
                  </a:prstClr>
                </a:solidFill>
                <a:effectLst/>
                <a:uLnTx/>
                <a:uFillTx/>
                <a:latin typeface="Calibri" panose="020F0502020204030204"/>
                <a:ea typeface="+mn-ea"/>
                <a:cs typeface="+mn-cs"/>
              </a:rPr>
              <a:t>Applications of ICT</a:t>
            </a:r>
            <a:endParaRPr kumimoji="0" lang="en-US" sz="12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41278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B9AFC-E6B6-405E-B276-4990845337E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Relationship to Problem Solving</a:t>
            </a:r>
          </a:p>
        </p:txBody>
      </p:sp>
      <p:sp>
        <p:nvSpPr>
          <p:cNvPr id="4" name="Footer Placeholder 3">
            <a:extLst>
              <a:ext uri="{FF2B5EF4-FFF2-40B4-BE49-F238E27FC236}">
                <a16:creationId xmlns:a16="http://schemas.microsoft.com/office/drawing/2014/main" id="{8D01244D-A8C2-4D7D-A592-5C70BCFCE475}"/>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lumMod val="50000"/>
                  </a:prstClr>
                </a:solidFill>
                <a:effectLst/>
                <a:uLnTx/>
                <a:uFillTx/>
                <a:latin typeface="Calibri" panose="020F0502020204030204"/>
                <a:ea typeface="+mn-ea"/>
                <a:cs typeface="+mn-cs"/>
              </a:rPr>
              <a:t>Applications of ICT</a:t>
            </a:r>
            <a:endParaRPr kumimoji="0" lang="en-US" sz="12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3571D5D9-3FC8-4107-BCE2-534366220D2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white">
                  <a:lumMod val="50000"/>
                </a:prstClr>
              </a:solidFill>
              <a:effectLst/>
              <a:uLnTx/>
              <a:uFillTx/>
              <a:latin typeface="Calibri" panose="020F0502020204030204"/>
              <a:ea typeface="+mn-ea"/>
              <a:cs typeface="+mn-cs"/>
            </a:endParaRPr>
          </a:p>
        </p:txBody>
      </p:sp>
      <p:graphicFrame>
        <p:nvGraphicFramePr>
          <p:cNvPr id="6" name="Table 5">
            <a:extLst>
              <a:ext uri="{FF2B5EF4-FFF2-40B4-BE49-F238E27FC236}">
                <a16:creationId xmlns:a16="http://schemas.microsoft.com/office/drawing/2014/main" id="{4D51D04E-5761-4D00-AB32-C30862535DDE}"/>
              </a:ext>
            </a:extLst>
          </p:cNvPr>
          <p:cNvGraphicFramePr>
            <a:graphicFrameLocks noGrp="1"/>
          </p:cNvGraphicFramePr>
          <p:nvPr/>
        </p:nvGraphicFramePr>
        <p:xfrm>
          <a:off x="374289" y="1524000"/>
          <a:ext cx="11360512" cy="4495799"/>
        </p:xfrm>
        <a:graphic>
          <a:graphicData uri="http://schemas.openxmlformats.org/drawingml/2006/table">
            <a:tbl>
              <a:tblPr>
                <a:tableStyleId>{BC89EF96-8CEA-46FF-86C4-4CE0E7609802}</a:tableStyleId>
              </a:tblPr>
              <a:tblGrid>
                <a:gridCol w="5680256">
                  <a:extLst>
                    <a:ext uri="{9D8B030D-6E8A-4147-A177-3AD203B41FA5}">
                      <a16:colId xmlns:a16="http://schemas.microsoft.com/office/drawing/2014/main" val="3531270359"/>
                    </a:ext>
                  </a:extLst>
                </a:gridCol>
                <a:gridCol w="5680256">
                  <a:extLst>
                    <a:ext uri="{9D8B030D-6E8A-4147-A177-3AD203B41FA5}">
                      <a16:colId xmlns:a16="http://schemas.microsoft.com/office/drawing/2014/main" val="2574807280"/>
                    </a:ext>
                  </a:extLst>
                </a:gridCol>
              </a:tblGrid>
              <a:tr h="642257">
                <a:tc>
                  <a:txBody>
                    <a:bodyPr/>
                    <a:lstStyle/>
                    <a:p>
                      <a:r>
                        <a:rPr lang="en-US" sz="2000" b="1">
                          <a:latin typeface="Times New Roman" panose="02020603050405020304" pitchFamily="18" charset="0"/>
                          <a:cs typeface="Times New Roman" panose="02020603050405020304" pitchFamily="18" charset="0"/>
                        </a:rPr>
                        <a:t>Argument Principle</a:t>
                      </a:r>
                    </a:p>
                  </a:txBody>
                  <a:tcPr anchor="ctr"/>
                </a:tc>
                <a:tc>
                  <a:txBody>
                    <a:bodyPr/>
                    <a:lstStyle/>
                    <a:p>
                      <a:r>
                        <a:rPr lang="en-US" sz="2000" b="1" dirty="0">
                          <a:latin typeface="Times New Roman" panose="02020603050405020304" pitchFamily="18" charset="0"/>
                          <a:cs typeface="Times New Roman" panose="02020603050405020304" pitchFamily="18" charset="0"/>
                        </a:rPr>
                        <a:t>Algorithm Equivalent</a:t>
                      </a:r>
                    </a:p>
                  </a:txBody>
                  <a:tcPr anchor="ctr"/>
                </a:tc>
                <a:extLst>
                  <a:ext uri="{0D108BD9-81ED-4DB2-BD59-A6C34878D82A}">
                    <a16:rowId xmlns:a16="http://schemas.microsoft.com/office/drawing/2014/main" val="109425128"/>
                  </a:ext>
                </a:extLst>
              </a:tr>
              <a:tr h="642257">
                <a:tc>
                  <a:txBody>
                    <a:bodyPr/>
                    <a:lstStyle/>
                    <a:p>
                      <a:r>
                        <a:rPr lang="en-US">
                          <a:latin typeface="Times New Roman" panose="02020603050405020304" pitchFamily="18" charset="0"/>
                          <a:cs typeface="Times New Roman" panose="02020603050405020304" pitchFamily="18" charset="0"/>
                        </a:rPr>
                        <a:t>Clear claim</a:t>
                      </a:r>
                    </a:p>
                  </a:txBody>
                  <a:tcPr anchor="ctr"/>
                </a:tc>
                <a:tc>
                  <a:txBody>
                    <a:bodyPr/>
                    <a:lstStyle/>
                    <a:p>
                      <a:r>
                        <a:rPr lang="en-US">
                          <a:latin typeface="Times New Roman" panose="02020603050405020304" pitchFamily="18" charset="0"/>
                          <a:cs typeface="Times New Roman" panose="02020603050405020304" pitchFamily="18" charset="0"/>
                        </a:rPr>
                        <a:t>Define goal/output</a:t>
                      </a:r>
                    </a:p>
                  </a:txBody>
                  <a:tcPr anchor="ctr"/>
                </a:tc>
                <a:extLst>
                  <a:ext uri="{0D108BD9-81ED-4DB2-BD59-A6C34878D82A}">
                    <a16:rowId xmlns:a16="http://schemas.microsoft.com/office/drawing/2014/main" val="2569324421"/>
                  </a:ext>
                </a:extLst>
              </a:tr>
              <a:tr h="642257">
                <a:tc>
                  <a:txBody>
                    <a:bodyPr/>
                    <a:lstStyle/>
                    <a:p>
                      <a:r>
                        <a:rPr lang="en-US">
                          <a:latin typeface="Times New Roman" panose="02020603050405020304" pitchFamily="18" charset="0"/>
                          <a:cs typeface="Times New Roman" panose="02020603050405020304" pitchFamily="18" charset="0"/>
                        </a:rPr>
                        <a:t>Preconditions</a:t>
                      </a:r>
                    </a:p>
                  </a:txBody>
                  <a:tcPr anchor="ctr"/>
                </a:tc>
                <a:tc>
                  <a:txBody>
                    <a:bodyPr/>
                    <a:lstStyle/>
                    <a:p>
                      <a:r>
                        <a:rPr lang="en-US">
                          <a:latin typeface="Times New Roman" panose="02020603050405020304" pitchFamily="18" charset="0"/>
                          <a:cs typeface="Times New Roman" panose="02020603050405020304" pitchFamily="18" charset="0"/>
                        </a:rPr>
                        <a:t>Input constraints</a:t>
                      </a:r>
                    </a:p>
                  </a:txBody>
                  <a:tcPr anchor="ctr"/>
                </a:tc>
                <a:extLst>
                  <a:ext uri="{0D108BD9-81ED-4DB2-BD59-A6C34878D82A}">
                    <a16:rowId xmlns:a16="http://schemas.microsoft.com/office/drawing/2014/main" val="1778776038"/>
                  </a:ext>
                </a:extLst>
              </a:tr>
              <a:tr h="642257">
                <a:tc>
                  <a:txBody>
                    <a:bodyPr/>
                    <a:lstStyle/>
                    <a:p>
                      <a:r>
                        <a:rPr lang="en-US">
                          <a:latin typeface="Times New Roman" panose="02020603050405020304" pitchFamily="18" charset="0"/>
                          <a:cs typeface="Times New Roman" panose="02020603050405020304" pitchFamily="18" charset="0"/>
                        </a:rPr>
                        <a:t>Valid steps</a:t>
                      </a:r>
                    </a:p>
                  </a:txBody>
                  <a:tcPr anchor="ctr"/>
                </a:tc>
                <a:tc>
                  <a:txBody>
                    <a:bodyPr/>
                    <a:lstStyle/>
                    <a:p>
                      <a:r>
                        <a:rPr lang="en-US">
                          <a:latin typeface="Times New Roman" panose="02020603050405020304" pitchFamily="18" charset="0"/>
                          <a:cs typeface="Times New Roman" panose="02020603050405020304" pitchFamily="18" charset="0"/>
                        </a:rPr>
                        <a:t>Correct logic</a:t>
                      </a:r>
                    </a:p>
                  </a:txBody>
                  <a:tcPr anchor="ctr"/>
                </a:tc>
                <a:extLst>
                  <a:ext uri="{0D108BD9-81ED-4DB2-BD59-A6C34878D82A}">
                    <a16:rowId xmlns:a16="http://schemas.microsoft.com/office/drawing/2014/main" val="458021017"/>
                  </a:ext>
                </a:extLst>
              </a:tr>
              <a:tr h="642257">
                <a:tc>
                  <a:txBody>
                    <a:bodyPr/>
                    <a:lstStyle/>
                    <a:p>
                      <a:r>
                        <a:rPr lang="en-US">
                          <a:latin typeface="Times New Roman" panose="02020603050405020304" pitchFamily="18" charset="0"/>
                          <a:cs typeface="Times New Roman" panose="02020603050405020304" pitchFamily="18" charset="0"/>
                        </a:rPr>
                        <a:t>General ≠ Example</a:t>
                      </a:r>
                    </a:p>
                  </a:txBody>
                  <a:tcPr anchor="ctr"/>
                </a:tc>
                <a:tc>
                  <a:txBody>
                    <a:bodyPr/>
                    <a:lstStyle/>
                    <a:p>
                      <a:r>
                        <a:rPr lang="en-US">
                          <a:latin typeface="Times New Roman" panose="02020603050405020304" pitchFamily="18" charset="0"/>
                          <a:cs typeface="Times New Roman" panose="02020603050405020304" pitchFamily="18" charset="0"/>
                        </a:rPr>
                        <a:t>Avoid testing only one case</a:t>
                      </a:r>
                    </a:p>
                  </a:txBody>
                  <a:tcPr anchor="ctr"/>
                </a:tc>
                <a:extLst>
                  <a:ext uri="{0D108BD9-81ED-4DB2-BD59-A6C34878D82A}">
                    <a16:rowId xmlns:a16="http://schemas.microsoft.com/office/drawing/2014/main" val="3183231552"/>
                  </a:ext>
                </a:extLst>
              </a:tr>
              <a:tr h="642257">
                <a:tc>
                  <a:txBody>
                    <a:bodyPr/>
                    <a:lstStyle/>
                    <a:p>
                      <a:r>
                        <a:rPr lang="en-US">
                          <a:latin typeface="Times New Roman" panose="02020603050405020304" pitchFamily="18" charset="0"/>
                          <a:cs typeface="Times New Roman" panose="02020603050405020304" pitchFamily="18" charset="0"/>
                        </a:rPr>
                        <a:t>No circularity</a:t>
                      </a:r>
                    </a:p>
                  </a:txBody>
                  <a:tcPr anchor="ctr"/>
                </a:tc>
                <a:tc>
                  <a:txBody>
                    <a:bodyPr/>
                    <a:lstStyle/>
                    <a:p>
                      <a:r>
                        <a:rPr lang="en-US">
                          <a:latin typeface="Times New Roman" panose="02020603050405020304" pitchFamily="18" charset="0"/>
                          <a:cs typeface="Times New Roman" panose="02020603050405020304" pitchFamily="18" charset="0"/>
                        </a:rPr>
                        <a:t>No assumptions based on result</a:t>
                      </a:r>
                    </a:p>
                  </a:txBody>
                  <a:tcPr anchor="ctr"/>
                </a:tc>
                <a:extLst>
                  <a:ext uri="{0D108BD9-81ED-4DB2-BD59-A6C34878D82A}">
                    <a16:rowId xmlns:a16="http://schemas.microsoft.com/office/drawing/2014/main" val="1641319338"/>
                  </a:ext>
                </a:extLst>
              </a:tr>
              <a:tr h="642257">
                <a:tc>
                  <a:txBody>
                    <a:bodyPr/>
                    <a:lstStyle/>
                    <a:p>
                      <a:r>
                        <a:rPr lang="en-US">
                          <a:latin typeface="Times New Roman" panose="02020603050405020304" pitchFamily="18" charset="0"/>
                          <a:cs typeface="Times New Roman" panose="02020603050405020304" pitchFamily="18" charset="0"/>
                        </a:rPr>
                        <a:t>Structure</a:t>
                      </a:r>
                    </a:p>
                  </a:txBody>
                  <a:tcPr anchor="ctr"/>
                </a:tc>
                <a:tc>
                  <a:txBody>
                    <a:bodyPr/>
                    <a:lstStyle/>
                    <a:p>
                      <a:r>
                        <a:rPr lang="fr-FR" dirty="0" err="1">
                          <a:latin typeface="Times New Roman" panose="02020603050405020304" pitchFamily="18" charset="0"/>
                          <a:cs typeface="Times New Roman" panose="02020603050405020304" pitchFamily="18" charset="0"/>
                        </a:rPr>
                        <a:t>Algorithm</a:t>
                      </a:r>
                      <a:r>
                        <a:rPr lang="fr-FR" dirty="0">
                          <a:latin typeface="Times New Roman" panose="02020603050405020304" pitchFamily="18" charset="0"/>
                          <a:cs typeface="Times New Roman" panose="02020603050405020304" pitchFamily="18" charset="0"/>
                        </a:rPr>
                        <a:t> type (</a:t>
                      </a:r>
                      <a:r>
                        <a:rPr lang="fr-FR" dirty="0" err="1">
                          <a:latin typeface="Times New Roman" panose="02020603050405020304" pitchFamily="18" charset="0"/>
                          <a:cs typeface="Times New Roman" panose="02020603050405020304" pitchFamily="18" charset="0"/>
                        </a:rPr>
                        <a:t>recursive</a:t>
                      </a:r>
                      <a:r>
                        <a:rPr lang="fr-FR" dirty="0">
                          <a:latin typeface="Times New Roman" panose="02020603050405020304" pitchFamily="18" charset="0"/>
                          <a:cs typeface="Times New Roman" panose="02020603050405020304" pitchFamily="18" charset="0"/>
                        </a:rPr>
                        <a:t>, brute-force, etc.)</a:t>
                      </a:r>
                    </a:p>
                  </a:txBody>
                  <a:tcPr anchor="ctr"/>
                </a:tc>
                <a:extLst>
                  <a:ext uri="{0D108BD9-81ED-4DB2-BD59-A6C34878D82A}">
                    <a16:rowId xmlns:a16="http://schemas.microsoft.com/office/drawing/2014/main" val="1580434486"/>
                  </a:ext>
                </a:extLst>
              </a:tr>
            </a:tbl>
          </a:graphicData>
        </a:graphic>
      </p:graphicFrame>
    </p:spTree>
    <p:extLst>
      <p:ext uri="{BB962C8B-B14F-4D97-AF65-F5344CB8AC3E}">
        <p14:creationId xmlns:p14="http://schemas.microsoft.com/office/powerpoint/2010/main" val="13909505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2708D17-3C70-49A9-B41B-EDC3C1EAD30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Familiar? Obvious?</a:t>
            </a:r>
          </a:p>
        </p:txBody>
      </p:sp>
      <p:sp>
        <p:nvSpPr>
          <p:cNvPr id="4" name="Footer Placeholder 3">
            <a:extLst>
              <a:ext uri="{FF2B5EF4-FFF2-40B4-BE49-F238E27FC236}">
                <a16:creationId xmlns:a16="http://schemas.microsoft.com/office/drawing/2014/main" id="{0FE40595-1B75-4194-A681-75701FAC6BCE}"/>
              </a:ext>
            </a:extLst>
          </p:cNvPr>
          <p:cNvSpPr>
            <a:spLocks noGrp="1"/>
          </p:cNvSpPr>
          <p:nvPr>
            <p:ph type="ftr" sz="quarter" idx="11"/>
          </p:nvPr>
        </p:nvSpPr>
        <p:spPr>
          <a:xfrm>
            <a:off x="1373501" y="6492718"/>
            <a:ext cx="9444997"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Applications of ICT</a:t>
            </a:r>
          </a:p>
        </p:txBody>
      </p:sp>
      <p:pic>
        <p:nvPicPr>
          <p:cNvPr id="10" name="Picture 9">
            <a:extLst>
              <a:ext uri="{FF2B5EF4-FFF2-40B4-BE49-F238E27FC236}">
                <a16:creationId xmlns:a16="http://schemas.microsoft.com/office/drawing/2014/main" id="{EE50D4C2-42CC-434F-B47B-85967009864A}"/>
              </a:ext>
            </a:extLst>
          </p:cNvPr>
          <p:cNvPicPr>
            <a:picLocks noChangeAspect="1"/>
          </p:cNvPicPr>
          <p:nvPr/>
        </p:nvPicPr>
        <p:blipFill>
          <a:blip r:embed="rId2"/>
          <a:stretch>
            <a:fillRect/>
          </a:stretch>
        </p:blipFill>
        <p:spPr>
          <a:xfrm>
            <a:off x="2133600" y="1101785"/>
            <a:ext cx="7696200" cy="5276011"/>
          </a:xfrm>
          <a:prstGeom prst="rect">
            <a:avLst/>
          </a:prstGeom>
          <a:ln w="12700">
            <a:solidFill>
              <a:schemeClr val="tx1"/>
            </a:solidFill>
          </a:ln>
        </p:spPr>
      </p:pic>
    </p:spTree>
    <p:extLst>
      <p:ext uri="{BB962C8B-B14F-4D97-AF65-F5344CB8AC3E}">
        <p14:creationId xmlns:p14="http://schemas.microsoft.com/office/powerpoint/2010/main" val="35504635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5F726-57F8-4A5D-95AA-DDF9114148F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 Cool Proof</a:t>
            </a:r>
          </a:p>
        </p:txBody>
      </p:sp>
      <p:sp>
        <p:nvSpPr>
          <p:cNvPr id="4" name="Footer Placeholder 3">
            <a:extLst>
              <a:ext uri="{FF2B5EF4-FFF2-40B4-BE49-F238E27FC236}">
                <a16:creationId xmlns:a16="http://schemas.microsoft.com/office/drawing/2014/main" id="{BB9FFDDC-354A-42CA-BC06-E7EA241C65C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Applications of ICT</a:t>
            </a:r>
          </a:p>
        </p:txBody>
      </p:sp>
      <p:sp>
        <p:nvSpPr>
          <p:cNvPr id="5" name="Slide Number Placeholder 4">
            <a:extLst>
              <a:ext uri="{FF2B5EF4-FFF2-40B4-BE49-F238E27FC236}">
                <a16:creationId xmlns:a16="http://schemas.microsoft.com/office/drawing/2014/main" id="{10EA7EFD-1A74-4D2D-858D-48B7936B5C5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white">
                  <a:lumMod val="50000"/>
                </a:prstClr>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0A83BF80-FF23-4912-9F11-F61F2515C8C2}"/>
              </a:ext>
            </a:extLst>
          </p:cNvPr>
          <p:cNvPicPr>
            <a:picLocks noChangeAspect="1"/>
          </p:cNvPicPr>
          <p:nvPr/>
        </p:nvPicPr>
        <p:blipFill>
          <a:blip r:embed="rId2"/>
          <a:stretch>
            <a:fillRect/>
          </a:stretch>
        </p:blipFill>
        <p:spPr>
          <a:xfrm>
            <a:off x="1143000" y="966721"/>
            <a:ext cx="10133322" cy="5520530"/>
          </a:xfrm>
          <a:prstGeom prst="rect">
            <a:avLst/>
          </a:prstGeom>
          <a:ln w="3175">
            <a:solidFill>
              <a:schemeClr val="tx1"/>
            </a:solidFill>
          </a:ln>
        </p:spPr>
      </p:pic>
    </p:spTree>
    <p:extLst>
      <p:ext uri="{BB962C8B-B14F-4D97-AF65-F5344CB8AC3E}">
        <p14:creationId xmlns:p14="http://schemas.microsoft.com/office/powerpoint/2010/main" val="3931184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C3D15-0138-4A21-813B-03E56312FA4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 Cool Proof</a:t>
            </a:r>
          </a:p>
        </p:txBody>
      </p:sp>
      <p:sp>
        <p:nvSpPr>
          <p:cNvPr id="4" name="Footer Placeholder 3">
            <a:extLst>
              <a:ext uri="{FF2B5EF4-FFF2-40B4-BE49-F238E27FC236}">
                <a16:creationId xmlns:a16="http://schemas.microsoft.com/office/drawing/2014/main" id="{9F3A35BA-2D80-4C2D-B05D-E202C5D6D264}"/>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lumMod val="50000"/>
                  </a:prstClr>
                </a:solidFill>
                <a:effectLst/>
                <a:uLnTx/>
                <a:uFillTx/>
                <a:latin typeface="Calibri" panose="020F0502020204030204"/>
                <a:ea typeface="+mn-ea"/>
                <a:cs typeface="+mn-cs"/>
              </a:rPr>
              <a:t>Applications of ICT</a:t>
            </a:r>
            <a:endParaRPr kumimoji="0" lang="en-US" sz="12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64E614C-8204-4644-A466-8E9797730E8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white">
                  <a:lumMod val="50000"/>
                </a:prstClr>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84C94371-9BCE-4E87-BE6C-086DD053AC03}"/>
              </a:ext>
            </a:extLst>
          </p:cNvPr>
          <p:cNvPicPr>
            <a:picLocks noChangeAspect="1"/>
          </p:cNvPicPr>
          <p:nvPr/>
        </p:nvPicPr>
        <p:blipFill>
          <a:blip r:embed="rId2"/>
          <a:stretch>
            <a:fillRect/>
          </a:stretch>
        </p:blipFill>
        <p:spPr>
          <a:xfrm>
            <a:off x="2514600" y="838200"/>
            <a:ext cx="6858000" cy="5755820"/>
          </a:xfrm>
          <a:prstGeom prst="rect">
            <a:avLst/>
          </a:prstGeom>
          <a:ln w="6350">
            <a:solidFill>
              <a:schemeClr val="tx1"/>
            </a:solidFill>
          </a:ln>
        </p:spPr>
      </p:pic>
    </p:spTree>
    <p:extLst>
      <p:ext uri="{BB962C8B-B14F-4D97-AF65-F5344CB8AC3E}">
        <p14:creationId xmlns:p14="http://schemas.microsoft.com/office/powerpoint/2010/main" val="39365624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5F726-57F8-4A5D-95AA-DDF9114148F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 Cool Proof</a:t>
            </a:r>
          </a:p>
        </p:txBody>
      </p:sp>
      <p:sp>
        <p:nvSpPr>
          <p:cNvPr id="4" name="Footer Placeholder 3">
            <a:extLst>
              <a:ext uri="{FF2B5EF4-FFF2-40B4-BE49-F238E27FC236}">
                <a16:creationId xmlns:a16="http://schemas.microsoft.com/office/drawing/2014/main" id="{BB9FFDDC-354A-42CA-BC06-E7EA241C65C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Applications of ICT</a:t>
            </a:r>
          </a:p>
        </p:txBody>
      </p:sp>
      <p:sp>
        <p:nvSpPr>
          <p:cNvPr id="5" name="Slide Number Placeholder 4">
            <a:extLst>
              <a:ext uri="{FF2B5EF4-FFF2-40B4-BE49-F238E27FC236}">
                <a16:creationId xmlns:a16="http://schemas.microsoft.com/office/drawing/2014/main" id="{10EA7EFD-1A74-4D2D-858D-48B7936B5C5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white">
                  <a:lumMod val="50000"/>
                </a:prstClr>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6A9D80D8-2BAD-45FD-987C-5674E0837225}"/>
              </a:ext>
            </a:extLst>
          </p:cNvPr>
          <p:cNvPicPr>
            <a:picLocks noChangeAspect="1"/>
          </p:cNvPicPr>
          <p:nvPr/>
        </p:nvPicPr>
        <p:blipFill>
          <a:blip r:embed="rId2"/>
          <a:stretch>
            <a:fillRect/>
          </a:stretch>
        </p:blipFill>
        <p:spPr>
          <a:xfrm>
            <a:off x="2819400" y="904600"/>
            <a:ext cx="6096000" cy="5582652"/>
          </a:xfrm>
          <a:prstGeom prst="rect">
            <a:avLst/>
          </a:prstGeom>
          <a:ln w="12700">
            <a:solidFill>
              <a:schemeClr val="tx1"/>
            </a:solidFill>
          </a:ln>
        </p:spPr>
      </p:pic>
    </p:spTree>
    <p:extLst>
      <p:ext uri="{BB962C8B-B14F-4D97-AF65-F5344CB8AC3E}">
        <p14:creationId xmlns:p14="http://schemas.microsoft.com/office/powerpoint/2010/main" val="28599952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72005-DCAC-4C0C-9CFB-B813C0ADAAD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 Cool Proof</a:t>
            </a:r>
            <a:endParaRPr lang="en-US" dirty="0"/>
          </a:p>
        </p:txBody>
      </p:sp>
      <p:pic>
        <p:nvPicPr>
          <p:cNvPr id="6" name="Content Placeholder 5">
            <a:extLst>
              <a:ext uri="{FF2B5EF4-FFF2-40B4-BE49-F238E27FC236}">
                <a16:creationId xmlns:a16="http://schemas.microsoft.com/office/drawing/2014/main" id="{9794241C-2EDE-4450-B182-5D0189F78870}"/>
              </a:ext>
            </a:extLst>
          </p:cNvPr>
          <p:cNvPicPr>
            <a:picLocks noGrp="1" noChangeAspect="1"/>
          </p:cNvPicPr>
          <p:nvPr>
            <p:ph idx="1"/>
          </p:nvPr>
        </p:nvPicPr>
        <p:blipFill>
          <a:blip r:embed="rId2"/>
          <a:stretch>
            <a:fillRect/>
          </a:stretch>
        </p:blipFill>
        <p:spPr>
          <a:xfrm>
            <a:off x="3714750" y="1231106"/>
            <a:ext cx="4762500" cy="4762500"/>
          </a:xfrm>
          <a:prstGeom prst="rect">
            <a:avLst/>
          </a:prstGeom>
        </p:spPr>
      </p:pic>
      <p:sp>
        <p:nvSpPr>
          <p:cNvPr id="4" name="Footer Placeholder 3">
            <a:extLst>
              <a:ext uri="{FF2B5EF4-FFF2-40B4-BE49-F238E27FC236}">
                <a16:creationId xmlns:a16="http://schemas.microsoft.com/office/drawing/2014/main" id="{90CA2E03-6EEC-4576-A363-A799B13C14A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lumMod val="50000"/>
                  </a:prstClr>
                </a:solidFill>
                <a:effectLst/>
                <a:uLnTx/>
                <a:uFillTx/>
                <a:latin typeface="Calibri" panose="020F0502020204030204"/>
                <a:ea typeface="+mn-ea"/>
                <a:cs typeface="+mn-cs"/>
              </a:rPr>
              <a:t>Applications of ICT</a:t>
            </a:r>
            <a:endParaRPr kumimoji="0" lang="en-US" sz="12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8A822959-4444-4ADC-BE4E-AEB4424A6A8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99522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38E4EE2-9783-433A-9268-810B76393FC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Flowcharts</a:t>
            </a:r>
          </a:p>
        </p:txBody>
      </p:sp>
      <p:pic>
        <p:nvPicPr>
          <p:cNvPr id="10" name="Content Placeholder 9">
            <a:extLst>
              <a:ext uri="{FF2B5EF4-FFF2-40B4-BE49-F238E27FC236}">
                <a16:creationId xmlns:a16="http://schemas.microsoft.com/office/drawing/2014/main" id="{67C0BC06-A6FB-4A4D-ADF7-8A6BF76C2356}"/>
              </a:ext>
            </a:extLst>
          </p:cNvPr>
          <p:cNvPicPr>
            <a:picLocks noGrp="1" noChangeAspect="1"/>
          </p:cNvPicPr>
          <p:nvPr>
            <p:ph idx="1"/>
          </p:nvPr>
        </p:nvPicPr>
        <p:blipFill>
          <a:blip r:embed="rId2"/>
          <a:stretch>
            <a:fillRect/>
          </a:stretch>
        </p:blipFill>
        <p:spPr>
          <a:xfrm>
            <a:off x="2285670" y="1432847"/>
            <a:ext cx="7620660" cy="4359018"/>
          </a:xfrm>
        </p:spPr>
      </p:pic>
      <p:sp>
        <p:nvSpPr>
          <p:cNvPr id="5" name="Footer Placeholder 4">
            <a:extLst>
              <a:ext uri="{FF2B5EF4-FFF2-40B4-BE49-F238E27FC236}">
                <a16:creationId xmlns:a16="http://schemas.microsoft.com/office/drawing/2014/main" id="{67B7D240-0758-493A-B37F-1D2CB7673DFA}"/>
              </a:ext>
            </a:extLst>
          </p:cNvPr>
          <p:cNvSpPr>
            <a:spLocks noGrp="1"/>
          </p:cNvSpPr>
          <p:nvPr>
            <p:ph type="ftr" sz="quarter" idx="11"/>
          </p:nvPr>
        </p:nvSpPr>
        <p:spPr/>
        <p:txBody>
          <a:bodyPr/>
          <a:lstStyle/>
          <a:p>
            <a:r>
              <a:rPr lang="en-US"/>
              <a:t>Applications of ICT</a:t>
            </a:r>
            <a:endParaRPr lang="en-US" dirty="0"/>
          </a:p>
        </p:txBody>
      </p:sp>
      <p:sp>
        <p:nvSpPr>
          <p:cNvPr id="6" name="Slide Number Placeholder 5">
            <a:extLst>
              <a:ext uri="{FF2B5EF4-FFF2-40B4-BE49-F238E27FC236}">
                <a16:creationId xmlns:a16="http://schemas.microsoft.com/office/drawing/2014/main" id="{32485103-59FA-4E35-871F-46F7237085FF}"/>
              </a:ext>
            </a:extLst>
          </p:cNvPr>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3475943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B752E-740F-44AE-B319-FFD2A5123396}"/>
              </a:ext>
            </a:extLst>
          </p:cNvPr>
          <p:cNvSpPr>
            <a:spLocks noGrp="1"/>
          </p:cNvSpPr>
          <p:nvPr>
            <p:ph type="title"/>
          </p:nvPr>
        </p:nvSpPr>
        <p:spPr>
          <a:xfrm>
            <a:off x="322730" y="418726"/>
            <a:ext cx="11494802" cy="365126"/>
          </a:xfrm>
        </p:spPr>
        <p:txBody>
          <a:bodyPr/>
          <a:lstStyle/>
          <a:p>
            <a:r>
              <a:rPr lang="en-US" sz="2800" dirty="0">
                <a:latin typeface="Times New Roman" panose="02020603050405020304" pitchFamily="18" charset="0"/>
                <a:cs typeface="Times New Roman" panose="02020603050405020304" pitchFamily="18" charset="0"/>
              </a:rPr>
              <a:t>Draw a flowchart to input two numbers from the user and display the largest of two numbers.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57EE387-8526-4B76-8FC2-89F56DD02663}"/>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EA655CE8-9C15-4205-BBBD-F2E36539B2E3}"/>
              </a:ext>
            </a:extLst>
          </p:cNvPr>
          <p:cNvSpPr>
            <a:spLocks noGrp="1"/>
          </p:cNvSpPr>
          <p:nvPr>
            <p:ph type="sldNum" sz="quarter" idx="12"/>
          </p:nvPr>
        </p:nvSpPr>
        <p:spPr/>
        <p:txBody>
          <a:bodyPr/>
          <a:lstStyle/>
          <a:p>
            <a:fld id="{B6F15528-21DE-4FAA-801E-634DDDAF4B2B}" type="slidenum">
              <a:rPr lang="en-US" smtClean="0"/>
              <a:pPr/>
              <a:t>25</a:t>
            </a:fld>
            <a:endParaRPr lang="en-US"/>
          </a:p>
        </p:txBody>
      </p:sp>
      <p:pic>
        <p:nvPicPr>
          <p:cNvPr id="1026" name="Picture 2" descr="example">
            <a:extLst>
              <a:ext uri="{FF2B5EF4-FFF2-40B4-BE49-F238E27FC236}">
                <a16:creationId xmlns:a16="http://schemas.microsoft.com/office/drawing/2014/main" id="{75A3A4D6-E628-4D22-8C3F-25ECAA4C96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3535" y="872060"/>
            <a:ext cx="5502560" cy="5914222"/>
          </a:xfrm>
          <a:prstGeom prst="rect">
            <a:avLst/>
          </a:prstGeom>
          <a:noFill/>
          <a:ln w="3175">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22528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02023-9294-45D8-BB5C-F776B3EED0F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Can you explain what this algorithm does?</a:t>
            </a:r>
          </a:p>
        </p:txBody>
      </p:sp>
      <p:sp>
        <p:nvSpPr>
          <p:cNvPr id="3" name="Content Placeholder 2">
            <a:extLst>
              <a:ext uri="{FF2B5EF4-FFF2-40B4-BE49-F238E27FC236}">
                <a16:creationId xmlns:a16="http://schemas.microsoft.com/office/drawing/2014/main" id="{5CBDD8F3-E822-4D8D-8F26-F719E6C0D0F2}"/>
              </a:ext>
            </a:extLst>
          </p:cNvPr>
          <p:cNvSpPr>
            <a:spLocks noGrp="1"/>
          </p:cNvSpPr>
          <p:nvPr>
            <p:ph sz="half" idx="1"/>
          </p:nvPr>
        </p:nvSpPr>
        <p:spPr/>
        <p:txBody>
          <a:bodyPr/>
          <a:lstStyle/>
          <a:p>
            <a:r>
              <a:rPr lang="en-US" dirty="0">
                <a:latin typeface="Times New Roman" panose="02020603050405020304" pitchFamily="18" charset="0"/>
                <a:cs typeface="Times New Roman" panose="02020603050405020304" pitchFamily="18" charset="0"/>
              </a:rPr>
              <a:t>Count ← 1</a:t>
            </a:r>
          </a:p>
          <a:p>
            <a:r>
              <a:rPr lang="en-US" dirty="0">
                <a:latin typeface="Times New Roman" panose="02020603050405020304" pitchFamily="18" charset="0"/>
                <a:cs typeface="Times New Roman" panose="02020603050405020304" pitchFamily="18" charset="0"/>
              </a:rPr>
              <a:t>Number ← 0</a:t>
            </a:r>
          </a:p>
          <a:p>
            <a:r>
              <a:rPr lang="en-US" dirty="0">
                <a:latin typeface="Times New Roman" panose="02020603050405020304" pitchFamily="18" charset="0"/>
                <a:cs typeface="Times New Roman" panose="02020603050405020304" pitchFamily="18" charset="0"/>
              </a:rPr>
              <a:t>Total ← 0</a:t>
            </a:r>
          </a:p>
          <a:p>
            <a:r>
              <a:rPr lang="en-US" dirty="0">
                <a:latin typeface="Times New Roman" panose="02020603050405020304" pitchFamily="18" charset="0"/>
                <a:cs typeface="Times New Roman" panose="02020603050405020304" pitchFamily="18" charset="0"/>
              </a:rPr>
              <a:t>REPEAT</a:t>
            </a:r>
          </a:p>
          <a:p>
            <a:r>
              <a:rPr lang="en-US" dirty="0">
                <a:latin typeface="Times New Roman" panose="02020603050405020304" pitchFamily="18" charset="0"/>
                <a:cs typeface="Times New Roman" panose="02020603050405020304" pitchFamily="18" charset="0"/>
              </a:rPr>
              <a:t>    INPUT Number</a:t>
            </a:r>
          </a:p>
          <a:p>
            <a:r>
              <a:rPr lang="en-US" dirty="0">
                <a:latin typeface="Times New Roman" panose="02020603050405020304" pitchFamily="18" charset="0"/>
                <a:cs typeface="Times New Roman" panose="02020603050405020304" pitchFamily="18" charset="0"/>
              </a:rPr>
              <a:t>    Total ←  Total + Number</a:t>
            </a:r>
          </a:p>
          <a:p>
            <a:r>
              <a:rPr lang="en-US" dirty="0">
                <a:latin typeface="Times New Roman" panose="02020603050405020304" pitchFamily="18" charset="0"/>
                <a:cs typeface="Times New Roman" panose="02020603050405020304" pitchFamily="18" charset="0"/>
              </a:rPr>
              <a:t>    Count ← Count + 1</a:t>
            </a:r>
          </a:p>
          <a:p>
            <a:r>
              <a:rPr lang="en-US" dirty="0">
                <a:latin typeface="Times New Roman" panose="02020603050405020304" pitchFamily="18" charset="0"/>
                <a:cs typeface="Times New Roman" panose="02020603050405020304" pitchFamily="18" charset="0"/>
              </a:rPr>
              <a:t>UNTIL Count &gt; 10</a:t>
            </a:r>
          </a:p>
          <a:p>
            <a:r>
              <a:rPr lang="en-US" dirty="0">
                <a:latin typeface="Times New Roman" panose="02020603050405020304" pitchFamily="18" charset="0"/>
                <a:cs typeface="Times New Roman" panose="02020603050405020304" pitchFamily="18" charset="0"/>
              </a:rPr>
              <a:t>OUTPUT Total</a:t>
            </a:r>
          </a:p>
        </p:txBody>
      </p:sp>
      <p:sp>
        <p:nvSpPr>
          <p:cNvPr id="6" name="Content Placeholder 5">
            <a:extLst>
              <a:ext uri="{FF2B5EF4-FFF2-40B4-BE49-F238E27FC236}">
                <a16:creationId xmlns:a16="http://schemas.microsoft.com/office/drawing/2014/main" id="{D6475561-4625-4B5D-9DB1-BAD1CC2E5C90}"/>
              </a:ext>
            </a:extLst>
          </p:cNvPr>
          <p:cNvSpPr>
            <a:spLocks noGrp="1"/>
          </p:cNvSpPr>
          <p:nvPr>
            <p:ph sz="half" idx="2"/>
          </p:nvPr>
        </p:nvSpPr>
        <p:spPr/>
        <p:txBody>
          <a:bodyPr>
            <a:normAutofit fontScale="92500" lnSpcReduction="20000"/>
          </a:bodyPr>
          <a:lstStyle/>
          <a:p>
            <a:pPr>
              <a:lnSpc>
                <a:spcPct val="110000"/>
              </a:lnSpc>
            </a:pPr>
            <a:r>
              <a:rPr lang="en-US" dirty="0">
                <a:latin typeface="Times New Roman" panose="02020603050405020304" pitchFamily="18" charset="0"/>
                <a:cs typeface="Times New Roman" panose="02020603050405020304" pitchFamily="18" charset="0"/>
              </a:rPr>
              <a:t>The purpose of the algorithm is to add ten user-entered numbers together and output the total</a:t>
            </a:r>
          </a:p>
          <a:p>
            <a:pPr>
              <a:lnSpc>
                <a:spcPct val="110000"/>
              </a:lnSpc>
            </a:pPr>
            <a:endParaRPr lang="en-US" dirty="0">
              <a:latin typeface="Times New Roman" panose="02020603050405020304" pitchFamily="18" charset="0"/>
              <a:cs typeface="Times New Roman" panose="02020603050405020304" pitchFamily="18" charset="0"/>
            </a:endParaRPr>
          </a:p>
          <a:p>
            <a:pPr>
              <a:lnSpc>
                <a:spcPct val="110000"/>
              </a:lnSpc>
            </a:pPr>
            <a:r>
              <a:rPr lang="en-US" dirty="0">
                <a:latin typeface="Times New Roman" panose="02020603050405020304" pitchFamily="18" charset="0"/>
                <a:cs typeface="Times New Roman" panose="02020603050405020304" pitchFamily="18" charset="0"/>
              </a:rPr>
              <a:t>The processes are: </a:t>
            </a:r>
          </a:p>
          <a:p>
            <a:pPr lvl="1">
              <a:lnSpc>
                <a:spcPct val="110000"/>
              </a:lnSpc>
            </a:pPr>
            <a:r>
              <a:rPr lang="en-US" dirty="0">
                <a:latin typeface="Times New Roman" panose="02020603050405020304" pitchFamily="18" charset="0"/>
                <a:cs typeface="Times New Roman" panose="02020603050405020304" pitchFamily="18" charset="0"/>
              </a:rPr>
              <a:t>initializing three variables (Count, Number, Total)</a:t>
            </a:r>
          </a:p>
          <a:p>
            <a:pPr lvl="1">
              <a:lnSpc>
                <a:spcPct val="110000"/>
              </a:lnSpc>
            </a:pPr>
            <a:r>
              <a:rPr lang="en-US" dirty="0">
                <a:latin typeface="Times New Roman" panose="02020603050405020304" pitchFamily="18" charset="0"/>
                <a:cs typeface="Times New Roman" panose="02020603050405020304" pitchFamily="18" charset="0"/>
              </a:rPr>
              <a:t>inputting a user number</a:t>
            </a:r>
          </a:p>
          <a:p>
            <a:pPr lvl="1">
              <a:lnSpc>
                <a:spcPct val="110000"/>
              </a:lnSpc>
            </a:pPr>
            <a:r>
              <a:rPr lang="en-US" dirty="0">
                <a:latin typeface="Times New Roman" panose="02020603050405020304" pitchFamily="18" charset="0"/>
                <a:cs typeface="Times New Roman" panose="02020603050405020304" pitchFamily="18" charset="0"/>
              </a:rPr>
              <a:t>adding to two variables (Total, Count) </a:t>
            </a:r>
          </a:p>
          <a:p>
            <a:pPr lvl="1">
              <a:lnSpc>
                <a:spcPct val="110000"/>
              </a:lnSpc>
            </a:pPr>
            <a:r>
              <a:rPr lang="en-US" dirty="0">
                <a:latin typeface="Times New Roman" panose="02020603050405020304" pitchFamily="18" charset="0"/>
                <a:cs typeface="Times New Roman" panose="02020603050405020304" pitchFamily="18" charset="0"/>
              </a:rPr>
              <a:t>repeating nine more times</a:t>
            </a:r>
          </a:p>
          <a:p>
            <a:pPr lvl="1">
              <a:lnSpc>
                <a:spcPct val="110000"/>
              </a:lnSpc>
            </a:pPr>
            <a:r>
              <a:rPr lang="en-US" dirty="0">
                <a:latin typeface="Times New Roman" panose="02020603050405020304" pitchFamily="18" charset="0"/>
                <a:cs typeface="Times New Roman" panose="02020603050405020304" pitchFamily="18" charset="0"/>
              </a:rPr>
              <a:t>outputting the final Total value</a:t>
            </a:r>
          </a:p>
        </p:txBody>
      </p:sp>
      <p:sp>
        <p:nvSpPr>
          <p:cNvPr id="4" name="Footer Placeholder 3">
            <a:extLst>
              <a:ext uri="{FF2B5EF4-FFF2-40B4-BE49-F238E27FC236}">
                <a16:creationId xmlns:a16="http://schemas.microsoft.com/office/drawing/2014/main" id="{950B45F3-9383-47F9-95C4-9F216A61B5FB}"/>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F0BC5734-D5FB-498D-91D3-847E6E81E44C}"/>
              </a:ext>
            </a:extLst>
          </p:cNvPr>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1976155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txEl>
                                              <p:pRg st="2" end="2"/>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
                                            <p:txEl>
                                              <p:pRg st="3" end="3"/>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
                                            <p:txEl>
                                              <p:pRg st="4" end="4"/>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
                                            <p:txEl>
                                              <p:pRg st="5" end="5"/>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
                                            <p:txEl>
                                              <p:pRg st="6" end="6"/>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5A3F7-7466-4C5F-B3CC-444F3CC299A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Describe what’s happening here?</a:t>
            </a:r>
          </a:p>
        </p:txBody>
      </p:sp>
      <p:sp>
        <p:nvSpPr>
          <p:cNvPr id="7" name="Content Placeholder 6">
            <a:extLst>
              <a:ext uri="{FF2B5EF4-FFF2-40B4-BE49-F238E27FC236}">
                <a16:creationId xmlns:a16="http://schemas.microsoft.com/office/drawing/2014/main" id="{67AFD052-8F96-4AB3-BE7C-A6B824EA6FE5}"/>
              </a:ext>
            </a:extLst>
          </p:cNvPr>
          <p:cNvSpPr>
            <a:spLocks noGrp="1"/>
          </p:cNvSpPr>
          <p:nvPr>
            <p:ph sz="half" idx="1"/>
          </p:nvPr>
        </p:nvSpPr>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Count ← 0</a:t>
            </a:r>
          </a:p>
          <a:p>
            <a:pPr marL="0" indent="0">
              <a:buNone/>
            </a:pPr>
            <a:r>
              <a:rPr lang="en-US" sz="2000" dirty="0">
                <a:latin typeface="Times New Roman" panose="02020603050405020304" pitchFamily="18" charset="0"/>
                <a:cs typeface="Times New Roman" panose="02020603050405020304" pitchFamily="18" charset="0"/>
              </a:rPr>
              <a:t>REPEAT </a:t>
            </a:r>
          </a:p>
          <a:p>
            <a:pPr marL="0" indent="0">
              <a:buNone/>
            </a:pPr>
            <a:r>
              <a:rPr lang="en-US" sz="2000" dirty="0">
                <a:latin typeface="Times New Roman" panose="02020603050405020304" pitchFamily="18" charset="0"/>
                <a:cs typeface="Times New Roman" panose="02020603050405020304" pitchFamily="18" charset="0"/>
              </a:rPr>
              <a:t>    INPUT Score[Count]</a:t>
            </a:r>
          </a:p>
          <a:p>
            <a:pPr marL="0" indent="0">
              <a:buNone/>
            </a:pPr>
            <a:r>
              <a:rPr lang="en-US" sz="2000" dirty="0">
                <a:latin typeface="Times New Roman" panose="02020603050405020304" pitchFamily="18" charset="0"/>
                <a:cs typeface="Times New Roman" panose="02020603050405020304" pitchFamily="18" charset="0"/>
              </a:rPr>
              <a:t>     IF Score[Count] &gt;= 70 THEN</a:t>
            </a:r>
          </a:p>
          <a:p>
            <a:pPr marL="0" indent="0">
              <a:buNone/>
            </a:pPr>
            <a:r>
              <a:rPr lang="en-US" sz="2000" dirty="0">
                <a:latin typeface="Times New Roman" panose="02020603050405020304" pitchFamily="18" charset="0"/>
                <a:cs typeface="Times New Roman" panose="02020603050405020304" pitchFamily="18" charset="0"/>
              </a:rPr>
              <a:t>        Grade[Count] ← "A"</a:t>
            </a:r>
          </a:p>
          <a:p>
            <a:pPr marL="0" indent="0">
              <a:buNone/>
            </a:pPr>
            <a:r>
              <a:rPr lang="en-US" sz="2000" dirty="0">
                <a:latin typeface="Times New Roman" panose="02020603050405020304" pitchFamily="18" charset="0"/>
                <a:cs typeface="Times New Roman" panose="02020603050405020304" pitchFamily="18" charset="0"/>
              </a:rPr>
              <a:t>    ELSE</a:t>
            </a:r>
          </a:p>
          <a:p>
            <a:pPr marL="0" indent="0">
              <a:buNone/>
            </a:pPr>
            <a:r>
              <a:rPr lang="en-US" sz="2000" dirty="0">
                <a:latin typeface="Times New Roman" panose="02020603050405020304" pitchFamily="18" charset="0"/>
                <a:cs typeface="Times New Roman" panose="02020603050405020304" pitchFamily="18" charset="0"/>
              </a:rPr>
              <a:t>        IF Score[Count] &gt;= 60 THEN</a:t>
            </a:r>
          </a:p>
          <a:p>
            <a:pPr marL="0" indent="0">
              <a:buNone/>
            </a:pPr>
            <a:r>
              <a:rPr lang="en-US" sz="2000" dirty="0">
                <a:latin typeface="Times New Roman" panose="02020603050405020304" pitchFamily="18" charset="0"/>
                <a:cs typeface="Times New Roman" panose="02020603050405020304" pitchFamily="18" charset="0"/>
              </a:rPr>
              <a:t>            Grade[Count] ← "B"</a:t>
            </a:r>
          </a:p>
          <a:p>
            <a:pPr marL="0" indent="0">
              <a:buNone/>
            </a:pPr>
            <a:r>
              <a:rPr lang="en-US" sz="2000" dirty="0">
                <a:latin typeface="Times New Roman" panose="02020603050405020304" pitchFamily="18" charset="0"/>
                <a:cs typeface="Times New Roman" panose="02020603050405020304" pitchFamily="18" charset="0"/>
              </a:rPr>
              <a:t>        ELSE</a:t>
            </a:r>
          </a:p>
          <a:p>
            <a:pPr marL="0" indent="0">
              <a:buNone/>
            </a:pPr>
            <a:r>
              <a:rPr lang="en-US" sz="2000" dirty="0">
                <a:latin typeface="Times New Roman" panose="02020603050405020304" pitchFamily="18" charset="0"/>
                <a:cs typeface="Times New Roman" panose="02020603050405020304" pitchFamily="18" charset="0"/>
              </a:rPr>
              <a:t>            IF Score[Count] &gt;= 50 THEN</a:t>
            </a:r>
          </a:p>
          <a:p>
            <a:pPr marL="0" indent="0">
              <a:buNone/>
            </a:pPr>
            <a:r>
              <a:rPr lang="en-US" sz="2000" dirty="0">
                <a:latin typeface="Times New Roman" panose="02020603050405020304" pitchFamily="18" charset="0"/>
                <a:cs typeface="Times New Roman" panose="02020603050405020304" pitchFamily="18" charset="0"/>
              </a:rPr>
              <a:t>                Grade[Count] ← "C"</a:t>
            </a:r>
          </a:p>
          <a:p>
            <a:pPr marL="0" indent="0">
              <a:buNone/>
            </a:pPr>
            <a:r>
              <a:rPr lang="en-US" sz="2000" dirty="0">
                <a:latin typeface="Times New Roman" panose="02020603050405020304" pitchFamily="18" charset="0"/>
                <a:cs typeface="Times New Roman" panose="02020603050405020304" pitchFamily="18" charset="0"/>
              </a:rPr>
              <a:t>            ELSE</a:t>
            </a:r>
          </a:p>
          <a:p>
            <a:pPr marL="0" indent="0">
              <a:buNone/>
            </a:pPr>
            <a:r>
              <a:rPr lang="en-US" sz="2000" dirty="0">
                <a:latin typeface="Times New Roman" panose="02020603050405020304" pitchFamily="18" charset="0"/>
                <a:cs typeface="Times New Roman" panose="02020603050405020304" pitchFamily="18" charset="0"/>
              </a:rPr>
              <a:t>            F Score[Count] &gt;= 40 THEN</a:t>
            </a:r>
          </a:p>
          <a:p>
            <a:pPr marL="0" indent="0">
              <a:buNone/>
            </a:pPr>
            <a:r>
              <a:rPr lang="en-US" sz="2000" dirty="0">
                <a:latin typeface="Times New Roman" panose="02020603050405020304" pitchFamily="18" charset="0"/>
                <a:cs typeface="Times New Roman" panose="02020603050405020304" pitchFamily="18" charset="0"/>
              </a:rPr>
              <a:t>                    Grade[Count] ← "D"</a:t>
            </a: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dirty="0">
                <a:latin typeface="Times New Roman" panose="02020603050405020304" pitchFamily="18" charset="0"/>
                <a:cs typeface="Times New Roman" panose="02020603050405020304" pitchFamily="18" charset="0"/>
              </a:rPr>
              <a:t>                </a:t>
            </a:r>
          </a:p>
        </p:txBody>
      </p:sp>
      <p:sp>
        <p:nvSpPr>
          <p:cNvPr id="8" name="Content Placeholder 7">
            <a:extLst>
              <a:ext uri="{FF2B5EF4-FFF2-40B4-BE49-F238E27FC236}">
                <a16:creationId xmlns:a16="http://schemas.microsoft.com/office/drawing/2014/main" id="{17C8CEA6-B3AE-42E8-8E44-385406CD2DA3}"/>
              </a:ext>
            </a:extLst>
          </p:cNvPr>
          <p:cNvSpPr>
            <a:spLocks noGrp="1"/>
          </p:cNvSpPr>
          <p:nvPr>
            <p:ph sz="half" idx="2"/>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ELSE</a:t>
            </a:r>
          </a:p>
          <a:p>
            <a:pPr marL="0" indent="0">
              <a:buNone/>
            </a:pPr>
            <a:r>
              <a:rPr lang="en-US" sz="2400" dirty="0">
                <a:latin typeface="Times New Roman" panose="02020603050405020304" pitchFamily="18" charset="0"/>
                <a:cs typeface="Times New Roman" panose="02020603050405020304" pitchFamily="18" charset="0"/>
              </a:rPr>
              <a:t>                    IF Score[Count] &gt;= 30 THEN</a:t>
            </a:r>
          </a:p>
          <a:p>
            <a:pPr marL="0" indent="0">
              <a:buNone/>
            </a:pPr>
            <a:r>
              <a:rPr lang="en-US" sz="2400" dirty="0">
                <a:latin typeface="Times New Roman" panose="02020603050405020304" pitchFamily="18" charset="0"/>
                <a:cs typeface="Times New Roman" panose="02020603050405020304" pitchFamily="18" charset="0"/>
              </a:rPr>
              <a:t>                        Grade[Count] ← "E"</a:t>
            </a:r>
          </a:p>
          <a:p>
            <a:pPr marL="0" indent="0">
              <a:buNone/>
            </a:pPr>
            <a:r>
              <a:rPr lang="en-US" sz="2400" dirty="0">
                <a:latin typeface="Times New Roman" panose="02020603050405020304" pitchFamily="18" charset="0"/>
                <a:cs typeface="Times New Roman" panose="02020603050405020304" pitchFamily="18" charset="0"/>
              </a:rPr>
              <a:t>                    ELSE</a:t>
            </a:r>
          </a:p>
          <a:p>
            <a:pPr marL="0" indent="0">
              <a:buNone/>
            </a:pPr>
            <a:r>
              <a:rPr lang="en-US" sz="2400" dirty="0">
                <a:latin typeface="Times New Roman" panose="02020603050405020304" pitchFamily="18" charset="0"/>
                <a:cs typeface="Times New Roman" panose="02020603050405020304" pitchFamily="18" charset="0"/>
              </a:rPr>
              <a:t>                        Grade[Count] ← "F"</a:t>
            </a:r>
          </a:p>
          <a:p>
            <a:pPr marL="0" indent="0">
              <a:buNone/>
            </a:pPr>
            <a:r>
              <a:rPr lang="en-US" sz="2400" dirty="0">
                <a:latin typeface="Times New Roman" panose="02020603050405020304" pitchFamily="18" charset="0"/>
                <a:cs typeface="Times New Roman" panose="02020603050405020304" pitchFamily="18" charset="0"/>
              </a:rPr>
              <a:t>                    ENDIF</a:t>
            </a:r>
          </a:p>
          <a:p>
            <a:pPr marL="0" indent="0">
              <a:buNone/>
            </a:pPr>
            <a:r>
              <a:rPr lang="en-US" sz="2400" dirty="0">
                <a:latin typeface="Times New Roman" panose="02020603050405020304" pitchFamily="18" charset="0"/>
                <a:cs typeface="Times New Roman" panose="02020603050405020304" pitchFamily="18" charset="0"/>
              </a:rPr>
              <a:t>                ENDIF</a:t>
            </a:r>
          </a:p>
          <a:p>
            <a:pPr marL="0" indent="0">
              <a:buNone/>
            </a:pPr>
            <a:r>
              <a:rPr lang="en-US" sz="2400" dirty="0">
                <a:latin typeface="Times New Roman" panose="02020603050405020304" pitchFamily="18" charset="0"/>
                <a:cs typeface="Times New Roman" panose="02020603050405020304" pitchFamily="18" charset="0"/>
              </a:rPr>
              <a:t>            ENDIF</a:t>
            </a:r>
          </a:p>
          <a:p>
            <a:pPr marL="0" indent="0">
              <a:buNone/>
            </a:pPr>
            <a:r>
              <a:rPr lang="en-US" sz="2400" dirty="0">
                <a:latin typeface="Times New Roman" panose="02020603050405020304" pitchFamily="18" charset="0"/>
                <a:cs typeface="Times New Roman" panose="02020603050405020304" pitchFamily="18" charset="0"/>
              </a:rPr>
              <a:t>        ENDIF</a:t>
            </a:r>
          </a:p>
          <a:p>
            <a:pPr marL="0" indent="0">
              <a:buNone/>
            </a:pPr>
            <a:r>
              <a:rPr lang="en-US" sz="2400" dirty="0">
                <a:latin typeface="Times New Roman" panose="02020603050405020304" pitchFamily="18" charset="0"/>
                <a:cs typeface="Times New Roman" panose="02020603050405020304" pitchFamily="18" charset="0"/>
              </a:rPr>
              <a:t>    ENDIF</a:t>
            </a:r>
          </a:p>
          <a:p>
            <a:pPr marL="0" indent="0">
              <a:buNone/>
            </a:pPr>
            <a:r>
              <a:rPr lang="en-US" sz="2400" dirty="0">
                <a:latin typeface="Times New Roman" panose="02020603050405020304" pitchFamily="18" charset="0"/>
                <a:cs typeface="Times New Roman" panose="02020603050405020304" pitchFamily="18" charset="0"/>
              </a:rPr>
              <a:t>    Count ← Count + 1</a:t>
            </a:r>
          </a:p>
          <a:p>
            <a:pPr marL="0" indent="0">
              <a:buNone/>
            </a:pPr>
            <a:r>
              <a:rPr lang="en-US" sz="2400" dirty="0">
                <a:latin typeface="Times New Roman" panose="02020603050405020304" pitchFamily="18" charset="0"/>
                <a:cs typeface="Times New Roman" panose="02020603050405020304" pitchFamily="18" charset="0"/>
              </a:rPr>
              <a:t>UNTIL Count = 30</a:t>
            </a:r>
          </a:p>
          <a:p>
            <a:endParaRPr lang="en-US" dirty="0"/>
          </a:p>
        </p:txBody>
      </p:sp>
      <p:sp>
        <p:nvSpPr>
          <p:cNvPr id="5" name="Footer Placeholder 4">
            <a:extLst>
              <a:ext uri="{FF2B5EF4-FFF2-40B4-BE49-F238E27FC236}">
                <a16:creationId xmlns:a16="http://schemas.microsoft.com/office/drawing/2014/main" id="{04A20D21-DD83-42DC-90FF-05B9D7788E2C}"/>
              </a:ext>
            </a:extLst>
          </p:cNvPr>
          <p:cNvSpPr>
            <a:spLocks noGrp="1"/>
          </p:cNvSpPr>
          <p:nvPr>
            <p:ph type="ftr" sz="quarter" idx="11"/>
          </p:nvPr>
        </p:nvSpPr>
        <p:spPr/>
        <p:txBody>
          <a:bodyPr/>
          <a:lstStyle/>
          <a:p>
            <a:r>
              <a:rPr lang="en-US" dirty="0"/>
              <a:t>Applications of ICT</a:t>
            </a:r>
          </a:p>
        </p:txBody>
      </p:sp>
      <p:sp>
        <p:nvSpPr>
          <p:cNvPr id="6" name="Slide Number Placeholder 5">
            <a:extLst>
              <a:ext uri="{FF2B5EF4-FFF2-40B4-BE49-F238E27FC236}">
                <a16:creationId xmlns:a16="http://schemas.microsoft.com/office/drawing/2014/main" id="{14399A1D-F95F-441F-8B69-EF8B83D7B4A2}"/>
              </a:ext>
            </a:extLst>
          </p:cNvPr>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12246194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chemeClr val="tx2"/>
                </a:solidFill>
                <a:latin typeface="Times New Roman" panose="02020603050405020304" pitchFamily="18" charset="0"/>
                <a:cs typeface="Times New Roman" panose="02020603050405020304" pitchFamily="18" charset="0"/>
              </a:rPr>
              <a:t>Problem Solving &amp; Computational Thinking: Summary</a:t>
            </a: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Write it down(in your own words); </a:t>
            </a:r>
            <a:r>
              <a:rPr lang="en-US" dirty="0">
                <a:solidFill>
                  <a:schemeClr val="tx2"/>
                </a:solidFill>
                <a:latin typeface="Times New Roman" panose="02020603050405020304" pitchFamily="18" charset="0"/>
                <a:cs typeface="Times New Roman" panose="02020603050405020304" pitchFamily="18" charset="0"/>
              </a:rPr>
              <a:t>Investigate</a:t>
            </a:r>
          </a:p>
          <a:p>
            <a:r>
              <a:rPr lang="en-US" dirty="0">
                <a:latin typeface="Times New Roman" panose="02020603050405020304" pitchFamily="18" charset="0"/>
                <a:cs typeface="Times New Roman" panose="02020603050405020304" pitchFamily="18" charset="0"/>
              </a:rPr>
              <a:t>Split it in sub-problems</a:t>
            </a:r>
          </a:p>
          <a:p>
            <a:r>
              <a:rPr lang="en-US" dirty="0">
                <a:latin typeface="Times New Roman" panose="02020603050405020304" pitchFamily="18" charset="0"/>
                <a:cs typeface="Times New Roman" panose="02020603050405020304" pitchFamily="18" charset="0"/>
              </a:rPr>
              <a:t>Identify the problems that are </a:t>
            </a:r>
            <a:r>
              <a:rPr lang="en-US" dirty="0">
                <a:solidFill>
                  <a:schemeClr val="tx2"/>
                </a:solidFill>
                <a:latin typeface="Times New Roman" panose="02020603050405020304" pitchFamily="18" charset="0"/>
                <a:cs typeface="Times New Roman" panose="02020603050405020304" pitchFamily="18" charset="0"/>
              </a:rPr>
              <a:t>familiar </a:t>
            </a:r>
            <a:r>
              <a:rPr lang="en-US" dirty="0">
                <a:latin typeface="Times New Roman" panose="02020603050405020304" pitchFamily="18" charset="0"/>
                <a:cs typeface="Times New Roman" panose="02020603050405020304" pitchFamily="18" charset="0"/>
              </a:rPr>
              <a:t>&amp; </a:t>
            </a:r>
            <a:r>
              <a:rPr lang="en-US" dirty="0">
                <a:solidFill>
                  <a:schemeClr val="tx2"/>
                </a:solidFill>
                <a:latin typeface="Times New Roman" panose="02020603050405020304" pitchFamily="18" charset="0"/>
                <a:cs typeface="Times New Roman" panose="02020603050405020304" pitchFamily="18" charset="0"/>
              </a:rPr>
              <a:t>similar</a:t>
            </a:r>
          </a:p>
          <a:p>
            <a:r>
              <a:rPr lang="en-US" dirty="0">
                <a:solidFill>
                  <a:srgbClr val="00B050"/>
                </a:solidFill>
                <a:latin typeface="Times New Roman" panose="02020603050405020304" pitchFamily="18" charset="0"/>
                <a:cs typeface="Times New Roman" panose="02020603050405020304" pitchFamily="18" charset="0"/>
              </a:rPr>
              <a:t>Remove ambiguity</a:t>
            </a:r>
          </a:p>
          <a:p>
            <a:r>
              <a:rPr lang="en-US" dirty="0">
                <a:latin typeface="Times New Roman" panose="02020603050405020304" pitchFamily="18" charset="0"/>
                <a:cs typeface="Times New Roman" panose="02020603050405020304" pitchFamily="18" charset="0"/>
              </a:rPr>
              <a:t>Identify the starting and ending states; </a:t>
            </a:r>
            <a:r>
              <a:rPr lang="en-US" dirty="0">
                <a:solidFill>
                  <a:schemeClr val="tx2"/>
                </a:solidFill>
                <a:latin typeface="Times New Roman" panose="02020603050405020304" pitchFamily="18" charset="0"/>
                <a:cs typeface="Times New Roman" panose="02020603050405020304" pitchFamily="18" charset="0"/>
              </a:rPr>
              <a:t>means-end analysis</a:t>
            </a:r>
          </a:p>
          <a:p>
            <a:r>
              <a:rPr lang="en-US" dirty="0">
                <a:latin typeface="Times New Roman" panose="02020603050405020304" pitchFamily="18" charset="0"/>
                <a:cs typeface="Times New Roman" panose="02020603050405020304" pitchFamily="18" charset="0"/>
              </a:rPr>
              <a:t>Split the problem; </a:t>
            </a:r>
            <a:r>
              <a:rPr lang="en-US" dirty="0">
                <a:solidFill>
                  <a:schemeClr val="tx2"/>
                </a:solidFill>
                <a:latin typeface="Times New Roman" panose="02020603050405020304" pitchFamily="18" charset="0"/>
                <a:cs typeface="Times New Roman" panose="02020603050405020304" pitchFamily="18" charset="0"/>
              </a:rPr>
              <a:t>divide &amp; conquer</a:t>
            </a:r>
          </a:p>
          <a:p>
            <a:r>
              <a:rPr lang="en-US" dirty="0">
                <a:latin typeface="Times New Roman" panose="02020603050405020304" pitchFamily="18" charset="0"/>
                <a:cs typeface="Times New Roman" panose="02020603050405020304" pitchFamily="18" charset="0"/>
              </a:rPr>
              <a:t>Build solution; Building </a:t>
            </a:r>
            <a:r>
              <a:rPr lang="en-US" dirty="0">
                <a:solidFill>
                  <a:schemeClr val="tx2"/>
                </a:solidFill>
                <a:latin typeface="Times New Roman" panose="02020603050405020304" pitchFamily="18" charset="0"/>
                <a:cs typeface="Times New Roman" panose="02020603050405020304" pitchFamily="18" charset="0"/>
              </a:rPr>
              <a:t>blocks</a:t>
            </a:r>
            <a:r>
              <a:rPr lang="en-US" dirty="0">
                <a:latin typeface="Times New Roman" panose="02020603050405020304" pitchFamily="18" charset="0"/>
                <a:cs typeface="Times New Roman" panose="02020603050405020304" pitchFamily="18" charset="0"/>
              </a:rPr>
              <a:t> or </a:t>
            </a:r>
            <a:r>
              <a:rPr lang="en-US" dirty="0">
                <a:solidFill>
                  <a:schemeClr val="tx2"/>
                </a:solidFill>
                <a:latin typeface="Times New Roman" panose="02020603050405020304" pitchFamily="18" charset="0"/>
                <a:cs typeface="Times New Roman" panose="02020603050405020304" pitchFamily="18" charset="0"/>
              </a:rPr>
              <a:t>Merge</a:t>
            </a:r>
            <a:r>
              <a:rPr lang="en-US" dirty="0">
                <a:latin typeface="Times New Roman" panose="02020603050405020304" pitchFamily="18" charset="0"/>
                <a:cs typeface="Times New Roman" panose="02020603050405020304" pitchFamily="18" charset="0"/>
              </a:rPr>
              <a:t> Solutions</a:t>
            </a:r>
          </a:p>
          <a:p>
            <a:pPr lvl="2"/>
            <a:endParaRPr lang="en-US" dirty="0">
              <a:latin typeface="Times New Roman" panose="02020603050405020304" pitchFamily="18" charset="0"/>
              <a:cs typeface="Times New Roman" panose="02020603050405020304" pitchFamily="18" charset="0"/>
            </a:endParaRPr>
          </a:p>
          <a:p>
            <a:pPr lvl="1"/>
            <a:endParaRPr lang="en-US" dirty="0">
              <a:latin typeface="Times New Roman" panose="02020603050405020304" pitchFamily="18" charset="0"/>
              <a:cs typeface="Times New Roman" panose="02020603050405020304" pitchFamily="18" charset="0"/>
            </a:endParaRPr>
          </a:p>
          <a:p>
            <a:pPr lvl="1"/>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Example</a:t>
            </a:r>
          </a:p>
        </p:txBody>
      </p:sp>
      <p:sp>
        <p:nvSpPr>
          <p:cNvPr id="3" name="Content Placeholder 2"/>
          <p:cNvSpPr>
            <a:spLocks noGrp="1"/>
          </p:cNvSpPr>
          <p:nvPr>
            <p:ph idx="1"/>
          </p:nvPr>
        </p:nvSpPr>
        <p:spPr/>
        <p:txBody>
          <a:bodyPr>
            <a:normAutofit fontScale="92500" lnSpcReduction="20000"/>
          </a:bodyPr>
          <a:lstStyle/>
          <a:p>
            <a:r>
              <a:rPr lang="en-US" sz="3000" dirty="0">
                <a:latin typeface="Times New Roman" panose="02020603050405020304" pitchFamily="18" charset="0"/>
                <a:cs typeface="Times New Roman" panose="02020603050405020304" pitchFamily="18" charset="0"/>
              </a:rPr>
              <a:t>“</a:t>
            </a:r>
            <a:r>
              <a:rPr lang="en-US" sz="3000" b="1" i="1" dirty="0">
                <a:latin typeface="Times New Roman" panose="02020603050405020304" pitchFamily="18" charset="0"/>
                <a:cs typeface="Times New Roman" panose="02020603050405020304" pitchFamily="18" charset="0"/>
              </a:rPr>
              <a:t>compute the average of a list of values</a:t>
            </a:r>
            <a:r>
              <a:rPr lang="en-US" sz="3000" dirty="0">
                <a:latin typeface="Times New Roman" panose="02020603050405020304" pitchFamily="18" charset="0"/>
                <a:cs typeface="Times New Roman" panose="02020603050405020304" pitchFamily="18" charset="0"/>
              </a:rPr>
              <a:t>”</a:t>
            </a:r>
          </a:p>
          <a:p>
            <a:pPr marL="0" indent="0">
              <a:buNone/>
            </a:pPr>
            <a:endParaRPr lang="en-US" sz="3000" dirty="0">
              <a:latin typeface="Times New Roman" panose="02020603050405020304" pitchFamily="18" charset="0"/>
              <a:cs typeface="Times New Roman" panose="02020603050405020304" pitchFamily="18" charset="0"/>
            </a:endParaRPr>
          </a:p>
          <a:p>
            <a:pPr lvl="1"/>
            <a:r>
              <a:rPr lang="en-US" sz="2600" dirty="0">
                <a:latin typeface="Times New Roman" panose="02020603050405020304" pitchFamily="18" charset="0"/>
                <a:cs typeface="Times New Roman" panose="02020603050405020304" pitchFamily="18" charset="0"/>
              </a:rPr>
              <a:t>Calculate the sum of values + Count the values + Calculate Average</a:t>
            </a:r>
          </a:p>
          <a:p>
            <a:pPr lvl="1"/>
            <a:endParaRPr lang="en-US" sz="2600" dirty="0">
              <a:latin typeface="Times New Roman" panose="02020603050405020304" pitchFamily="18" charset="0"/>
              <a:cs typeface="Times New Roman" panose="02020603050405020304" pitchFamily="18" charset="0"/>
            </a:endParaRPr>
          </a:p>
          <a:p>
            <a:pPr lvl="1"/>
            <a:r>
              <a:rPr lang="en-US" sz="2600" dirty="0">
                <a:latin typeface="Times New Roman" panose="02020603050405020304" pitchFamily="18" charset="0"/>
                <a:cs typeface="Times New Roman" panose="02020603050405020304" pitchFamily="18" charset="0"/>
              </a:rPr>
              <a:t>If we already have separate solutions for summing values and for counting the number of values, we can combine them.</a:t>
            </a:r>
          </a:p>
          <a:p>
            <a:pPr lvl="1"/>
            <a:endParaRPr lang="en-US" sz="2600" dirty="0">
              <a:latin typeface="Times New Roman" panose="02020603050405020304" pitchFamily="18" charset="0"/>
              <a:cs typeface="Times New Roman" panose="02020603050405020304" pitchFamily="18" charset="0"/>
            </a:endParaRPr>
          </a:p>
          <a:p>
            <a:pPr lvl="1"/>
            <a:r>
              <a:rPr lang="en-US" sz="2600" dirty="0">
                <a:latin typeface="Times New Roman" panose="02020603050405020304" pitchFamily="18" charset="0"/>
                <a:cs typeface="Times New Roman" panose="02020603050405020304" pitchFamily="18" charset="0"/>
              </a:rPr>
              <a:t>if we first do the summing and then do the counting, we have to read the list twice.</a:t>
            </a:r>
          </a:p>
          <a:p>
            <a:pPr lvl="1"/>
            <a:endParaRPr lang="en-US" sz="2600" dirty="0">
              <a:latin typeface="Times New Roman" panose="02020603050405020304" pitchFamily="18" charset="0"/>
              <a:cs typeface="Times New Roman" panose="02020603050405020304" pitchFamily="18" charset="0"/>
            </a:endParaRPr>
          </a:p>
          <a:p>
            <a:pPr lvl="1"/>
            <a:r>
              <a:rPr lang="en-US" sz="2600" dirty="0">
                <a:latin typeface="Times New Roman" panose="02020603050405020304" pitchFamily="18" charset="0"/>
                <a:cs typeface="Times New Roman" panose="02020603050405020304" pitchFamily="18" charset="0"/>
              </a:rPr>
              <a:t>We can save steps if we merge these two solutions: read a value and then add it to the running total and add 1 to our count before going on to the next value.</a:t>
            </a:r>
          </a:p>
          <a:p>
            <a:pPr lvl="1"/>
            <a:endParaRPr lang="en-US" sz="2600" dirty="0">
              <a:latin typeface="Times New Roman" panose="02020603050405020304" pitchFamily="18" charset="0"/>
              <a:cs typeface="Times New Roman" panose="02020603050405020304" pitchFamily="18" charset="0"/>
            </a:endParaRPr>
          </a:p>
          <a:p>
            <a:pPr lvl="1"/>
            <a:r>
              <a:rPr lang="en-US" sz="2600" dirty="0">
                <a:latin typeface="Times New Roman" panose="02020603050405020304" pitchFamily="18" charset="0"/>
                <a:cs typeface="Times New Roman" panose="02020603050405020304" pitchFamily="18" charset="0"/>
              </a:rPr>
              <a:t>Calculate Average</a:t>
            </a:r>
          </a:p>
          <a:p>
            <a:pPr lvl="1"/>
            <a:endParaRPr lang="en-US" sz="2600" dirty="0">
              <a:latin typeface="Times New Roman" panose="02020603050405020304" pitchFamily="18" charset="0"/>
              <a:cs typeface="Times New Roman" panose="02020603050405020304" pitchFamily="18" charset="0"/>
            </a:endParaRPr>
          </a:p>
          <a:p>
            <a:pPr algn="ctr">
              <a:buNone/>
            </a:pPr>
            <a:r>
              <a:rPr lang="en-US" sz="3000" b="1" i="1" dirty="0">
                <a:latin typeface="Times New Roman" panose="02020603050405020304" pitchFamily="18" charset="0"/>
                <a:cs typeface="Times New Roman" panose="02020603050405020304" pitchFamily="18" charset="0"/>
              </a:rPr>
              <a:t>“</a:t>
            </a:r>
            <a:r>
              <a:rPr lang="en-US" sz="3000" b="1" i="1" dirty="0">
                <a:solidFill>
                  <a:srgbClr val="00B050"/>
                </a:solidFill>
                <a:latin typeface="Times New Roman" panose="02020603050405020304" pitchFamily="18" charset="0"/>
                <a:cs typeface="Times New Roman" panose="02020603050405020304" pitchFamily="18" charset="0"/>
              </a:rPr>
              <a:t>Whenever the solutions to sub-problems duplicate steps, think about merging them instead of joining them end to end</a:t>
            </a:r>
            <a:r>
              <a:rPr lang="en-US" sz="3000" b="1" i="1" dirty="0">
                <a:latin typeface="Times New Roman" panose="02020603050405020304" pitchFamily="18" charset="0"/>
                <a:cs typeface="Times New Roman" panose="02020603050405020304" pitchFamily="18" charset="0"/>
              </a:rPr>
              <a: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mcmillan</a:t>
            </a:r>
            <a:r>
              <a:rPr lang="en-US" sz="3000" dirty="0">
                <a:latin typeface="Times New Roman" panose="02020603050405020304" pitchFamily="18" charset="0"/>
                <a:cs typeface="Times New Roman" panose="02020603050405020304" pitchFamily="18" charset="0"/>
              </a:rPr>
              <a:t>)</a:t>
            </a:r>
            <a:endParaRPr lang="en-US" sz="3000" b="1" i="1"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lvl="2"/>
            <a:endParaRPr lang="en-US" dirty="0">
              <a:latin typeface="Times New Roman" panose="02020603050405020304" pitchFamily="18" charset="0"/>
              <a:cs typeface="Times New Roman" panose="02020603050405020304" pitchFamily="18" charset="0"/>
            </a:endParaRPr>
          </a:p>
          <a:p>
            <a:pPr lvl="2"/>
            <a:endParaRPr lang="en-US" dirty="0">
              <a:latin typeface="Times New Roman" panose="02020603050405020304" pitchFamily="18" charset="0"/>
              <a:cs typeface="Times New Roman" panose="02020603050405020304" pitchFamily="18" charset="0"/>
            </a:endParaRPr>
          </a:p>
          <a:p>
            <a:pPr lvl="1"/>
            <a:endParaRPr lang="en-US" dirty="0">
              <a:latin typeface="Times New Roman" panose="02020603050405020304" pitchFamily="18" charset="0"/>
              <a:cs typeface="Times New Roman" panose="02020603050405020304" pitchFamily="18" charset="0"/>
            </a:endParaRPr>
          </a:p>
          <a:p>
            <a:pPr lvl="1"/>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812BD-9598-44BD-BFE8-74DFF0F4C7E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Examples</a:t>
            </a:r>
          </a:p>
        </p:txBody>
      </p:sp>
      <p:sp>
        <p:nvSpPr>
          <p:cNvPr id="3" name="Content Placeholder 2">
            <a:extLst>
              <a:ext uri="{FF2B5EF4-FFF2-40B4-BE49-F238E27FC236}">
                <a16:creationId xmlns:a16="http://schemas.microsoft.com/office/drawing/2014/main" id="{B97714C9-BD60-4A88-A7EA-40F964144D4D}"/>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Organizing a city’s recycling program to maximize efficiency. How can you ensure the most effective collection routes and times?</a:t>
            </a:r>
          </a:p>
          <a:p>
            <a:pPr lvl="1"/>
            <a:r>
              <a:rPr lang="en-US" dirty="0">
                <a:latin typeface="Times New Roman" panose="02020603050405020304" pitchFamily="18" charset="0"/>
                <a:cs typeface="Times New Roman" panose="02020603050405020304" pitchFamily="18" charset="0"/>
              </a:rPr>
              <a:t>Solution: Use a route optimization algorithm to analyze and plan the most efficient paths for collection trucks, considering factors like distance and traffic patterns.</a:t>
            </a:r>
          </a:p>
          <a:p>
            <a:r>
              <a:rPr lang="en-US" dirty="0">
                <a:latin typeface="Times New Roman" panose="02020603050405020304" pitchFamily="18" charset="0"/>
                <a:cs typeface="Times New Roman" panose="02020603050405020304" pitchFamily="18" charset="0"/>
              </a:rPr>
              <a:t>Planning the layout of a community garden to optimize space and sunlight exposure for different plant types. How do you decide where to plant each type of vegetable or flower?</a:t>
            </a:r>
          </a:p>
          <a:p>
            <a:pPr lvl="1"/>
            <a:r>
              <a:rPr lang="en-US" dirty="0">
                <a:latin typeface="Times New Roman" panose="02020603050405020304" pitchFamily="18" charset="0"/>
                <a:cs typeface="Times New Roman" panose="02020603050405020304" pitchFamily="18" charset="0"/>
              </a:rPr>
              <a:t>Solution: Employ a simulation algorithm that models sunlight patterns, plant growth rates, and space requirements to design a garden layout that maximizes space and plant health.</a:t>
            </a:r>
          </a:p>
        </p:txBody>
      </p:sp>
      <p:sp>
        <p:nvSpPr>
          <p:cNvPr id="4" name="Footer Placeholder 3">
            <a:extLst>
              <a:ext uri="{FF2B5EF4-FFF2-40B4-BE49-F238E27FC236}">
                <a16:creationId xmlns:a16="http://schemas.microsoft.com/office/drawing/2014/main" id="{B05744EC-44C7-4E8F-8E0B-89DA584C82D6}"/>
              </a:ext>
            </a:extLst>
          </p:cNvPr>
          <p:cNvSpPr>
            <a:spLocks noGrp="1"/>
          </p:cNvSpPr>
          <p:nvPr>
            <p:ph type="ftr" sz="quarter" idx="11"/>
          </p:nvPr>
        </p:nvSpPr>
        <p:spPr/>
        <p:txBody>
          <a:bodyPr/>
          <a:lstStyle/>
          <a:p>
            <a:r>
              <a:rPr lang="en-US"/>
              <a:t>Applications of ICT</a:t>
            </a:r>
            <a:endParaRPr lang="en-US" dirty="0"/>
          </a:p>
        </p:txBody>
      </p:sp>
      <p:sp>
        <p:nvSpPr>
          <p:cNvPr id="5" name="Slide Number Placeholder 4">
            <a:extLst>
              <a:ext uri="{FF2B5EF4-FFF2-40B4-BE49-F238E27FC236}">
                <a16:creationId xmlns:a16="http://schemas.microsoft.com/office/drawing/2014/main" id="{EF745EE6-4330-413C-99D1-C781470A48E6}"/>
              </a:ext>
            </a:extLst>
          </p:cNvPr>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1349695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4C585-6228-4646-9E39-64C59349A70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Try it on C++</a:t>
            </a:r>
          </a:p>
        </p:txBody>
      </p:sp>
      <p:sp>
        <p:nvSpPr>
          <p:cNvPr id="3" name="Content Placeholder 2">
            <a:extLst>
              <a:ext uri="{FF2B5EF4-FFF2-40B4-BE49-F238E27FC236}">
                <a16:creationId xmlns:a16="http://schemas.microsoft.com/office/drawing/2014/main" id="{E7C6B0A8-8A86-485D-B72E-1B619EE182C6}"/>
              </a:ext>
            </a:extLst>
          </p:cNvPr>
          <p:cNvSpPr>
            <a:spLocks noGrp="1"/>
          </p:cNvSpPr>
          <p:nvPr>
            <p:ph idx="1"/>
          </p:nvPr>
        </p:nvSpPr>
        <p:spPr>
          <a:xfrm>
            <a:off x="251252" y="2017776"/>
            <a:ext cx="11689495" cy="2949326"/>
          </a:xfrm>
        </p:spPr>
        <p:txBody>
          <a:bodyPr/>
          <a:lstStyle/>
          <a:p>
            <a:r>
              <a:rPr lang="en-US" dirty="0">
                <a:latin typeface="Times New Roman" panose="02020603050405020304" pitchFamily="18" charset="0"/>
                <a:cs typeface="Times New Roman" panose="02020603050405020304" pitchFamily="18" charset="0"/>
              </a:rPr>
              <a:t>Confirm (by experiments) that for a, b ≥ 0,</a:t>
            </a:r>
          </a:p>
          <a:p>
            <a:pPr marL="0" indent="0">
              <a:buNone/>
            </a:pPr>
            <a:r>
              <a:rPr lang="en-US" dirty="0">
                <a:latin typeface="Times New Roman" panose="02020603050405020304" pitchFamily="18" charset="0"/>
                <a:cs typeface="Times New Roman" panose="02020603050405020304" pitchFamily="18" charset="0"/>
              </a:rPr>
              <a:t>           AM = (</a:t>
            </a:r>
            <a:r>
              <a:rPr lang="en-US" dirty="0" err="1">
                <a:latin typeface="Times New Roman" panose="02020603050405020304" pitchFamily="18" charset="0"/>
                <a:cs typeface="Times New Roman" panose="02020603050405020304" pitchFamily="18" charset="0"/>
              </a:rPr>
              <a:t>a+b</a:t>
            </a:r>
            <a:r>
              <a:rPr lang="en-US" dirty="0">
                <a:latin typeface="Times New Roman" panose="02020603050405020304" pitchFamily="18" charset="0"/>
                <a:cs typeface="Times New Roman" panose="02020603050405020304" pitchFamily="18" charset="0"/>
              </a:rPr>
              <a:t>)/2 ≥ GM = √(ab), and reject invalid inputs.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AM = Arithmetic Mean</a:t>
            </a:r>
          </a:p>
          <a:p>
            <a:pPr marL="0" indent="0">
              <a:buNone/>
            </a:pPr>
            <a:r>
              <a:rPr lang="en-US" dirty="0">
                <a:latin typeface="Times New Roman" panose="02020603050405020304" pitchFamily="18" charset="0"/>
                <a:cs typeface="Times New Roman" panose="02020603050405020304" pitchFamily="18" charset="0"/>
              </a:rPr>
              <a:t>GM = Geometric Mean</a:t>
            </a:r>
          </a:p>
        </p:txBody>
      </p:sp>
      <p:sp>
        <p:nvSpPr>
          <p:cNvPr id="4" name="Footer Placeholder 3">
            <a:extLst>
              <a:ext uri="{FF2B5EF4-FFF2-40B4-BE49-F238E27FC236}">
                <a16:creationId xmlns:a16="http://schemas.microsoft.com/office/drawing/2014/main" id="{4FF600F8-D230-4E13-87DC-A7D978E5F99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lumMod val="50000"/>
                  </a:prstClr>
                </a:solidFill>
                <a:effectLst/>
                <a:uLnTx/>
                <a:uFillTx/>
                <a:latin typeface="Calibri" panose="020F0502020204030204"/>
                <a:ea typeface="+mn-ea"/>
                <a:cs typeface="+mn-cs"/>
              </a:rPr>
              <a:t>Applications of ICT</a:t>
            </a:r>
            <a:endParaRPr kumimoji="0" lang="en-US" sz="12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D9A8EF5B-2B86-43D0-80A7-9525D1208A7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79705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76F41-7826-4DF1-9AEC-C3302EE856E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Working out the Steps….</a:t>
            </a:r>
          </a:p>
        </p:txBody>
      </p:sp>
      <p:sp>
        <p:nvSpPr>
          <p:cNvPr id="3" name="Content Placeholder 2">
            <a:extLst>
              <a:ext uri="{FF2B5EF4-FFF2-40B4-BE49-F238E27FC236}">
                <a16:creationId xmlns:a16="http://schemas.microsoft.com/office/drawing/2014/main" id="{3C5E4949-B625-4DB3-938F-14C06CBFC393}"/>
              </a:ext>
            </a:extLst>
          </p:cNvPr>
          <p:cNvSpPr>
            <a:spLocks noGrp="1"/>
          </p:cNvSpPr>
          <p:nvPr>
            <p:ph idx="1"/>
          </p:nvPr>
        </p:nvSpPr>
        <p:spPr>
          <a:xfrm>
            <a:off x="301534" y="1676400"/>
            <a:ext cx="11588932" cy="3231653"/>
          </a:xfrm>
        </p:spPr>
        <p:txBody>
          <a:bodyPr/>
          <a:lstStyle/>
          <a:p>
            <a:r>
              <a:rPr lang="en-US" dirty="0">
                <a:latin typeface="Times New Roman" panose="02020603050405020304" pitchFamily="18" charset="0"/>
                <a:cs typeface="Times New Roman" panose="02020603050405020304" pitchFamily="18" charset="0"/>
              </a:rPr>
              <a:t>Read how many test pairs n.</a:t>
            </a:r>
          </a:p>
          <a:p>
            <a:r>
              <a:rPr lang="en-US" dirty="0">
                <a:latin typeface="Times New Roman" panose="02020603050405020304" pitchFamily="18" charset="0"/>
                <a:cs typeface="Times New Roman" panose="02020603050405020304" pitchFamily="18" charset="0"/>
              </a:rPr>
              <a:t>Loop n times: input a and b.</a:t>
            </a:r>
          </a:p>
          <a:p>
            <a:r>
              <a:rPr lang="en-US" dirty="0">
                <a:latin typeface="Times New Roman" panose="02020603050405020304" pitchFamily="18" charset="0"/>
                <a:cs typeface="Times New Roman" panose="02020603050405020304" pitchFamily="18" charset="0"/>
              </a:rPr>
              <a:t>If a&lt;0 || b&lt;0, then print “requires </a:t>
            </a:r>
            <a:r>
              <a:rPr lang="en-US" dirty="0" err="1">
                <a:latin typeface="Times New Roman" panose="02020603050405020304" pitchFamily="18" charset="0"/>
                <a:cs typeface="Times New Roman" panose="02020603050405020304" pitchFamily="18" charset="0"/>
              </a:rPr>
              <a:t>a,b</a:t>
            </a:r>
            <a:r>
              <a:rPr lang="en-US" dirty="0">
                <a:latin typeface="Times New Roman" panose="02020603050405020304" pitchFamily="18" charset="0"/>
                <a:cs typeface="Times New Roman" panose="02020603050405020304" pitchFamily="18" charset="0"/>
              </a:rPr>
              <a:t> ≥ 0” and skip.</a:t>
            </a:r>
          </a:p>
          <a:p>
            <a:r>
              <a:rPr lang="en-US" dirty="0">
                <a:latin typeface="Times New Roman" panose="02020603050405020304" pitchFamily="18" charset="0"/>
                <a:cs typeface="Times New Roman" panose="02020603050405020304" pitchFamily="18" charset="0"/>
              </a:rPr>
              <a:t>Compute AM=(</a:t>
            </a:r>
            <a:r>
              <a:rPr lang="en-US" dirty="0" err="1">
                <a:latin typeface="Times New Roman" panose="02020603050405020304" pitchFamily="18" charset="0"/>
                <a:cs typeface="Times New Roman" panose="02020603050405020304" pitchFamily="18" charset="0"/>
              </a:rPr>
              <a:t>a+b</a:t>
            </a:r>
            <a:r>
              <a:rPr lang="en-US" dirty="0">
                <a:latin typeface="Times New Roman" panose="02020603050405020304" pitchFamily="18" charset="0"/>
                <a:cs typeface="Times New Roman" panose="02020603050405020304" pitchFamily="18" charset="0"/>
              </a:rPr>
              <a:t>)/2, GM=sqrt(a*b).</a:t>
            </a:r>
          </a:p>
          <a:p>
            <a:r>
              <a:rPr lang="en-US" dirty="0">
                <a:latin typeface="Times New Roman" panose="02020603050405020304" pitchFamily="18" charset="0"/>
                <a:cs typeface="Times New Roman" panose="02020603050405020304" pitchFamily="18" charset="0"/>
              </a:rPr>
              <a:t>Print AM, GM, and whether AM &gt;= GM.</a:t>
            </a:r>
          </a:p>
        </p:txBody>
      </p:sp>
      <p:sp>
        <p:nvSpPr>
          <p:cNvPr id="4" name="Footer Placeholder 3">
            <a:extLst>
              <a:ext uri="{FF2B5EF4-FFF2-40B4-BE49-F238E27FC236}">
                <a16:creationId xmlns:a16="http://schemas.microsoft.com/office/drawing/2014/main" id="{5563B367-84DF-453B-85B6-5224E9B8261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lumMod val="50000"/>
                  </a:prstClr>
                </a:solidFill>
                <a:effectLst/>
                <a:uLnTx/>
                <a:uFillTx/>
                <a:latin typeface="Calibri" panose="020F0502020204030204"/>
                <a:ea typeface="+mn-ea"/>
                <a:cs typeface="+mn-cs"/>
              </a:rPr>
              <a:t>Applications of ICT</a:t>
            </a:r>
            <a:endParaRPr kumimoji="0" lang="en-US" sz="12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B78B343-E250-4F5D-8A0B-2C5E8E4C07F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567420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DB58F-30C9-46CD-A3F2-9DF16F49BE9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Algorithm</a:t>
            </a:r>
          </a:p>
        </p:txBody>
      </p:sp>
      <p:sp>
        <p:nvSpPr>
          <p:cNvPr id="3" name="Content Placeholder 2">
            <a:extLst>
              <a:ext uri="{FF2B5EF4-FFF2-40B4-BE49-F238E27FC236}">
                <a16:creationId xmlns:a16="http://schemas.microsoft.com/office/drawing/2014/main" id="{5EF01528-0681-4DAE-897B-3812CC6EFC10}"/>
              </a:ext>
            </a:extLst>
          </p:cNvPr>
          <p:cNvSpPr>
            <a:spLocks noGrp="1"/>
          </p:cNvSpPr>
          <p:nvPr>
            <p:ph idx="1"/>
          </p:nvPr>
        </p:nvSpPr>
        <p:spPr/>
        <p:txBody>
          <a:bodyPr>
            <a:normAutofit fontScale="92500" lnSpcReduction="20000"/>
          </a:bodyPr>
          <a:lstStyle/>
          <a:p>
            <a:r>
              <a:rPr lang="en-US" sz="2400" dirty="0">
                <a:latin typeface="Times New Roman" panose="02020603050405020304" pitchFamily="18" charset="0"/>
                <a:cs typeface="Times New Roman" panose="02020603050405020304" pitchFamily="18" charset="0"/>
              </a:rPr>
              <a:t>Start</a:t>
            </a:r>
          </a:p>
          <a:p>
            <a:r>
              <a:rPr lang="en-US" sz="2400" dirty="0">
                <a:latin typeface="Times New Roman" panose="02020603050405020304" pitchFamily="18" charset="0"/>
                <a:cs typeface="Times New Roman" panose="02020603050405020304" pitchFamily="18" charset="0"/>
              </a:rPr>
              <a:t>Prompt user to enter values of a and b</a:t>
            </a:r>
          </a:p>
          <a:p>
            <a:r>
              <a:rPr lang="en-US" sz="2400" dirty="0">
                <a:latin typeface="Times New Roman" panose="02020603050405020304" pitchFamily="18" charset="0"/>
                <a:cs typeface="Times New Roman" panose="02020603050405020304" pitchFamily="18" charset="0"/>
              </a:rPr>
              <a:t>Check if inputs are valid:</a:t>
            </a:r>
          </a:p>
          <a:p>
            <a:r>
              <a:rPr lang="en-US" sz="2400" dirty="0">
                <a:latin typeface="Times New Roman" panose="02020603050405020304" pitchFamily="18" charset="0"/>
                <a:cs typeface="Times New Roman" panose="02020603050405020304" pitchFamily="18" charset="0"/>
              </a:rPr>
              <a:t>If a &lt; 0 or b &lt; 0,</a:t>
            </a:r>
          </a:p>
          <a:p>
            <a:pPr lvl="1"/>
            <a:r>
              <a:rPr lang="en-US" sz="2400" dirty="0">
                <a:latin typeface="Times New Roman" panose="02020603050405020304" pitchFamily="18" charset="0"/>
                <a:cs typeface="Times New Roman" panose="02020603050405020304" pitchFamily="18" charset="0"/>
              </a:rPr>
              <a:t>→ Display error: "Invalid input: a and b must be ≥ 0“</a:t>
            </a:r>
          </a:p>
          <a:p>
            <a:pPr lvl="1"/>
            <a:r>
              <a:rPr lang="en-US" sz="2400" dirty="0">
                <a:latin typeface="Times New Roman" panose="02020603050405020304" pitchFamily="18" charset="0"/>
                <a:cs typeface="Times New Roman" panose="02020603050405020304" pitchFamily="18" charset="0"/>
              </a:rPr>
              <a:t>→ End Program</a:t>
            </a:r>
          </a:p>
          <a:p>
            <a:r>
              <a:rPr lang="en-US" sz="2400" dirty="0">
                <a:latin typeface="Times New Roman" panose="02020603050405020304" pitchFamily="18" charset="0"/>
                <a:cs typeface="Times New Roman" panose="02020603050405020304" pitchFamily="18" charset="0"/>
              </a:rPr>
              <a:t>Compute Arithmetic Mean (AM):</a:t>
            </a:r>
          </a:p>
          <a:p>
            <a:pPr lvl="1"/>
            <a:r>
              <a:rPr lang="en-US" sz="2400" dirty="0">
                <a:latin typeface="Times New Roman" panose="02020603050405020304" pitchFamily="18" charset="0"/>
                <a:cs typeface="Times New Roman" panose="02020603050405020304" pitchFamily="18" charset="0"/>
              </a:rPr>
              <a:t>AM = (a + b) / 2</a:t>
            </a:r>
          </a:p>
          <a:p>
            <a:r>
              <a:rPr lang="en-US" sz="2400" dirty="0">
                <a:latin typeface="Times New Roman" panose="02020603050405020304" pitchFamily="18" charset="0"/>
                <a:cs typeface="Times New Roman" panose="02020603050405020304" pitchFamily="18" charset="0"/>
              </a:rPr>
              <a:t>Compute Geometric Mean (GM):</a:t>
            </a:r>
          </a:p>
          <a:p>
            <a:pPr lvl="1"/>
            <a:r>
              <a:rPr lang="en-US" sz="2400" dirty="0">
                <a:latin typeface="Times New Roman" panose="02020603050405020304" pitchFamily="18" charset="0"/>
                <a:cs typeface="Times New Roman" panose="02020603050405020304" pitchFamily="18" charset="0"/>
              </a:rPr>
              <a:t>GM = sqrt(a * b)</a:t>
            </a:r>
          </a:p>
          <a:p>
            <a:r>
              <a:rPr lang="en-US" sz="2400" dirty="0">
                <a:latin typeface="Times New Roman" panose="02020603050405020304" pitchFamily="18" charset="0"/>
                <a:cs typeface="Times New Roman" panose="02020603050405020304" pitchFamily="18" charset="0"/>
              </a:rPr>
              <a:t>Compare AM and GM:</a:t>
            </a:r>
          </a:p>
          <a:p>
            <a:pPr lvl="1"/>
            <a:r>
              <a:rPr lang="en-US" sz="2400" dirty="0">
                <a:latin typeface="Times New Roman" panose="02020603050405020304" pitchFamily="18" charset="0"/>
                <a:cs typeface="Times New Roman" panose="02020603050405020304" pitchFamily="18" charset="0"/>
              </a:rPr>
              <a:t>If AM ≥ GM,</a:t>
            </a:r>
          </a:p>
          <a:p>
            <a:pPr lvl="1"/>
            <a:r>
              <a:rPr lang="en-US" sz="2400" dirty="0">
                <a:latin typeface="Times New Roman" panose="02020603050405020304" pitchFamily="18" charset="0"/>
                <a:cs typeface="Times New Roman" panose="02020603050405020304" pitchFamily="18" charset="0"/>
              </a:rPr>
              <a:t>→ Display: "AM ≥ GM confirmed“</a:t>
            </a:r>
          </a:p>
          <a:p>
            <a:r>
              <a:rPr lang="en-US" sz="2400" dirty="0">
                <a:latin typeface="Times New Roman" panose="02020603050405020304" pitchFamily="18" charset="0"/>
                <a:cs typeface="Times New Roman" panose="02020603050405020304" pitchFamily="18" charset="0"/>
              </a:rPr>
              <a:t>Else,</a:t>
            </a:r>
          </a:p>
          <a:p>
            <a:pPr lvl="1"/>
            <a:r>
              <a:rPr lang="en-US" sz="2400" dirty="0">
                <a:latin typeface="Times New Roman" panose="02020603050405020304" pitchFamily="18" charset="0"/>
                <a:cs typeface="Times New Roman" panose="02020603050405020304" pitchFamily="18" charset="0"/>
              </a:rPr>
              <a:t>→ Display: "Unexpected AM &lt; GM — Check calculations“</a:t>
            </a:r>
          </a:p>
          <a:p>
            <a:r>
              <a:rPr lang="en-US" sz="2400" dirty="0">
                <a:latin typeface="Times New Roman" panose="02020603050405020304" pitchFamily="18" charset="0"/>
                <a:cs typeface="Times New Roman" panose="02020603050405020304" pitchFamily="18" charset="0"/>
              </a:rPr>
              <a:t>End</a:t>
            </a:r>
          </a:p>
        </p:txBody>
      </p:sp>
      <p:sp>
        <p:nvSpPr>
          <p:cNvPr id="4" name="Footer Placeholder 3">
            <a:extLst>
              <a:ext uri="{FF2B5EF4-FFF2-40B4-BE49-F238E27FC236}">
                <a16:creationId xmlns:a16="http://schemas.microsoft.com/office/drawing/2014/main" id="{9BAE940E-C7FF-4482-9199-FD8F0C4D6EBB}"/>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lumMod val="50000"/>
                  </a:prstClr>
                </a:solidFill>
                <a:effectLst/>
                <a:uLnTx/>
                <a:uFillTx/>
                <a:latin typeface="Calibri" panose="020F0502020204030204"/>
                <a:ea typeface="+mn-ea"/>
                <a:cs typeface="+mn-cs"/>
              </a:rPr>
              <a:t>Applications of ICT</a:t>
            </a:r>
            <a:endParaRPr kumimoji="0" lang="en-US" sz="12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FA67223C-D6D0-4A04-B2D0-8D4E91C85F1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44549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C0B7E-4852-48E6-B2A6-2C667BDDBC5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Link to Program</a:t>
            </a:r>
          </a:p>
        </p:txBody>
      </p:sp>
      <p:sp>
        <p:nvSpPr>
          <p:cNvPr id="3" name="Content Placeholder 2">
            <a:extLst>
              <a:ext uri="{FF2B5EF4-FFF2-40B4-BE49-F238E27FC236}">
                <a16:creationId xmlns:a16="http://schemas.microsoft.com/office/drawing/2014/main" id="{2290597E-2858-4543-A70B-58F9DC55D428}"/>
              </a:ext>
            </a:extLst>
          </p:cNvPr>
          <p:cNvSpPr>
            <a:spLocks noGrp="1"/>
          </p:cNvSpPr>
          <p:nvPr>
            <p:ph idx="1"/>
          </p:nvPr>
        </p:nvSpPr>
        <p:spPr>
          <a:xfrm>
            <a:off x="385818" y="2895600"/>
            <a:ext cx="11207932" cy="649224"/>
          </a:xfrm>
        </p:spPr>
        <p:txBody>
          <a:bodyPr/>
          <a:lstStyle/>
          <a:p>
            <a:r>
              <a:rPr lang="en-US" dirty="0"/>
              <a:t>https://www.programiz.com/online-compiler/7moV3gs9PzNZT</a:t>
            </a:r>
          </a:p>
        </p:txBody>
      </p:sp>
      <p:sp>
        <p:nvSpPr>
          <p:cNvPr id="4" name="Footer Placeholder 3">
            <a:extLst>
              <a:ext uri="{FF2B5EF4-FFF2-40B4-BE49-F238E27FC236}">
                <a16:creationId xmlns:a16="http://schemas.microsoft.com/office/drawing/2014/main" id="{6B9CEBFB-6E58-41CA-A41B-2CA30EC2C32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lumMod val="50000"/>
                  </a:prstClr>
                </a:solidFill>
                <a:effectLst/>
                <a:uLnTx/>
                <a:uFillTx/>
                <a:latin typeface="Calibri" panose="020F0502020204030204"/>
                <a:ea typeface="+mn-ea"/>
                <a:cs typeface="+mn-cs"/>
              </a:rPr>
              <a:t>Applications of ICT</a:t>
            </a:r>
            <a:endParaRPr kumimoji="0" lang="en-US" sz="12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B35CB2F-A56A-4B75-B88C-205670400C3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2565696"/>
      </p:ext>
    </p:extLst>
  </p:cSld>
  <p:clrMapOvr>
    <a:masterClrMapping/>
  </p:clrMapOvr>
</p:sld>
</file>

<file path=ppt/theme/theme1.xml><?xml version="1.0" encoding="utf-8"?>
<a:theme xmlns:a="http://schemas.openxmlformats.org/drawingml/2006/main" name="seecs_template_design_16-9">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2704</TotalTime>
  <Words>1802</Words>
  <Application>Microsoft Office PowerPoint</Application>
  <PresentationFormat>Widescreen</PresentationFormat>
  <Paragraphs>274</Paragraphs>
  <Slides>34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Calibri Light</vt:lpstr>
      <vt:lpstr>Times New Roman</vt:lpstr>
      <vt:lpstr>seecs_template_design_16-9</vt:lpstr>
      <vt:lpstr> Applications of ICT (CS 108)</vt:lpstr>
      <vt:lpstr>Agenda</vt:lpstr>
      <vt:lpstr>Recap!</vt:lpstr>
      <vt:lpstr>Computational Thinking</vt:lpstr>
      <vt:lpstr>Computational Thinking</vt:lpstr>
      <vt:lpstr>Example : Modern Games</vt:lpstr>
      <vt:lpstr>Example</vt:lpstr>
      <vt:lpstr>Abstraction – Automation - Analysis</vt:lpstr>
      <vt:lpstr>Abstraction</vt:lpstr>
      <vt:lpstr>Example : Pick and Plant</vt:lpstr>
      <vt:lpstr>Analysis</vt:lpstr>
      <vt:lpstr>High Level Algorithm Vs Detailed Algorithm</vt:lpstr>
      <vt:lpstr>Question : Pick and Plant (Net)</vt:lpstr>
      <vt:lpstr>Analysis</vt:lpstr>
      <vt:lpstr>High Level Algorithm Vs Detailed Algorithm</vt:lpstr>
      <vt:lpstr>Logic</vt:lpstr>
      <vt:lpstr>Making your Argument Trustworthy</vt:lpstr>
      <vt:lpstr>Relationship to Problem Solving</vt:lpstr>
      <vt:lpstr>Familiar? Obvious?</vt:lpstr>
      <vt:lpstr>A Cool Proof</vt:lpstr>
      <vt:lpstr>A Cool Proof</vt:lpstr>
      <vt:lpstr>A Cool Proof</vt:lpstr>
      <vt:lpstr>A Cool Proof</vt:lpstr>
      <vt:lpstr>Flowcharts</vt:lpstr>
      <vt:lpstr>Draw a flowchart to input two numbers from the user and display the largest of two numbers. </vt:lpstr>
      <vt:lpstr>Can you explain what this algorithm does?</vt:lpstr>
      <vt:lpstr>Describe what’s happening here?</vt:lpstr>
      <vt:lpstr>Problem Solving &amp; Computational Thinking: Summary</vt:lpstr>
      <vt:lpstr>Example</vt:lpstr>
      <vt:lpstr>Examples</vt:lpstr>
      <vt:lpstr>Try it on C++</vt:lpstr>
      <vt:lpstr>Working out the Steps….</vt:lpstr>
      <vt:lpstr>Algorithm</vt:lpstr>
      <vt:lpstr>Link to Program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61</cp:revision>
  <dcterms:created xsi:type="dcterms:W3CDTF">2025-09-19T08:59:41Z</dcterms:created>
  <dcterms:modified xsi:type="dcterms:W3CDTF">2025-10-01T14:17:48Z</dcterms:modified>
</cp:coreProperties>
</file>